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e1c998fdfa4fd8" /><Relationship Type="http://schemas.openxmlformats.org/officeDocument/2006/relationships/extended-properties" Target="/docProps/app.xml" Id="R48ea639de4a5463d" /><Relationship Type="http://schemas.openxmlformats.org/officeDocument/2006/relationships/officeDocument" Target="/ppt/presentation.xml" Id="R17c94a2f32eb47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1a8c9cc7dd4834"/>
  </p:sldMasterIdLst>
  <p:notesMasterIdLst>
    <p:notesMasterId xmlns:r="http://schemas.openxmlformats.org/officeDocument/2006/relationships" r:id="Rea8b57f7dd6b483a"/>
  </p:notesMasterIdLst>
  <p:sldIdLst>
    <p:sldId xmlns:r="http://schemas.openxmlformats.org/officeDocument/2006/relationships" id="256" r:id="R138ce7ba113945d4"/>
  </p:sldIdLst>
  <p:sldSz cx="37453824" cy="18726912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35be4f7ace4176" /><Relationship Type="http://schemas.openxmlformats.org/officeDocument/2006/relationships/slideMaster" Target="/ppt/slideMasters/slideMaster1.xml" Id="R1f1a8c9cc7dd4834" /><Relationship Type="http://schemas.openxmlformats.org/officeDocument/2006/relationships/notesMaster" Target="/ppt/notesMasters/notesMaster1.xml" Id="Rea8b57f7dd6b483a" /><Relationship Type="http://schemas.openxmlformats.org/officeDocument/2006/relationships/presProps" Target="/ppt/presProps.xml" Id="R2189c96f8b2a4a7e" /><Relationship Type="http://schemas.openxmlformats.org/officeDocument/2006/relationships/tableStyles" Target="/ppt/tableStyles.xml" Id="Rfbfa2aca00af430d" /><Relationship Type="http://schemas.openxmlformats.org/officeDocument/2006/relationships/slide" Target="/ppt/slides/slide1.xml" Id="R138ce7ba113945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36a8f117b641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dd413030d84fcc" /><Relationship Type="http://schemas.openxmlformats.org/officeDocument/2006/relationships/notesMaster" Target="/ppt/notesMasters/notesMaster1.xml" Id="R0fc9ba017df74a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Psyz0r_bot: полный реестр логики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Версия 10.10.2026. Сводка всей доступной переписки, прочитанной постранично до первого сообщения. 12 ветвей, 153 пунктов с подробностями. Это требования и проектные предложения, не отчёт о готовности кода.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Кратко для владельца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Тренировочный Quake Live бот имитирует человеческие решения, движения и характер. Пять уровней ограничивают его возможности. Внутри каждого уровня он подстраивается под стиль и силу игрока: слабому оставляет читаемые ошибки, сильному отвечает лучшими доступными решениями. Долгие равные размены возникают через дистанцию, риск и восстановление. Счёт, фраги и попадания не подгоняются принудительно.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Обучение означает разбор демок и настройку правил, маршрутов и приёмов, без отдельной нейросети. Точные таймеры предметов разрешены, точное знание будущего респауна отдельно оговорено. Скрытая живая позиция и точный стек соперника запрещены. Вежливый чат, ответная перчатка, добивание трупов, расслабление и тильт связаны с реальными событиями.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Как читать пакет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PNG — один обзорный слайд 4096 × 2048 px, 100 dpi, горизонтально. SVG — тот же обзор с масштабированием. PPTX — один редактируемый слайд, полный реестр также в заметках. Markdown и HTML — все подробности, ссылки и история правок. OPML — иерархия для редакторов mind map с поддержкой импорта. Архив переписки хранит исходные пользовательские сообщения и ответы ассистента, без внутренних рассуждений и команд.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Статус чисел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Числа из прямых вводных владельца — требования/ориентиры, а не измеренные результаты. Проценты точности ещё предстоит рассчитать и согласовать. Cooldown чата, пороги мести 50/25, срок 90 с и оценка HP 50 — предложенные стартовые настройки прежних ТЗ. Промежуточные уровни 2 и 4 — предложенная градация. Таблица выхода и новые диапазоны точности ожидают согласования.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A. Обучение и разработка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**A01** Цель: тренировочный соперник для Quake Live, максимально похожий на человека. Скриптовые правила и извлечение примеров из демок, без отдельной нейросети. Рабочие имена PzyZ0r-bot / Psyz0r_bot.</a:t>
            </a:r>
          </a:p>
          <a:p xmlns:a="http://schemas.openxmlformats.org/drawingml/2006/main">
            <a:r>
              <a:t>- **A02** Исходный набор: 100 демок PsyRoZa и 20 демок владельца nekitz0r. Дальше десятки и сотни записей разных стилей, например 100–200 на одну карту и 200 на другую. Это ориентир объёма, не обязательная квота.</a:t>
            </a:r>
          </a:p>
          <a:p xmlns:a="http://schemas.openxmlformats.org/drawingml/2006/main">
            <a:r>
              <a:t>- **A03** Сольные демки показывают маршруты, цикл ресурсов, прыжки, выбор оружия, прослушивание, укрытия, отходы, штраф и spawntrap. Боевые записи показывают размены, стрейф, погоню, восстановление и борьбу за контроль.</a:t>
            </a:r>
          </a:p>
          <a:p xmlns:a="http://schemas.openxmlformats.org/drawingml/2006/main">
            <a:r>
              <a:t>- **A04** Неподвижность 5–10 секунд отмечает кандидата на значимую позицию. Назначение listen/hide/escape/punish подтверждает владелец, оно не определяется одной остановкой.</a:t>
            </a:r>
          </a:p>
          <a:p xmlns:a="http://schemas.openxmlformats.org/drawingml/2006/main">
            <a:r>
              <a:t>- **A05** Предложенные метки: #bot listen, hide, escape, punish mega, punish red, rocketjump, cycle, spawntrap. Привязка чата к времени и положению модельки, окно до/после приёма. Если парсер не извлекает чат, использовать sidecar с метками времени.</a:t>
            </a:r>
          </a:p>
          <a:p xmlns:a="http://schemas.openxmlformats.org/drawingml/2006/main">
            <a:r>
              <a:t>- **A06** Производные эпизоды содержат карту, протокол, режим физики, источник, время, позицию, скорость, взгляд, оружие, HP/armor/ammo, события, начало/конец, исход и уверенность. Исходные демки сохраняются неизменными.</a:t>
            </a:r>
          </a:p>
          <a:p xmlns:a="http://schemas.openxmlformats.org/drawingml/2006/main">
            <a:r>
              <a:t>- **A07** Проверить наличие сырых нажатий и движений мыши. Демка со снимками состояния не гарантирует raw mouse/WASD. Восстановленные команды отделять от наблюдаемых, указывать погрешность; при необходимости записывать ввод дополнительно.</a:t>
            </a:r>
          </a:p>
          <a:p xmlns:a="http://schemas.openxmlformats.org/drawingml/2006/main">
            <a:r>
              <a:t>- **A08** Исследовать распакованный zzz_bots.pk3 из мастерской и доступные аналоги Q3/QL. Сначала доступные исходники и данные, возможность декомпиляции оценить отдельно. Наличие подходящего аналога и переносимость в QL не считать доказанными заранее.</a:t>
            </a:r>
          </a:p>
          <a:p xmlns:a="http://schemas.openxmlformats.org/drawingml/2006/main">
            <a:r>
              <a:t>- **A09** Рабочий проект Project_Psyz0r_bot, C++/MSVC, существующие C++17 core и Python chat по последнему прочитанному состоянию. VS Code с Codex и Visual Studio/Build Tools различать.</a:t>
            </a:r>
          </a:p>
          <a:p xmlns:a="http://schemas.openxmlformats.org/drawingml/2006/main">
            <a:r>
              <a:t>- **A10** Аудит AGENTS.md, SPEC.md, PROJECT_STATE.md, кода, тестов и материалов. Не создавать второй несвязанный проект и дублирующие системы. Соблюдать правила Git, документации и сохранения незавершённой работы.</a:t>
            </a:r>
          </a:p>
          <a:p xmlns:a="http://schemas.openxmlformats.org/drawingml/2006/main">
            <a:r>
              <a:t>- **A11** Сначала подтвердить доступные данные и исполнение forward/back/strafe/jump/walk, yaw/pitch, attack, weapon switch и временную точность. Решение политики и приём команды адаптером не доказывают исполнение игрой.</a:t>
            </a:r>
          </a:p>
          <a:p xmlns:a="http://schemas.openxmlformats.org/drawingml/2006/main">
            <a:r>
              <a:t>- **A12** Этапы: аудит и русский гайд; входные данные/адаптер; один размеченный маршрут и RJ; движение/стрельба; оружие/комбо; штраф/зонинг; макро/циклы; респауны; forfeit; интеграционные проверки.</a:t>
            </a:r>
          </a:p>
          <a:p xmlns:a="http://schemas.openxmlformats.org/drawingml/2006/main">
            <a:r>
              <a:t>- **A13** Статусы каждого требования: реализовано, проверено локально, подтверждено в игре, запланировано, заблокировано. В отчёте: изменения, проверки, ограничения, следующий этап и нужные демки.</a:t>
            </a:r>
          </a:p>
          <a:p xmlns:a="http://schemas.openxmlformats.org/drawingml/2006/main">
            <a:r>
              <a:t>- **A14** Работа локально. Развёртывание и игровые испытания только по отдельной команде. Сохранять штатного бота, резервные копии и исходные материалы. В Git не включать архивы, демки, секреты и чужие игровые бинарники.</a:t>
            </a:r>
          </a:p>
          <a:p xmlns:a="http://schemas.openxmlformats.org/drawingml/2006/main">
            <a:r>
              <a:t>- **A15** Контекст сервера: частный тренировочный Quake Live, пока без MMR, Intel-карты с изменёнными текстурами. CFG, плагины и собственные карты предполагается хранить в GitHub. Это контекст проекта, не отдельная способность бота.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B. Мувмент и триксы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**B01** Последовательность освоения: обычные маршруты; prestrafe/circle; single-beat; half-beat и переходы; rocket jump; plasma jump; plasma climb; дополнительные триксы конкретных карт.</a:t>
            </a:r>
          </a:p>
          <a:p xmlns:a="http://schemas.openxmlformats.org/drawingml/2006/main">
            <a:r>
              <a:t>- **B02** Изучить 3–5 текстовых руководств Q3/QL, максимум со скриншотами, без необходимости смотреть видео. Четыре выбранных источника и две Markdown-копии перечислены в приложении.</a:t>
            </a:r>
          </a:p>
          <a:p xmlns:a="http://schemas.openxmlformats.org/drawingml/2006/main">
            <a:r>
              <a:t>- **B03** Для каждого руководства указать автора, ссылку, режим физики, использованные правила и способ проверки. Не переносить константы Q3/CPM автоматически в текущий Quake Live.</a:t>
            </a:r>
          </a:p>
          <a:p xmlns:a="http://schemas.openxmlformats.org/drawingml/2006/main">
            <a:r>
              <a:t>- **B04** Для приёма: стартовая позиция/скорость, направление, yaw/pitch, команды ног, момент прыжка и выстрела, оружие/боезапас/стек, траектория, приземление, прекращение и восстановление после ошибки.</a:t>
            </a:r>
          </a:p>
          <a:p xmlns:a="http://schemas.openxmlformats.org/drawingml/2006/main">
            <a:r>
              <a:t>- **B05** Распрыжка должна учитывать направление ускорения относительно взгляда и скорости, смену стрейфов и угла по мере разгона. Prestrafe и circle включают наземный разгон и переход в воздух.</a:t>
            </a:r>
          </a:p>
          <a:p xmlns:a="http://schemas.openxmlformats.org/drawingml/2006/main">
            <a:r>
              <a:t>- **B06** Рокетджампы выполнять обычной физикой и с реальным self-damage. Оптимизировать не только HP, но и успешность, время и пригодность точки приземления. Нельзя отменять урон, телепортировать или давать скрытое ускорение.</a:t>
            </a:r>
          </a:p>
          <a:p xmlns:a="http://schemas.openxmlformats.org/drawingml/2006/main">
            <a:r>
              <a:t>- **B07** Plasma jump с пола и plasma climb по стене хранить как разные навыки. Дополнительные триксы добавлять после проверки показанных владельцем.</a:t>
            </a:r>
          </a:p>
          <a:p xmlns:a="http://schemas.openxmlformats.org/drawingml/2006/main">
            <a:r>
              <a:t>- **B08** Не прыгать постоянно. Выбирать бег, тихий шаг, остановку и прыжки по маршруту, опасности, стеку, слышимости и цели. Быстро набирать скорость при переходах и погоне.</a:t>
            </a:r>
          </a:p>
          <a:p xmlns:a="http://schemas.openxmlformats.org/drawingml/2006/main">
            <a:r>
              <a:t>- **B09** При стеке около 200 HP / 200 armor допустима более активная погоня с RJ. При осторожном восстановлении уменьшить шум, ненужные прыжки и self-damage.</a:t>
            </a:r>
          </a:p>
          <a:p xmlns:a="http://schemas.openxmlformats.org/drawingml/2006/main">
            <a:r>
              <a:t>- **B10** Повторяемые ошибки исполнения на низкой сложности допустимы, технические зависания и бессмысленные вращения недопустимы. На высоких уровнях чище показанные прыжки, но без физических преимуществ.</a:t>
            </a:r>
          </a:p>
          <a:p xmlns:a="http://schemas.openxmlformats.org/drawingml/2006/main">
            <a:r>
              <a:t>- **B11** Проверять успех, длительность, скорости в ключевых точках, отклонение приземления, потери HP/armor, чувствительность к старту, застревания и способность восстановить маршрут.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C. Стрельба и точность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**C01** Отделить исполнение стрельбы и уклонений от модуля выбора оружия. Наведение строится совместно движением ногами и мышью, без запрета мышиного сопровождения.</a:t>
            </a:r>
          </a:p>
          <a:p xmlns:a="http://schemas.openxmlformats.org/drawingml/2006/main">
            <a:r>
              <a:t>- **C02** Из демок извлекать стрейф при стрельбе с типичных позиций, согласование движения с целью, смены направления, додж, преднаведение, короткие выходы, префайр и отход.</a:t>
            </a:r>
          </a:p>
          <a:p xmlns:a="http://schemas.openxmlformats.org/drawingml/2006/main">
            <a:r>
              <a:t>- **C03** Контрстрейф означает работу относительного движения в Quake, не остановку ради точности из Counter-Strike.</a:t>
            </a:r>
          </a:p>
          <a:p xmlns:a="http://schemas.openxmlformats.org/drawingml/2006/main">
            <a:r>
              <a:t>- **C04** Дальний rail peek: заранее выбрать высоту и линию, выйти примерно на полмодельки, открыть видимость, выстрелить и уйти. Большой поворот мыши не обязателен, если стрейф выводит прицел на линию контакта.</a:t>
            </a:r>
          </a:p>
          <a:p xmlns:a="http://schemas.openxmlformats.org/drawingml/2006/main">
            <a:r>
              <a:t>- **C05** Rail стреляет при проверенной линии видимости. Ракетный/гранатный префайр разрешён в ожидаемый проход по наблюдениям, звукам, памяти и прогнозу, без сопровождения скрытой модельки.</a:t>
            </a:r>
          </a:p>
          <a:p xmlns:a="http://schemas.openxmlformats.org/drawingml/2006/main">
            <a:r>
              <a:t>- **C06** Для rail, plasma, rocket, shaft вычислить человеческий ориентир по демкам уверенно доминирующих игроков. Критерий доминирования: счёт и доступный damage trade, с явным размером выборки.</a:t>
            </a:r>
          </a:p>
          <a:p xmlns:a="http://schemas.openxmlformats.org/drawingml/2006/main">
            <a:r>
              <a:t>- **C07** Отчёт: число демок/игроков, выстрелы/попадания, суммарная взвешенная точность, медиана по матчам, наблюдаемый диапазон, предлагаемая база, ограничения и достоверность.</a:t>
            </a:r>
          </a:p>
          <a:p xmlns:a="http://schemas.openxmlformats.org/drawingml/2006/main">
            <a:r>
              <a:t>- **C08** Урон не равен числу попаданий. Для ракет различать direct и splash, если данные позволяют; документировать семантику статистики каждого оружия. Если данных недостаточно, запросить дополнительные демки.</a:t>
            </a:r>
          </a:p>
          <a:p xmlns:a="http://schemas.openxmlformats.org/drawingml/2006/main">
            <a:r>
              <a:t>- **C09** До согласования владельцем не выставлять новые базовые проценты и плавающие диапазоны. Сейчас допустим механизм настроек без изменения действующей точности.</a:t>
            </a:r>
          </a:p>
          <a:p xmlns:a="http://schemas.openxmlformats.org/drawingml/2006/main">
            <a:r>
              <a:t>- **C10** Плавающая точность плавно повышается при уверенном контроле/преимуществе, понижается под давлением, около базы при равной игре. Учитывать недавние столкновения, а не один счёт.</a:t>
            </a:r>
          </a:p>
          <a:p xmlns:a="http://schemas.openxmlformats.org/drawingml/2006/main">
            <a:r>
              <a:t>- **C11** Последняя правка допускает усиление рейла против сильного давящего соперника внутри утверждённых границ. Это конфликт направлений с обычным снижением под давлением: требуется явный режим контратаки и документированный приоритет.</a:t>
            </a:r>
          </a:p>
          <a:p xmlns:a="http://schemas.openxmlformats.org/drawingml/2006/main">
            <a:r>
              <a:t>- **C12** Расслабление, тильт и forfeit могут снижать исполнение при большом преимуществе. Изменения скорости/диапазонов не должны скакать после каждого выстрела.</a:t>
            </a:r>
          </a:p>
          <a:p xmlns:a="http://schemas.openxmlformats.org/drawingml/2006/main">
            <a:r>
              <a:t>- **C13** Точность всех оружий зависит от уровня: rail, LG, RL, PG, SG, MG, GL; gauntlet учитывает контакт, дистанцию и реакцию отдельно. Реализовать через реакцию, ошибку aim/tracking/lead, а не случайный отказ попаданий.</a:t>
            </a:r>
          </a:p>
          <a:p xmlns:a="http://schemas.openxmlformats.org/drawingml/2006/main">
            <a:r>
              <a:t>- **C14** Статистический процент не гарантируется в каждом бою. Не менять damage, физику, HP или размеры hitbox. Не вводить мгновенные развороты и скрытое знание цели.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D. Оружие и боевые связки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**D01** Выбирать оружие по позиции, дистанции, видимости, относительной скорости, геометрии, патронам, собственному стеку, оценке соперника, риску self-damage и задержке смены.</a:t>
            </a:r>
          </a:p>
          <a:p xmlns:a="http://schemas.openxmlformats.org/drawingml/2006/main">
            <a:r>
              <a:t>- **D02** Цели выбора различать: основной бой, добивание, штраф, отзонивание, отход, RJ и месть перчаткой. Не переключать оружие хаотично каждый кадр.</a:t>
            </a:r>
          </a:p>
          <a:p xmlns:a="http://schemas.openxmlformats.org/drawingml/2006/main">
            <a:r>
              <a:t>- **D03** Подбирать реально существующие выпавшие пушки после смерти соперника или собственной прошлой смерти. Это подбор предмета, не обязательное действие над трупом.</a:t>
            </a:r>
          </a:p>
          <a:p xmlns:a="http://schemas.openxmlformats.org/drawingml/2006/main">
            <a:r>
              <a:t>- **D04** При подборе учитывать восстановление арсенала и лишение соперника полезного оружия. Не рисковать проигрышной перестрелкой ради ненужной пушки.</a:t>
            </a:r>
          </a:p>
          <a:p xmlns:a="http://schemas.openxmlformats.org/drawingml/2006/main">
            <a:r>
              <a:t>- **D05** Комбо LG → RL/SG: при сближении и низкой оценке HP соперника использовать подходящее быстрое добивание.</a:t>
            </a:r>
          </a:p>
          <a:p xmlns:a="http://schemas.openxmlformats.org/drawingml/2006/main">
            <a:r>
              <a:t>- **D06** Комбо дальняя rocket → rail: после подтверждённого попадания и knockback использовать предсказуемый участок траектории, видимость и реальную задержку смены.</a:t>
            </a:r>
          </a:p>
          <a:p xmlns:a="http://schemas.openxmlformats.org/drawingml/2006/main">
            <a:r>
              <a:t>- **D07** Не считать соперника после ракеты полностью лишённым управления. Отменить комбо при потере цели, ухудшении условий или риске.</a:t>
            </a:r>
          </a:p>
          <a:p xmlns:a="http://schemas.openxmlformats.org/drawingml/2006/main">
            <a:r>
              <a:t>- **D08** При контратаке нанесённые 70–110 урона запускают оценку погони, а не обязательный rush. Учитывать неизвестную броню/лечение противника и собственные возможности.</a:t>
            </a:r>
          </a:p>
          <a:p xmlns:a="http://schemas.openxmlformats.org/drawingml/2006/main">
            <a:r>
              <a:t>- **D09** Штраф: короткий rail или 1–2 ракеты / подходящий префайр, затем отход. Нужны укрытие и путь выхода, не обязательный пуш.</a:t>
            </a:r>
          </a:p>
          <a:p xmlns:a="http://schemas.openxmlformats.org/drawingml/2006/main">
            <a:r>
              <a:t>- **D10** RL/GL zoning ограничивает ожидаемые выходы, узкие проходы, подходы к предметам и погоню при отходе. Учитывать боезапас и возможность смены маршрута.</a:t>
            </a:r>
          </a:p>
          <a:p xmlns:a="http://schemas.openxmlformats.org/drawingml/2006/main">
            <a:r>
              <a:t>- **D11** Ответная перчатка ищет реальный шанс убийства и не отменяет оценку риска. Правильные позиции и правила выбора владелец дополнит; часть извлекается из демок.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E. Макроигра и предметы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**E01** Всегда аккуратное начало, приоритет Меги перед бронёй. Дальше приоритеты меняются по стилю, стеку и контролю.</a:t>
            </a:r>
          </a:p>
          <a:p xmlns:a="http://schemas.openxmlformats.org/drawingml/2006/main">
            <a:r>
              <a:t>- **E02** Последнее разрешение владельца: бот знает точные таймеры всех предметов, как наблюдатель. Это заменяет раннее правило таймеров только по известным подборам.</a:t>
            </a:r>
          </a:p>
          <a:p xmlns:a="http://schemas.openxmlformats.org/drawingml/2006/main">
            <a:r>
              <a:t>- **E03** Разделить таймеры ресурсов, видимость живого соперника, прогноз маршрута и отдельное исключение знания респауна. Таймеры не дают доступ к скрытой позиции.</a:t>
            </a:r>
          </a:p>
          <a:p xmlns:a="http://schemas.openxmlformats.org/drawingml/2006/main">
            <a:r>
              <a:t>- **E04** Контроль включает оценку владельца ресурсов, неравенства стеков, безопасности боя, цикла и необходимости уступить предмет.</a:t>
            </a:r>
          </a:p>
          <a:p xmlns:a="http://schemas.openxmlformats.org/drawingml/2006/main">
            <a:r>
              <a:t>- **E05** Цикл может включать MH, RA, YA, GA, шарды, HP, пушки, ammo и power-up, если они есть на данной карте и в правилах.</a:t>
            </a:r>
          </a:p>
          <a:p xmlns:a="http://schemas.openxmlformats.org/drawingml/2006/main">
            <a:r>
              <a:t>- **E06** Когда соперник контролирует карту: избегать прямых неравных боёв, брать остатки, не рисковать ради MH/RA, дать максимум короткий rail/1–2 rockets и уйти.</a:t>
            </a:r>
          </a:p>
          <a:p xmlns:a="http://schemas.openxmlformats.org/drawingml/2006/main">
            <a:r>
              <a:t>- **E07** Штрафовать издалека/угла с выходом. Учитывать, что сильный игрок быстро сокращает дистанцию, если предполагает нехватку стека/пушек.</a:t>
            </a:r>
          </a:p>
          <a:p xmlns:a="http://schemas.openxmlformats.org/drawingml/2006/main">
            <a:r>
              <a:t>- **E08** При равном счёте вроде 10:10 активнее LG, давление и точное прибытие на предметы. Против сильного соперника строже работать с жёлтыми.</a:t>
            </a:r>
          </a:p>
          <a:p xmlns:a="http://schemas.openxmlformats.org/drawingml/2006/main">
            <a:r>
              <a:t>- **E09** Раннее требование полного контроля при равной игре/отставании уточнено: обычный контроль основных предметов и тотальное выедание всей карты — разные режимы.</a:t>
            </a:r>
          </a:p>
          <a:p xmlns:a="http://schemas.openxmlformats.org/drawingml/2006/main">
            <a:r>
              <a:t>- **E10** Попытка тотального контроля редкая, ориентир 1–2 игры из 10, преимущественно против сильного. Последний запрос усиления под давлением реализовать внутри этого ограничения, не каждый матч автоматически.</a:t>
            </a:r>
          </a:p>
          <a:p xmlns:a="http://schemas.openxmlformats.org/drawingml/2006/main">
            <a:r>
              <a:t>- **E11** При большом преимуществе можно ослабить цикл и оставить ресурсы. Цель 5–10 ответных фрагов при 20:0 — пример желаемых шансов, не фиксированная выдача счёта.</a:t>
            </a:r>
          </a:p>
          <a:p xmlns:a="http://schemas.openxmlformats.org/drawingml/2006/main">
            <a:r>
              <a:t>- **E12** Основания владелец связывает с дуэльной макроигрой Cooller. Не выдавать проектные правила за подтверждённые цитаты Антона Синьгова.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F. Циклы игрока и респауны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**F01** Наблюдать видимые зоны, порядок переходов, интервалы, доступные подборы и типовые атаки. История ограничена по времени.</a:t>
            </a:r>
          </a:p>
          <a:p xmlns:a="http://schemas.openxmlformats.org/drawingml/2006/main">
            <a:r>
              <a:t>- **F02** После нескольких подтверждённых повторов бот может занять позицию, перехватить выход, подготовить префайр, отзонить проход или прыгнуть на power-up точно к появлению.</a:t>
            </a:r>
          </a:p>
          <a:p xmlns:a="http://schemas.openxmlformats.org/drawingml/2006/main">
            <a:r>
              <a:t>- **F03** Количество повторов, допуски времени и вероятность наказания настраиваются. Один проход не доказывает цикл, прогноз имеет уверенность и срок.</a:t>
            </a:r>
          </a:p>
          <a:p xmlns:a="http://schemas.openxmlformats.org/drawingml/2006/main">
            <a:r>
              <a:t>- **F04** После изменения маршрута уверенность снижается. Не строить историю по скрытым координатам живого игрока. Тренировочная цель — поощрение вариативности.</a:t>
            </a:r>
          </a:p>
          <a:p xmlns:a="http://schemas.openxmlformats.org/drawingml/2006/main">
            <a:r>
              <a:t>- **F05** Spawntrap учить постепенно по размеченным демкам: позиция бота, точки появления, направление/время RL или PG спама, боезапас и путь выхода.</a:t>
            </a:r>
          </a:p>
          <a:p xmlns:a="http://schemas.openxmlformats.org/drawingml/2006/main">
            <a:r>
              <a:t>- **F06** Быстрое нажатие respawn может подставить игрока под заранее выпущенные снаряды. Фиксированную задержку появления не предполагать.</a:t>
            </a:r>
          </a:p>
          <a:p xmlns:a="http://schemas.openxmlformats.org/drawingml/2006/main">
            <a:r>
              <a:t>- **F07** Допускать короткие цепочки до 2–3 перехватов, вероятность выше после перехвата контроля. Ограничить частоту и прекратить при потере условий, затем вернуться к обычной игре.</a:t>
            </a:r>
          </a:p>
          <a:p xmlns:a="http://schemas.openxmlformats.org/drawingml/2006/main">
            <a:r>
              <a:t>- **F08** Уровень 1 не делает прогонку; уровень 2 без систематической прогонки по предложенной градации; уровень 3 до 1–2 эпизодов за матч, каждый отдельная короткая серия. Это возможность, не обязательное количество.</a:t>
            </a:r>
          </a:p>
          <a:p xmlns:a="http://schemas.openxmlformats.org/drawingml/2006/main">
            <a:r>
              <a:t>- **F09** Для уровней 4–5 повышается качество использования ситуации, частоту ещё настроить по демкам и тестам. Не превращать матч в непрерывный spawntrap.</a:t>
            </a:r>
          </a:p>
          <a:p xmlns:a="http://schemas.openxmlformats.org/drawingml/2006/main">
            <a:r>
              <a:t>- **F10** Владелец разрешил знание будущего респауна. Сначала изучить реальный алгоритм QL, отличить вероятностный прогноз от точного знания через разрешённый механизм.</a:t>
            </a:r>
          </a:p>
          <a:p xmlns:a="http://schemas.openxmlformats.org/drawingml/2006/main">
            <a:r>
              <a:t>- **F11** Если есть случайность, не называть прогноз гарантией. Точное знание оформить отдельной тренировочной настройкой. После появления нельзя сопровождать живого соперника через стены.</a:t>
            </a:r>
          </a:p>
          <a:p xmlns:a="http://schemas.openxmlformats.org/drawingml/2006/main">
            <a:r>
              <a:t>- **F12** Смысл — показать цену потери контроля и мгновенного респауна, включая фраг сразу или выход с ~20 HP. Успех и урон не гарантировать.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G. Восприятие и честная информация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**G01** Бот без WH, хорошо слушает и считает. Боевая логика получает разрешённое зрение, реальные звуки, память, прогноз и явно оговорённые исключения.</a:t>
            </a:r>
          </a:p>
          <a:p xmlns:a="http://schemas.openxmlformats.org/drawingml/2006/main">
            <a:r>
              <a:t>- **G02** Не передавать скрытые координаты, точный HP/armor или live tracking противника из серверных/демо данных. Его стек оценивать по наблюдаемым событиям с неопределённостью.</a:t>
            </a:r>
          </a:p>
          <a:p xmlns:a="http://schemas.openxmlformats.org/drawingml/2006/main">
            <a:r>
              <a:t>- **G03** После потери видимости хранить последнюю позицию, время, прогноз и уверенность. Уверенность падает, возможна проверка неверного направления.</a:t>
            </a:r>
          </a:p>
          <a:p xmlns:a="http://schemas.openxmlformats.org/drawingml/2006/main">
            <a:r>
              <a:t>- **G04** Звуки дают только информацию, доступную реальной механикой игры. Не превращать один звук в идеальную непрерывную координату.</a:t>
            </a:r>
          </a:p>
          <a:p xmlns:a="http://schemas.openxmlformats.org/drawingml/2006/main">
            <a:r>
              <a:t>- **G05** Направление взгляда определяется задачей: маршрут, приземление, предмет, проверка прохода, слушание или видимая цель. Бот не всегда лицом к противнику.</a:t>
            </a:r>
          </a:p>
          <a:p xmlns:a="http://schemas.openxmlformats.org/drawingml/2006/main">
            <a:r>
              <a:t>- **G06** Игрок может скрытно обойти, выйти в спину, неожиданно ждать за углом. Бот реагирует после сигнала с человеческой задержкой, без синхронного разворота вслед за скрытой моделькой.</a:t>
            </a:r>
          </a:p>
          <a:p xmlns:a="http://schemas.openxmlformats.org/drawingml/2006/main">
            <a:r>
              <a:t>- **G07** Разрешённые все таймеры ресурсов и будущий респ не расширяют остальные права на информацию. Эти каналы документировать и фильтровать отдельно.</a:t>
            </a:r>
          </a:p>
          <a:p xmlns:a="http://schemas.openxmlformats.org/drawingml/2006/main">
            <a:r>
              <a:t>- **G08** Полные данные демок допустимы для офлайн-анализа, но не становятся автоматически знаниями бота в матче.</a:t>
            </a:r>
          </a:p>
          <a:p xmlns:a="http://schemas.openxmlformats.org/drawingml/2006/main">
            <a:r>
              <a:t>- **G09** В диагностике фиксировать источник и время наблюдения, уверенность, основание поворота/выстрела/погони. Не выводить диагностические данные в игровой чат.</a:t>
            </a:r>
          </a:p>
          <a:p xmlns:a="http://schemas.openxmlformats.org/drawingml/2006/main">
            <a:r>
              <a:t>- **G10** Проверки: тихий обход, атака сзади, неподвижная засада, исчезновение цели, ложный прогноз, неизвестное лечение/оружие, отдельность таймеров и WH.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H. Три стиля и осторожный режим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**H01** Агрессивный стиль: после примерно 80–90 нанесённого урона активно сближается, если считает бой выгодным. Основной приоритет MH/RA.</a:t>
            </a:r>
          </a:p>
          <a:p xmlns:a="http://schemas.openxmlformats.org/drawingml/2006/main">
            <a:r>
              <a:t>- **H02** Средний продуманный стиль: после примерно 70–100 полученного урона отходит, повышает приоритет YA и восстановления, чередует бой и сбор.</a:t>
            </a:r>
          </a:p>
          <a:p xmlns:a="http://schemas.openxmlformats.org/drawingml/2006/main">
            <a:r>
              <a:t>- **H03** Пассивный стиль: после одного rail по себе отходит, собирает 1–2 YA и аптечки, меньше прыгает и использует RJ, чаще тихо перемещается.</a:t>
            </a:r>
          </a:p>
          <a:p xmlns:a="http://schemas.openxmlformats.org/drawingml/2006/main">
            <a:r>
              <a:t>- **H04** Пороги приблизительны: определить окно боевого эпизода, учитываемый damage с бронёй, собственный стек и оружие. Не считать их неизменными константами.</a:t>
            </a:r>
          </a:p>
          <a:p xmlns:a="http://schemas.openxmlformats.org/drawingml/2006/main">
            <a:r>
              <a:t>- **H05** Адаптация к манере: агрессивный противник, даже пушащий на low HP, повышает склонность к агрессии; осторожный — к более осторожной игре. Это тенденция, не буквальное копирование любой невыгодной атаки.</a:t>
            </a:r>
          </a:p>
          <a:p xmlns:a="http://schemas.openxmlformats.org/drawingml/2006/main">
            <a:r>
              <a:t>- **H06** pressure_retreat, рабочее название «Обоссанец»: при 0:3/0:4/0:5 и накопленной серии проигранных боёв бот уступает инициативу и старается выжить, а не сдаётся.</a:t>
            </a:r>
          </a:p>
          <a:p xmlns:a="http://schemas.openxmlformats.org/drawingml/2006/main">
            <a:r>
              <a:t>- **H07** Счёта недостаточно. Учитывать повторные смерти, damage и неудачные атаки, пороги/вероятность в конфигурации.</a:t>
            </a:r>
          </a:p>
          <a:p xmlns:a="http://schemas.openxmlformats.org/drawingml/2006/main">
            <a:r>
              <a:t>- **H08** Осторожный режим: укрытия, смена маршрутов, тихая ходьба где полезна, скорость при прямой погоне/на открытом месте, YA/GA/HP/ammo, минимум лишнего self-damage.</a:t>
            </a:r>
          </a:p>
          <a:p xmlns:a="http://schemas.openxmlformats.org/drawingml/2006/main">
            <a:r>
              <a:t>- **H09** MH/RA преимущественно штрафует rail из позиции с выходом. Если предмет безопасен, может забрать. Без rail/ammo сначала восстановить арсенал или продолжить отход.</a:t>
            </a:r>
          </a:p>
          <a:p xmlns:a="http://schemas.openxmlformats.org/drawingml/2006/main">
            <a:r>
              <a:t>- **H10** После обнаружения или выстрела менять позицию, не стоять вечным кемпером. Держать режим минимальное время, выходить после устойчивого восстановления и ослабления давления.</a:t>
            </a:r>
          </a:p>
          <a:p xmlns:a="http://schemas.openxmlformats.org/drawingml/2006/main">
            <a:r>
              <a:t>- **H11** Один удачный rail не переводит сразу в агрессию. pressure_retreat и forfeit взаимоисключаются. Месть перчаткой сохраняется как цель, но не заставляет идти на опасное сближение.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I. Подстройка и «игра до фрага»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**I01** Разделить базовую сложность, оценку силы/привычек, тактический стиль и состояние настроения. Адаптация действует внутри способностей текущего уровня.</a:t>
            </a:r>
          </a:p>
          <a:p xmlns:a="http://schemas.openxmlformats.org/drawingml/2006/main">
            <a:r>
              <a:t>- **I02** Силу определять совокупностью damage trade, боёв при сопоставимом стеке, контроля ресурсов, оружия/позиций, качества погони/отхода, повторяемости и умения наказать бота.</a:t>
            </a:r>
          </a:p>
          <a:p xmlns:a="http://schemas.openxmlformats.org/drawingml/2006/main">
            <a:r>
              <a:t>- **I03** Отдельно оценивать агрессию, осторожность, склонность к погоне и риск. Не оценивать по одной смерти, одному попаданию или только счёту.</a:t>
            </a:r>
          </a:p>
          <a:p xmlns:a="http://schemas.openxmlformats.org/drawingml/2006/main">
            <a:r>
              <a:t>- **I04** Несколько окон наблюдений: недавний эпизод, серия боёв, матч. Накопление признаков, минимум удержания режима, разные пороги входа/выхода и плавная смена.</a:t>
            </a:r>
          </a:p>
          <a:p xmlns:a="http://schemas.openxmlformats.org/drawingml/2006/main">
            <a:r>
              <a:t>- **I05** Против явно слабого: повторять ограниченные маршруты и позиции, пропускать MH/RA/второстепенные предметы, забывать нужную пушку, выбирать хуже путь, слабее слушать другой этаж.</a:t>
            </a:r>
          </a:p>
          <a:p xmlns:a="http://schemas.openxmlformats.org/drawingml/2006/main">
            <a:r>
              <a:t>- **I06** Чаще выдавать себя, меньше скрытно ждать, чаще открытый бой, риск и лишний физически корректный RJ. Ошибка должна быть читаемой несколько эпизодов, чтобы игрок мог адаптироваться.</a:t>
            </a:r>
          </a:p>
          <a:p xmlns:a="http://schemas.openxmlformats.org/drawingml/2006/main">
            <a:r>
              <a:t>- **I07** Не имитировать слабость застреванием, вращением, выключением управления или стрельбой в пустоту. После наказания повторяемого решения постепенно его менять.</a:t>
            </a:r>
          </a:p>
          <a:p xmlns:a="http://schemas.openxmlformats.org/drawingml/2006/main">
            <a:r>
              <a:t>- **I08** Волны темпа: короткое давление, затем пространство для соперника. Не выдавать фраги по квоте и не гарантировать сопернику победу.</a:t>
            </a:r>
          </a:p>
          <a:p xmlns:a="http://schemas.openxmlformats.org/drawingml/2006/main">
            <a:r>
              <a:t>- **I09** Против сильного: лучшие доступные тайминги, сбор стека/пушек, перекрытия и короткие spawntrap, выгодное добивание, борьба за инициативу. При слабом собственном стеке сначала восстановление/штраф.</a:t>
            </a:r>
          </a:p>
          <a:p xmlns:a="http://schemas.openxmlformats.org/drawingml/2006/main">
            <a:r>
              <a:t>- **I10** После устойчивого перехвата контроля/инициативы слегка снижать темп и переходить к слушанию углов/засадам. Один случайный фраг не выключает усиленную фазу.</a:t>
            </a:r>
          </a:p>
          <a:p xmlns:a="http://schemas.openxmlformats.org/drawingml/2006/main">
            <a:r>
              <a:t>- **I11** Против чрезмерно наглого пуша подготовить ориентир ≥100 HP / 100 armor и выгодные LG/RL/rail, при необходимости SG. Занять позицию для приёма или контрпуша.</a:t>
            </a:r>
          </a:p>
          <a:p xmlns:a="http://schemas.openxmlformats.org/drawingml/2006/main">
            <a:r>
              <a:t>- **I12** После 70–110 урона оценить оставшийся стек, расстояние, геометрию, собственный стек, оружие и выход. При выгоде сближаться и добивать RL/SG, при утрате преимущества прекратить погоню.</a:t>
            </a:r>
          </a:p>
          <a:p xmlns:a="http://schemas.openxmlformats.org/drawingml/2006/main">
            <a:r>
              <a:t>- **I13** «Крыса» после инициативы: меньше шума/прыжков, слушать, ждать с выходом, короткий штраф и смена места. Допускать неверное ожидание и пропущенный обход, не одну идеальную вечную засаду.</a:t>
            </a:r>
          </a:p>
          <a:p xmlns:a="http://schemas.openxmlformats.org/drawingml/2006/main">
            <a:r>
              <a:t>- **I14** Для равного заслуженного соперника стремиться к напряжённым разменам и восстановлению, иногда около пяти минут без фрага. Это результат дистанции/риска, не таймер запрета убийства.</a:t>
            </a:r>
          </a:p>
          <a:p xmlns:a="http://schemas.openxmlformats.org/drawingml/2006/main">
            <a:r>
              <a:t>- **I15** Не оставлять искусственно 1 HP, не отказываться от очевидного добивания, не выравнивать счёт. Ключевой фраг создаёт ошибка/ловушка/позиция и может запустить серию 5:0.</a:t>
            </a:r>
          </a:p>
          <a:p xmlns:a="http://schemas.openxmlformats.org/drawingml/2006/main">
            <a:r>
              <a:t>- **I16** Найти демки с долгим 0:0, разменами, первым ключевым фрагом, перехватом контроля, проигрышем перед overtime, наказанием погони, обходом и атакой в спину. Извлекать решения, не сценарий счёта.</a:t>
            </a:r>
          </a:p>
          <a:p xmlns:a="http://schemas.openxmlformats.org/drawingml/2006/main">
            <a:r>
              <a:t>- **I17** Калибровочный контекст: владелец почти всегда побеждает штатного Xaero 5, но без контроля испытывает трудности, особенно на респаунах. Это ориентир испытаний, не готовая численная оценка.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J. Характер, расслабление и forfeit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**J01** Иногда бот играет хуже, расслабляется, ошибается или безрассудно атакует. Ошибки выглядят человеческими решениями, не техническими сбоями.</a:t>
            </a:r>
          </a:p>
          <a:p xmlns:a="http://schemas.openxmlformats.org/drawingml/2006/main">
            <a:r>
              <a:t>- **J02** При преимуществе вроде 20:0 может ослабить контроль и дать игроку шансы на примерно 5–10 фрагов. Итог не гарантирован и не выставляется скриптом.</a:t>
            </a:r>
          </a:p>
          <a:p xmlns:a="http://schemas.openxmlformats.org/drawingml/2006/main">
            <a:r>
              <a:t>- **J03** Сильный тильт с потерей собственного лидерства вплоть до поражения: актуальный ориентир 1–2 матча на 10–15 игр. Ранние 1–2 на 100 сохранены только в истории правок.</a:t>
            </a:r>
          </a:p>
          <a:p xmlns:a="http://schemas.openxmlformats.org/drawingml/2006/main">
            <a:r>
              <a:t>- **J04** Это целевая частота состояния, не принудительный проигрыш. Выбор состояния на уровне матча/эпизода, не каждый кадр. Уточнить вероятность и условия по тестам.</a:t>
            </a:r>
          </a:p>
          <a:p xmlns:a="http://schemas.openxmlformats.org/drawingml/2006/main">
            <a:r>
              <a:t>- **J05** При доминировании игрока 5:0, 6:0, 10:0, то есть бот отстаёт 0:5/0:6/0:10, возможен forfeit через поведение: 100 HP с респа, первое доступное оружие, немедленная атака.</a:t>
            </a:r>
          </a:p>
          <a:p xmlns:a="http://schemas.openxmlformats.org/drawingml/2006/main">
            <a:r>
              <a:t>- **J06** В forfeit прекращается нормальный сбор, восстановление и подготовка. Может случайно взять 1–2 фрага, но это не обязано возвращать его к полноценной игре.</a:t>
            </a:r>
          </a:p>
          <a:p xmlns:a="http://schemas.openxmlformats.org/drawingml/2006/main">
            <a:r>
              <a:t>- **J07** Поведенческая сдача отличается от осторожного pressure_retreat, где бот хочет восстановиться и вернуться. Состояния взаимоисключаются.</a:t>
            </a:r>
          </a:p>
          <a:p xmlns:a="http://schemas.openxmlformats.org/drawingml/2006/main">
            <a:r>
              <a:t>- **J08** Выход из матча отдельный: соперник достиг примерно 30 фрагов и имеется крупное отставание. Примеры бот:игрок: 15:30 может остаться; дефицит больше 15–20 ориентир 50%; 5:30 ориентир 90%.</a:t>
            </a:r>
          </a:p>
          <a:p xmlns:a="http://schemas.openxmlformats.org/drawingml/2006/main">
            <a:r>
              <a:t>- **J09** Эти примеры не задают полную функцию. Предложить непротиворечивую таблицу/кривую и согласовать до включения автоматического выхода. Не выводить промежуточные вероятности как уже утверждённые.</a:t>
            </a:r>
          </a:p>
          <a:p xmlns:a="http://schemas.openxmlformats.org/drawingml/2006/main">
            <a:r>
              <a:t>- **J10** Вероятность проверить один раз при достижении согласованных условий, сохранять решение до сброса матча. Повторный roll каждый тик недопустим.</a:t>
            </a:r>
          </a:p>
          <a:p xmlns:a="http://schemas.openxmlformats.org/drawingml/2006/main">
            <a:r>
              <a:t>- **J11** Проверить жизненный цикл: autofill не должен немедленно вернуть ушедшего бота. До проверки можно реализовать решение без исполнительного выхода.</a:t>
            </a:r>
          </a:p>
          <a:p xmlns:a="http://schemas.openxmlformats.org/drawingml/2006/main">
            <a:r>
              <a:t>- **J12** Команду кика пока отложить. Правило реванша позже разрешено отдельно. Приоритеты состояния, тактики, мести и чата документировать, не выдавать одновременно несовместимые команды.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K. Чат и ответные действия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**K01** Существующий почти готовый чат использовать как единую систему. На грубость человека бот может грубить в ответ, связывать реплики с реальными событиями.</a:t>
            </a:r>
          </a:p>
          <a:p xmlns:a="http://schemas.openxmlformats.org/drawingml/2006/main">
            <a:r>
              <a:t>- **K02** Спортивные сообщения gl, hf, glhf, gl hf, good luck, have fun, gg, gg wp, wp, «удачи», «хорошей игры» распознавать после нормализации регистра/цветов и по словам, не случайным подстрокам.</a:t>
            </a:r>
          </a:p>
          <a:p xmlns:a="http://schemas.openxmlformats.org/drawingml/2006/main">
            <a:r>
              <a:t>- **K03** Ответ вежливый и взаимный, иногда с добрым приколом: «GL HF!», «Спасибо, тебе тоже!», «GG, хорошая игра», «Только Мегу мне оставь :)». Спортивное поведение работает независимо от раздражения.</a:t>
            </a:r>
          </a:p>
          <a:p xmlns:a="http://schemas.openxmlformats.org/drawingml/2006/main">
            <a:r>
              <a:t>- **K04** Учитывать контекст начала/конца, не отвечать себе и другим ботам, дедупликация и общий cooldown исключают бесконечный обмен.</a:t>
            </a:r>
          </a:p>
          <a:p xmlns:a="http://schemas.openxmlformats.org/drawingml/2006/main">
            <a:r>
              <a:t>- **K05** Gauntlet/пила: различать выбор оружия, достоверную близкую атаку и фактический damage. Один equip не вызывает реакцию, близкий промах только при надёжном определении.</a:t>
            </a:r>
          </a:p>
          <a:p xmlns:a="http://schemas.openxmlformats.org/drawingml/2006/main">
            <a:r>
              <a:t>- **K06** После подтверждённого удара возможны «Убери свой ножик», «Теперь моя очередь», «Хочешь на пилах? Запомнил». Предложенные начальные настройки: 70% и ≥30 с, без одинаковой фразы подряд.</a:t>
            </a:r>
          </a:p>
          <a:p xmlns:a="http://schemas.openxmlformats.org/drawingml/2006/main">
            <a:r>
              <a:t>- **K07** Месть: накапливать урон конкретного игрока; актуальный предложенный порог 50, тестовый 25. Ранние 50–100 уточнены. Проверить, damage означает HP или HP+armor.</a:t>
            </a:r>
          </a:p>
          <a:p xmlns:a="http://schemas.openxmlformats.org/drawingml/2006/main">
            <a:r>
              <a:t>- **K08** gauntlet_revenge действует предложенные 90 с, цель — хотя бы одно убийство перчаткой. Оценка HP цели ≤50, близкий достижимый контакт и видимость запускают обязательную попытку, не гарантированное попадание/убийство.</a:t>
            </a:r>
          </a:p>
          <a:p xmlns:a="http://schemas.openxmlformats.org/drawingml/2006/main">
            <a:r>
              <a:t>- **K09** Не бежать с перчаткой через всю карту, прекратить опасную попытку/потерю контакта, не отменять цель после одного промаха. Подтверждённый gauntlet kill завершает цель.</a:t>
            </a:r>
          </a:p>
          <a:p xmlns:a="http://schemas.openxmlformats.org/drawingml/2006/main">
            <a:r>
              <a:t>- **K10** Трупы: исходно никогда не добивает. Первые два намеренных эпизода повреждения его трупов игнорирует, после третьего corpse_retaliation и одна реплика: «Чем тебе мой труп помешал?» / «С живым мной сразись».</a:t>
            </a:r>
          </a:p>
          <a:p xmlns:a="http://schemas.openxmlformats.org/drawingml/2006/main">
            <a:r>
              <a:t>- **K11** Очередь по одному трупу считается одним эпизодом. Не считать killing shot, damage живому, auto-gib при смерти и недостоверную случайность. Использовать консервативное распознавание.</a:t>
            </a:r>
          </a:p>
          <a:p xmlns:a="http://schemas.openxmlformats.org/drawingml/2006/main">
            <a:r>
              <a:t>- **K12** После активации может коротко добить следующий доступный труп этого соперника после своей победы, если безопасно, максимум 1 с; затем продолжить игру, без обязательной новой реплики.</a:t>
            </a:r>
          </a:p>
          <a:p xmlns:a="http://schemas.openxmlformats.org/drawingml/2006/main">
            <a:r>
              <a:t>- **K13** corpse_retaliation действует до конца матча. Персональные счётчики/месть/реплики сбрасываются в новом матче, обрабатывать отключение/смену команды.</a:t>
            </a:r>
          </a:p>
          <a:p xmlns:a="http://schemas.openxmlformats.org/drawingml/2006/main">
            <a:r>
              <a:t>- **K14** Предложенные настройки антиспама: общий интервал ≥20 с; предметы/оружие суммарно ≥120 с и шанс 10% на подходящее событие. Перчатка/трупы приоритетнее редкого комментария про rail/MH/RA/rocket.</a:t>
            </a:r>
          </a:p>
          <a:p xmlns:a="http://schemas.openxmlformats.org/drawingml/2006/main">
            <a:r>
              <a:t>- **K15** Если чат занят, событийную реплику ненадолго отложить, не копить устаревшую очередь. Все параметры конфигурируемые, диагностика только в журнале.</a:t>
            </a:r>
          </a:p>
          <a:p xmlns:a="http://schemas.openxmlformats.org/drawingml/2006/main">
            <a:r>
              <a:t>- **K16** В конце дуэли один вопрос «GG! Реванш?». Только явное согласие разрешает следующий матч; gg само по себе не согласие. Поздняя правка разрешила вопрос, остальные команды дуэли/кика отложены.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L. Пять уровней сложности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**L01** Сложность задаёт границы навыков, реакцию, точность всех пушек, качество movement, ошибку исполнения, разнообразие решений/маршрутов, контроль, комбо и spawntrap.</a:t>
            </a:r>
          </a:p>
          <a:p xmlns:a="http://schemas.openxmlformats.org/drawingml/2006/main">
            <a:r>
              <a:t>- **L02** 1 I Can Win: низкая точность и медленная реакция, почти нет распрыжки, без сложных tricks. Для некоторых предметов отдельный простой RJ. Простые маршруты/пропуски пушек и предметов, без намеренных combo/spawntrap.</a:t>
            </a:r>
          </a:p>
          <a:p xmlns:a="http://schemas.openxmlformats.org/drawingml/2006/main">
            <a:r>
              <a:t>- **L03** 2 Bring It On: предложенная промежуточная градация. Базовый strafe с потерями скорости, простые освоенные RJ, более широкий выбор маршрутов/оружия, простые switch, без систематического spawntrap.</a:t>
            </a:r>
          </a:p>
          <a:p xmlns:a="http://schemas.openxmlformats.org/drawingml/2006/main">
            <a:r>
              <a:t>- **L04** 3 Hurt Me Plenty: стартовый уровень для нового игрока, образ полупрофи. Уверенная распрыжка, изученные tricks, RJ, боевой strafe и человеческие ошибки. Combo, контроль, до 1–2 spawntrap-эпизодов за матч.</a:t>
            </a:r>
          </a:p>
          <a:p xmlns:a="http://schemas.openxmlformats.org/drawingml/2006/main">
            <a:r>
              <a:t>- **L05** 4 Hardcore: предложенная промежуточная градация. Устойчивый быстрый мувмент, больше tricks, лучше aim/tracking/lead, вариативные решения, combo, чтение циклов и использование окон респауна.</a:t>
            </a:r>
          </a:p>
          <a:p xmlns:a="http://schemas.openxmlformats.org/drawingml/2006/main">
            <a:r>
              <a:t>- **L06** 5 Nightmare / Кошмар: лучшее исполнение внутри человеческого профиля и утверждённой точности. Лучшие контроль/прогноз/комбо, но человеческая реакция, ошибки и возможность обхода.</a:t>
            </a:r>
          </a:p>
          <a:p xmlns:a="http://schemas.openxmlformats.org/drawingml/2006/main">
            <a:r>
              <a:t>- **L07** Все уровни используют одинаковую реальную физику, damage, HP/armor и размеры цели. Не повышать сложность скрытыми физическими преимуществами.</a:t>
            </a:r>
          </a:p>
          <a:p xmlns:a="http://schemas.openxmlformats.org/drawingml/2006/main">
            <a:r>
              <a:t>- **L08** Адаптация слабый/сильный/наглый/осторожный действует внутри каждого уровня. Бот lvl1 не получает сложные прыжки или spawntrap от одного давления.</a:t>
            </a:r>
          </a:p>
          <a:p xmlns:a="http://schemas.openxmlformats.org/drawingml/2006/main">
            <a:r>
              <a:t>- **L09** Профиль каждого уровня хранит разрешённые приёмы, диапазоны aim и исполнения, набор решений, ограничения spawntrap и силу адаптации.</a:t>
            </a:r>
          </a:p>
          <a:p xmlns:a="http://schemas.openxmlformats.org/drawingml/2006/main">
            <a:r>
              <a:t>- **L10** После завершения карты предложить реванш. При явном согласии оценить матч и изменить уровень максимум на ±1 к следующей карте; при близкой игре оставить.</a:t>
            </a:r>
          </a:p>
          <a:p xmlns:a="http://schemas.openxmlformats.org/drawingml/2006/main">
            <a:r>
              <a:t>- **L11** Тильт, forfeit и намеренное расслабление не считать надёжным свидетельством силы игрока. Не переключать сам уровень сложности посреди карты.</a:t>
            </a:r>
          </a:p>
          <a:p xmlns:a="http://schemas.openxmlformats.org/drawingml/2006/main">
            <a:r>
              <a:t>- **L12** Промежуточные уровни и диапазоны пока проектные предложения. Числовую точность и частоты высоких уровней согласовать по демкам/испытаниям.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История уточнений без потери исходных идей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Тема | Ранний вариант | Актуальный вариант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Таймеры | Раньше только наблюдаемые подборы | Теперь разрешены точные таймеры всех предметов; WH не разрешён |</a:t>
            </a:r>
          </a:p>
          <a:p xmlns:a="http://schemas.openxmlformats.org/drawingml/2006/main">
            <a:r>
              <a:t>| Тильт с потерей лидерства | 1–2 матча на 100 | Актуально 1–2 на 10–15 игр; исход не гарантируется |</a:t>
            </a:r>
          </a:p>
          <a:p xmlns:a="http://schemas.openxmlformats.org/drawingml/2006/main">
            <a:r>
              <a:t>| Полный контроль | Включать при равной игре/отставании | Тотальный сбор редкий, 1–2/10; усиление против сильного внутри ограничения |</a:t>
            </a:r>
          </a:p>
          <a:p xmlns:a="http://schemas.openxmlformats.org/drawingml/2006/main">
            <a:r>
              <a:t>| Перчатка | Реакция на equip; порог 50–100 | Надёжный damage; предложено 50, тест 25; обязательная попытка при условиях |</a:t>
            </a:r>
          </a:p>
          <a:p xmlns:a="http://schemas.openxmlformats.org/drawingml/2006/main">
            <a:r>
              <a:t>| Трупы | Сразу отвечать | Первые 2 эпизода игнор, с 3-го ответ |</a:t>
            </a:r>
          </a:p>
          <a:p xmlns:a="http://schemas.openxmlformats.org/drawingml/2006/main">
            <a:r>
              <a:t>| Реванш | Общение/запрос дуэли отложены | Позже разрешён один вопрос в конце; kick и остальные команды отложены |</a:t>
            </a:r>
          </a:p>
          <a:p xmlns:a="http://schemas.openxmlformats.org/drawingml/2006/main">
            <a:r>
              <a:t>| Spawntrap | 2–3 подряд, несколько раз | Серия до 2–3; lvl1 нет, lvl3 до 1–2 эпизодов; точное знание отдельная опция |</a:t>
            </a:r>
          </a:p>
          <a:p xmlns:a="http://schemas.openxmlformats.org/drawingml/2006/main">
            <a:r>
              <a:t>| Мувмент-источники | Допускались видео | Последний запрос: текстовые статьи, максимум изображения |</a:t>
            </a:r>
          </a:p>
          <a:p xmlns:a="http://schemas.openxmlformats.org/drawingml/2006/main">
            <a:r>
              <a:t>| Точность под давлением | Обычное снижение | Позже усиление против сильного: нужен отдельный контррежим, границы ещё согласовать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Оценка связности логики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Это качественный разбор требований, без выдуманного процента готовности.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Область | Оценка | Что учитывать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Человекоподобие | Сильная концепция | Ошибки решений, слышимость, обходы и ограниченная память делают поведение читаемым. |</a:t>
            </a:r>
          </a:p>
          <a:p xmlns:a="http://schemas.openxmlformats.org/drawingml/2006/main">
            <a:r>
              <a:t>| Адаптация | Требует устойчивых переходов | Несколько окон наблюдений, hysteresis и ограничение текущим уровнем исключают качели. |</a:t>
            </a:r>
          </a:p>
          <a:p xmlns:a="http://schemas.openxmlformats.org/drawingml/2006/main">
            <a:r>
              <a:t>| Точность | Нужны данные и согласование | Снижение под давлением конфликтует с усилением против сильного. Предлагается отдельный режим, не скрытое изменение. |</a:t>
            </a:r>
          </a:p>
          <a:p xmlns:a="http://schemas.openxmlformats.org/drawingml/2006/main">
            <a:r>
              <a:t>| Тотальный контроль | Есть ограничение и конфликт | Запрос фул-контроля при давлении следует совместить с редкостью 1–2/10; не считать оба безусловными. |</a:t>
            </a:r>
          </a:p>
          <a:p xmlns:a="http://schemas.openxmlformats.org/drawingml/2006/main">
            <a:r>
              <a:t>| Честная информация | Явные тренировочные исключения | Точные таймеры/будущий респ отделить от запрещённых скрытых HP и live positions. |</a:t>
            </a:r>
          </a:p>
          <a:p xmlns:a="http://schemas.openxmlformats.org/drawingml/2006/main">
            <a:r>
              <a:t>| Тильт и выход | Нужна калибровка | 1–2/10–15 не стоит называть крайне редким. Выход 50%/90% пока примеры, функция не согласована. |</a:t>
            </a:r>
          </a:p>
          <a:p xmlns:a="http://schemas.openxmlformats.org/drawingml/2006/main">
            <a:r>
              <a:t>| Долгий равный матч | Цель, не гарантия | Дистанция и риск могут дать долгий 0:0, искусственный запрет фрага разрушает тренировочный смысл. |</a:t>
            </a:r>
          </a:p>
          <a:p xmlns:a="http://schemas.openxmlformats.org/drawingml/2006/main">
            <a:r>
              <a:t>| Готовность реализации | Не оценивалась в этом пакете | Схема отражает требования. Последняя доступная запись: policy/tests есть, реальное управление в QL ещё требовало подтверждения.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Предлагаемый порядок разрешения конфликтов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Это рекомендация для реализации, её нужно документировать в коде: сначала ограничения информации/физики и профиль уровня; затем завершение матча/решение о выходе; затем взаимоисключающий поведенческий режим; затем тактическая цель и оружие; затем исполнение движения/стрельбы. Месть и чат работают как ограниченные дополнительные цели. Forfeit не выдаёт одновременно маршрут осторожного восстановления. Входы/выходы состояний имеют выдержку и журнал причин.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Проверка и дальнейшая работа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Аудит проекта и подтверждение реального адаптера управления.</a:t>
            </a:r>
          </a:p>
          <a:p xmlns:a="http://schemas.openxmlformats.org/drawingml/2006/main">
            <a:r>
              <a:t>2. Одна карта, одна размеченная сольная демка, один маршрут и RJ.</a:t>
            </a:r>
          </a:p>
          <a:p xmlns:a="http://schemas.openxmlformats.org/drawingml/2006/main">
            <a:r>
              <a:t>3. Проверка движения, стрельбы, выбора оружия и combo.</a:t>
            </a:r>
          </a:p>
          <a:p xmlns:a="http://schemas.openxmlformats.org/drawingml/2006/main">
            <a:r>
              <a:t>4. Предметный цикл, повторяющиеся маршруты, spawntrap с ограничениями сложности.</a:t>
            </a:r>
          </a:p>
          <a:p xmlns:a="http://schemas.openxmlformats.org/drawingml/2006/main">
            <a:r>
              <a:t>5. Адаптация слабый/сильный/агрессивный/осторожный и смена стиля посреди матча.</a:t>
            </a:r>
          </a:p>
          <a:p xmlns:a="http://schemas.openxmlformats.org/drawingml/2006/main">
            <a:r>
              <a:t>6. Реакции на gauntlet/corpse/chat и сброс персональных состояний.</a:t>
            </a:r>
          </a:p>
          <a:p xmlns:a="http://schemas.openxmlformats.org/drawingml/2006/main">
            <a:r>
              <a:t>7. Тихий обход, атака в спину, исчезновение цели и ошибочный прогноз.</a:t>
            </a:r>
          </a:p>
          <a:p xmlns:a="http://schemas.openxmlformats.org/drawingml/2006/main">
            <a:r>
              <a:t>8. Расчёт точности, согласование диапазонов и функции выхода.</a:t>
            </a:r>
          </a:p>
          <a:p xmlns:a="http://schemas.openxmlformats.org/drawingml/2006/main">
            <a:r>
              <a:t>9. По отдельной команде владельца игровые испытания. Policy unit tests не доказывают работу интеграции.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Метрики: успешность/время маршрута, скорость, приземление, HP/armor, застревания, длительность боёв, успешность отходов, повторяемость, смены режимов, реализованные spawntrap, причины действий, чатовый спам, источники знаний и возможность застать бота врасплох.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Последняя доступная запись о проекте: C++-политика, MSVC-сборка, тесты и чат существовали, реальное исполнение управления в Quake Live ещё требовало подтверждения. В этом графическом пакете свежий аудит кода не проводился.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Ссылки из переписки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ниже сохранены как библиотека для исследования. В этом задании мы не повторяли сетевую проверку и не скачивали репозитории. Наличие ссылки не доказывает переносимость или рабочую интеграцию.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[Strafing Theory — injx](https://www.artifexquake.com/?page_id=186) — single-beat, half-beat, теория ускорения.</a:t>
            </a:r>
          </a:p>
          <a:p xmlns:a="http://schemas.openxmlformats.org/drawingml/2006/main">
            <a:r>
              <a:t>2. [Circle-Jump Theory — injx](https://www.artifexquake.com/?page_id=184) — prestrafe, circle jump, различия VQ3/CPM.</a:t>
            </a:r>
          </a:p>
          <a:p xmlns:a="http://schemas.openxmlformats.org/drawingml/2006/main">
            <a:r>
              <a:t>3. [The Ultimate Quake Live Guide — Yakumo](https://steamcommunity.com/sharedfiles/filedetails/?id=315482318) — текст движения, RJ, plasma jump/climb.</a:t>
            </a:r>
          </a:p>
          <a:p xmlns:a="http://schemas.openxmlformats.org/drawingml/2006/main">
            <a:r>
              <a:t>4. [Quake III Arena FAQ — Delta](https://gamefaqs.gamespot.com/pc/192047-quake-iii-arena/faqs/10194) — дополнительное текстовое описание RJ.</a:t>
            </a:r>
          </a:p>
          <a:p xmlns:a="http://schemas.openxmlformats.org/drawingml/2006/main">
            <a:r>
              <a:t>5. [Markdown-копия Strafing Theory](https://github.com/5xp/strafe-theory/blob/master/strafing-theory.md) — копия, не независимый источник.</a:t>
            </a:r>
          </a:p>
          <a:p xmlns:a="http://schemas.openxmlformats.org/drawingml/2006/main">
            <a:r>
              <a:t>6. [Markdown-копия Circle-Jump Theory](https://github.com/5xp/strafe-theory/blob/master/circle-jump-theory.md) — копия, не независимый источник.</a:t>
            </a:r>
          </a:p>
          <a:p xmlns:a="http://schemas.openxmlformats.org/drawingml/2006/main">
            <a:r>
              <a:t>7. [Quake III Arena source](https://github.com/id-Software/Quake-III-Arena) — game AI, botlib, ai_chat.</a:t>
            </a:r>
          </a:p>
          <a:p xmlns:a="http://schemas.openxmlformats.org/drawingml/2006/main">
            <a:r>
              <a:t>8. [ioquake3](https://github.com/ioquake/ioq3) — движок и бот-основа Q3.</a:t>
            </a:r>
          </a:p>
          <a:p xmlns:a="http://schemas.openxmlformats.org/drawingml/2006/main">
            <a:r>
              <a:t>9. [Brainworks](https://github.com/NuclearMonster/quake3-brainworks) — движение, восприятие, уклонения, предметы.</a:t>
            </a:r>
          </a:p>
          <a:p xmlns:a="http://schemas.openxmlformats.org/drawingml/2006/main">
            <a:r>
              <a:t>10. [SpiterBot RC9 Hotfix](https://www.moddb.com/downloads/spiterbot-rc9-hotfix-1) — аналог Q3, исходники не подтверждены.</a:t>
            </a:r>
          </a:p>
          <a:p xmlns:a="http://schemas.openxmlformats.org/drawingml/2006/main">
            <a:r>
              <a:t>11. [CPMA](https://playmorepromode.com/downloads) — сравнение ботов, другая физика.</a:t>
            </a:r>
          </a:p>
          <a:p xmlns:a="http://schemas.openxmlformats.org/drawingml/2006/main">
            <a:r>
              <a:t>12. [Hopper 2.2](https://www.moddb.com/mods/quake3-hopper/downloads/quake3-arena-hopper-engine-version-22) — изучать навигацию, не копировать отмену self-damage.</a:t>
            </a:r>
          </a:p>
          <a:p xmlns:a="http://schemas.openxmlformats.org/drawingml/2006/main">
            <a:r>
              <a:t>13. [QuakeLiveInterface](https://github.com/cainky/QuakeLiveInterface) — интерфейс наблюдения/управления, исполнение отдельно проверить.</a:t>
            </a:r>
          </a:p>
          <a:p xmlns:a="http://schemas.openxmlformats.org/drawingml/2006/main">
            <a:r>
              <a:t>14. [WinQLX](https://github.com/locopol/WinQLX32) — Windows x86, ограничения совместимости.</a:t>
            </a:r>
          </a:p>
          <a:p xmlns:a="http://schemas.openxmlformats.org/drawingml/2006/main">
            <a:r>
              <a:t>15. [minqlxtended](https://github.com/tjone270/minqlxtended) — расширение серверной интеграции.</a:t>
            </a:r>
          </a:p>
          <a:p xmlns:a="http://schemas.openxmlformats.org/drawingml/2006/main">
            <a:r>
              <a:t>16. [wolfcamql](https://github.com/brugal/wolfcamql) — QL demo playback и анализ.</a:t>
            </a:r>
          </a:p>
          <a:p xmlns:a="http://schemas.openxmlformats.org/drawingml/2006/main">
            <a:r>
              <a:t>17. [ioquakelive](https://github.com/tjone270/ioquakelive) — экспериментальная реконструкция.</a:t>
            </a:r>
          </a:p>
          <a:p xmlns:a="http://schemas.openxmlformats.org/drawingml/2006/main">
            <a:r>
              <a:t>18. [FnQL technical](https://github.com/themuffinator/FnQL/blob/main/docs/fnql/TECHNICAL.md) — совместимость движка, не готовая замена gamecode.</a:t>
            </a:r>
          </a:p>
          <a:p xmlns:a="http://schemas.openxmlformats.org/drawingml/2006/main">
            <a:r>
              <a:t>19. [QL API](https://github.com/quakelive-server-standards/ql-api) — RCON/статистика, не управление движением.</a:t>
            </a:r>
          </a:p>
          <a:p xmlns:a="http://schemas.openxmlformats.org/drawingml/2006/main">
            <a:r>
              <a:t>20. [QL documentation](https://github.com/tjone270/Quake-Live/tree/master/documentation) — неполная общественная документация.</a:t>
            </a:r>
          </a:p>
          <a:p xmlns:a="http://schemas.openxmlformats.org/drawingml/2006/main">
            <a:r>
              <a:t>21. [UberDemoTools](https://github.com/mightycow/uberdemotools) — разбор демок QL.</a:t>
            </a:r>
          </a:p>
          <a:p xmlns:a="http://schemas.openxmlformats.org/drawingml/2006/main">
            <a:r>
              <a:t>22. [UDT custom parsing](https://github.com/mightycow/uberdemotools/blob/develop/CUSTOM_PARSING.md) — добавление извлечения событий.</a:t>
            </a:r>
          </a:p>
          <a:p xmlns:a="http://schemas.openxmlformats.org/drawingml/2006/main">
            <a:r>
              <a:t>23. [Scala QL Demo Parser](https://github.com/vincasmiliunas/Quake-Live-Demo-Parser) — альтернативный low-level parser.</a:t>
            </a:r>
          </a:p>
          <a:p xmlns:a="http://schemas.openxmlformats.org/drawingml/2006/main">
            <a:r>
              <a:t>24. [qldt](https://github.com/redrumrobot/qldt) — старые протоколы dm73/dm68.</a:t>
            </a:r>
          </a:p>
          <a:p xmlns:a="http://schemas.openxmlformats.org/drawingml/2006/main">
            <a:r>
              <a:t>25. [BobbyBones, публикация автора](https://www.reddit.com/r/quake/comments/1wyqngx/bobbybones_a_quake_live_bot_that_learns/) — исследовательская зацепка, скачивание/исходники не подтверждены.</a:t>
            </a:r>
          </a:p>
          <a:p xmlns:a="http://schemas.openxmlformats.org/drawingml/2006/main">
            <a:r>
              <a:t>26. [DeepMind Q3 CTF](https://arxiv.org/abs/1807.01281) — исследование RL, не готовый дуэльный бот 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Границы сводки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Дубли логики объединены. Обсуждение входа в редактор и размытия текста сохранено в архиве переписки, но не превращено в функции бота. Утверждение о том, что аналогов вообще нет, остаётся предположением владельца, не проверенным фактом.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исходных требований: сообщения владельца и задания ассистента в чате «Разработка PsYz0r-bot», до 10.10.2026.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85d07401674a8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bb68c5a68d401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a9bd7ee4dc445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545dd7dc39421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207b314dc04c8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1c93056ab348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23D044-90E0-4D7B-8B15-97ED1BD125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45382" y="7074611"/>
            <a:ext cx="29963059" cy="2704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310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4D49BE5-9E7C-464C-8158-11F72CD277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618074" y="10299802"/>
            <a:ext cx="26217677" cy="2080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7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3CAA6FF-CAD1-4081-8E35-CDC8734112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45382" y="7802880"/>
            <a:ext cx="29963059" cy="3121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146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68F786-0ACB-47F3-A10A-7BF4F05CD9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06778" y="1456538"/>
            <a:ext cx="33240269" cy="2288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0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C6C697E-F5DE-41D9-BD7D-DF184754E5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106778" y="5201920"/>
            <a:ext cx="33240269" cy="11652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61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624230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1pPr>
            <a:lvl2pPr marL="1456538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2pPr>
            <a:lvl3pPr marL="2288845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3pPr>
            <a:lvl4pPr marL="3121152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4pPr>
            <a:lvl5pPr marL="3953459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5pPr>
            <a:lvl6pPr marL="4785766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6pPr>
            <a:lvl7pPr marL="5618074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7pPr>
            <a:lvl8pPr marL="6450381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8pPr>
            <a:lvl9pPr marL="7282688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C9FEB5F-22BC-4C11-9E69-9C5C30EBD0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06778" y="1456538"/>
            <a:ext cx="33240269" cy="2288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0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541A4A9-6A01-48FB-BCC7-AC4D8EF840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106778" y="5201920"/>
            <a:ext cx="15449702" cy="11652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7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624230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1pPr>
            <a:lvl2pPr marL="1456538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2pPr>
            <a:lvl3pPr marL="2288845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3pPr>
            <a:lvl4pPr marL="3121152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4pPr>
            <a:lvl5pPr marL="3953459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5pPr>
            <a:lvl6pPr marL="4785766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6pPr>
            <a:lvl7pPr marL="5618074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7pPr>
            <a:lvl8pPr marL="6450381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8pPr>
            <a:lvl9pPr marL="7282688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316BC27-B8B0-4A88-90EF-D0E8DB04745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9897344" y="5201920"/>
            <a:ext cx="15449702" cy="11652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7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624230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1pPr>
            <a:lvl2pPr marL="1456538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2pPr>
            <a:lvl3pPr marL="2288845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3pPr>
            <a:lvl4pPr marL="3121152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4pPr>
            <a:lvl5pPr marL="3953459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5pPr>
            <a:lvl6pPr marL="4785766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6pPr>
            <a:lvl7pPr marL="5618074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7pPr>
            <a:lvl8pPr marL="6450381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8pPr>
            <a:lvl9pPr marL="7282688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53D5C6-9F2F-4B46-8664-6975895B7A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06778" y="1456538"/>
            <a:ext cx="33240269" cy="2288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0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2D560A-50CA-47AA-A8DA-CE65996CD5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106778" y="5201920"/>
            <a:ext cx="15449702" cy="11652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61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624230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1pPr>
            <a:lvl2pPr marL="1456538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2pPr>
            <a:lvl3pPr marL="2288845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3pPr>
            <a:lvl4pPr marL="3121152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4pPr>
            <a:lvl5pPr marL="3953459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5pPr>
            <a:lvl6pPr marL="4785766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6pPr>
            <a:lvl7pPr marL="5618074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7pPr>
            <a:lvl8pPr marL="6450381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8pPr>
            <a:lvl9pPr marL="7282688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e68a6246ee4835" /><Relationship Type="http://schemas.openxmlformats.org/officeDocument/2006/relationships/slideLayout" Target="/ppt/slideLayouts/slideLayout1.xml" Id="R8deb3c7856e34f6e" /><Relationship Type="http://schemas.openxmlformats.org/officeDocument/2006/relationships/slideLayout" Target="/ppt/slideLayouts/slideLayout2.xml" Id="R368894799ea343ad" /><Relationship Type="http://schemas.openxmlformats.org/officeDocument/2006/relationships/slideLayout" Target="/ppt/slideLayouts/slideLayout3.xml" Id="R62c2363e6c9e4f95" /><Relationship Type="http://schemas.openxmlformats.org/officeDocument/2006/relationships/slideLayout" Target="/ppt/slideLayouts/slideLayout4.xml" Id="R88464b893f1d427f" /><Relationship Type="http://schemas.openxmlformats.org/officeDocument/2006/relationships/slideLayout" Target="/ppt/slideLayouts/slideLayout5.xml" Id="R8054d141f529452b" /><Relationship Type="http://schemas.openxmlformats.org/officeDocument/2006/relationships/slideLayout" Target="/ppt/slideLayouts/slideLayout6.xml" Id="R300d39f2394b4e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eb3c7856e34f6e"/>
    <p:sldLayoutId xmlns:r="http://schemas.openxmlformats.org/officeDocument/2006/relationships" id="2147483650" r:id="R368894799ea343ad"/>
    <p:sldLayoutId xmlns:r="http://schemas.openxmlformats.org/officeDocument/2006/relationships" id="2147483651" r:id="R62c2363e6c9e4f95"/>
    <p:sldLayoutId xmlns:r="http://schemas.openxmlformats.org/officeDocument/2006/relationships" id="2147483652" r:id="R88464b893f1d427f"/>
    <p:sldLayoutId xmlns:r="http://schemas.openxmlformats.org/officeDocument/2006/relationships" id="2147483653" r:id="R8054d141f529452b"/>
    <p:sldLayoutId xmlns:r="http://schemas.openxmlformats.org/officeDocument/2006/relationships" id="2147483654" r:id="R300d39f2394b4e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256f957c344802" /><Relationship Type="http://schemas.openxmlformats.org/officeDocument/2006/relationships/chart" Target="/ppt/slides/charts/chart1.xml" Id="Re99c1afa19ce4f73" /><Relationship Type="http://schemas.openxmlformats.org/officeDocument/2006/relationships/chart" Target="/ppt/slides/charts/chart2.xml" Id="Rd6d936bbe0c146fd" /><Relationship Type="http://schemas.openxmlformats.org/officeDocument/2006/relationships/notesSlide" Target="/ppt/notesSlides/notesSlide1.xml" Id="R0dd1b84504e04b4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Демки</c:v>
          </c:tx>
          <c:spPr>
            <a:solidFill xmlns:a="http://schemas.openxmlformats.org/drawingml/2006/main">
              <a:srgbClr val="81C7F1"/>
            </a:solidFill>
          </c:spPr>
          <c:cat>
            <c:strRef>
              <c:f>'Chart Data'!$A$2:$A$3</c:f>
              <c:strCache>
                <c:ptCount val="2"/>
                <c:pt idx="0">
                  <c:v>PsyRoZa</c:v>
                </c:pt>
                <c:pt idx="1">
                  <c:v>nekitz0r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100</c:v>
                </c:pt>
                <c:pt idx="1">
                  <c:v>20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F4F7F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6">
                <a:solidFill>
                  <a:srgbClr val="C3CDD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2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56758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40">
                <a:solidFill>
                  <a:srgbClr val="98ABB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252A30"/>
        </a:solidFill>
      </c:spPr>
    </c:plotArea>
    <c:plotVisOnly val="1"/>
  </c:chart>
  <c:spPr>
    <a:solidFill xmlns:a="http://schemas.openxmlformats.org/drawingml/2006/main">
      <a:srgbClr val="252A30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Выход, %</c:v>
          </c:tx>
          <c:spPr>
            <a:solidFill xmlns:a="http://schemas.openxmlformats.org/drawingml/2006/main">
              <a:srgbClr val="81C7F1"/>
            </a:solidFill>
          </c:spPr>
          <c:cat>
            <c:strRef>
              <c:f>'Chart Data'!$A$2:$A$3</c:f>
              <c:strCache>
                <c:ptCount val="2"/>
                <c:pt idx="0">
                  <c:v>Разрыв &gt;15–20</c:v>
                </c:pt>
                <c:pt idx="1">
                  <c:v>5:30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50</c:v>
                </c:pt>
                <c:pt idx="1">
                  <c:v>90</c:v>
                </c:pt>
              </c:numCache>
            </c:numRef>
          </c:val>
        </c:ser>
        <c:dLbls>
          <c:numFmt formatCode="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F4F7F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68">
                <a:solidFill>
                  <a:srgbClr val="C3CDD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56758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40">
                <a:solidFill>
                  <a:srgbClr val="98ABB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252A30"/>
        </a:solidFill>
      </c:spPr>
    </c:plotArea>
    <c:plotVisOnly val="1"/>
  </c:chart>
  <c:spPr>
    <a:solidFill xmlns:a="http://schemas.openxmlformats.org/drawingml/2006/main">
      <a:srgbClr val="252A30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52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B76F863-47E6-4054-AD35-EB4B3E009721}"/>
              </a:ext>
            </a:extLst>
          </p:cNvPr>
          <p:cNvCxnSpPr>
            <a:stCxn xmlns:a="http://schemas.openxmlformats.org/drawingml/2006/main" id="154" idx="2"/>
            <a:endCxn xmlns:a="http://schemas.openxmlformats.org/drawingml/2006/main" id="157" idx="0"/>
          </p:cNvCxnSpPr>
          <p:nvPr/>
        </p:nvCxnSpPr>
        <p:spPr>
          <a:xfrm xmlns:a="http://schemas.openxmlformats.org/drawingml/2006/main">
            <a:off x="18726912" y="5532120"/>
            <a:ext cx="0" cy="219456"/>
          </a:xfrm>
          <a:prstGeom xmlns:a="http://schemas.openxmlformats.org/drawingml/2006/main" prst="straightConnector1">
            <a:avLst/>
          </a:prstGeom>
          <a:ln xmlns:a="http://schemas.openxmlformats.org/drawingml/2006/main" w="18288">
            <a:solidFill>
              <a:srgbClr val="81C7F1"/>
            </a:solidFill>
            <a:tailEnd type="arrow" w="med" len="med"/>
          </a:ln>
        </p:spPr>
      </p:cxnSp>
      <p:cxnSp>
        <p:nvCxn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EAE296D3-C574-4653-A461-10590C7143FD}"/>
              </a:ext>
            </a:extLst>
          </p:cNvPr>
          <p:cNvCxnSpPr>
            <a:stCxn xmlns:a="http://schemas.openxmlformats.org/drawingml/2006/main" id="151" idx="2"/>
            <a:endCxn xmlns:a="http://schemas.openxmlformats.org/drawingml/2006/main" id="154" idx="0"/>
          </p:cNvCxnSpPr>
          <p:nvPr/>
        </p:nvCxnSpPr>
        <p:spPr>
          <a:xfrm xmlns:a="http://schemas.openxmlformats.org/drawingml/2006/main">
            <a:off x="18726912" y="4828032"/>
            <a:ext cx="0" cy="219456"/>
          </a:xfrm>
          <a:prstGeom xmlns:a="http://schemas.openxmlformats.org/drawingml/2006/main" prst="straightConnector1">
            <a:avLst/>
          </a:prstGeom>
          <a:ln xmlns:a="http://schemas.openxmlformats.org/drawingml/2006/main" w="18288">
            <a:solidFill>
              <a:srgbClr val="81C7F1"/>
            </a:solidFill>
            <a:tailEnd type="arrow" w="med" len="med"/>
          </a:ln>
        </p:spPr>
      </p:cxnSp>
      <p:cxnSp>
        <p:nvCxn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81339ADB-8765-4BA5-AE50-B59F7A2CFC23}"/>
              </a:ext>
            </a:extLst>
          </p:cNvPr>
          <p:cNvCxnSpPr>
            <a:stCxn xmlns:a="http://schemas.openxmlformats.org/drawingml/2006/main" id="148" idx="2"/>
            <a:endCxn xmlns:a="http://schemas.openxmlformats.org/drawingml/2006/main" id="151" idx="0"/>
          </p:cNvCxnSpPr>
          <p:nvPr/>
        </p:nvCxnSpPr>
        <p:spPr>
          <a:xfrm xmlns:a="http://schemas.openxmlformats.org/drawingml/2006/main">
            <a:off x="18726912" y="4123944"/>
            <a:ext cx="0" cy="219456"/>
          </a:xfrm>
          <a:prstGeom xmlns:a="http://schemas.openxmlformats.org/drawingml/2006/main" prst="straightConnector1">
            <a:avLst/>
          </a:prstGeom>
          <a:ln xmlns:a="http://schemas.openxmlformats.org/drawingml/2006/main" w="18288">
            <a:solidFill>
              <a:srgbClr val="81C7F1"/>
            </a:solidFill>
            <a:tailEnd type="arrow" w="med" len="med"/>
          </a:ln>
        </p:spPr>
      </p:cxnSp>
      <p:cxnSp>
        <p:nvCxn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29207D3A-8010-429F-8DF1-314D4E704C2C}"/>
              </a:ext>
            </a:extLst>
          </p:cNvPr>
          <p:cNvCxnSpPr>
            <a:stCxn xmlns:a="http://schemas.openxmlformats.org/drawingml/2006/main" id="145" idx="2"/>
            <a:endCxn xmlns:a="http://schemas.openxmlformats.org/drawingml/2006/main" id="148" idx="0"/>
          </p:cNvCxnSpPr>
          <p:nvPr/>
        </p:nvCxnSpPr>
        <p:spPr>
          <a:xfrm xmlns:a="http://schemas.openxmlformats.org/drawingml/2006/main">
            <a:off x="18726912" y="3419856"/>
            <a:ext cx="0" cy="219456"/>
          </a:xfrm>
          <a:prstGeom xmlns:a="http://schemas.openxmlformats.org/drawingml/2006/main" prst="straightConnector1">
            <a:avLst/>
          </a:prstGeom>
          <a:ln xmlns:a="http://schemas.openxmlformats.org/drawingml/2006/main" w="18288">
            <a:solidFill>
              <a:srgbClr val="81C7F1"/>
            </a:solidFill>
            <a:tailEnd type="arrow" w="med" len="med"/>
          </a:ln>
        </p:spPr>
      </p:cxnSp>
      <p:cxnSp>
        <p:nvCxn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874BD49-0BF7-4363-9AAD-A472644A19AC}"/>
              </a:ext>
            </a:extLst>
          </p:cNvPr>
          <p:cNvCxnSpPr>
            <a:stCxn xmlns:a="http://schemas.openxmlformats.org/drawingml/2006/main" id="143" idx="2"/>
            <a:endCxn xmlns:a="http://schemas.openxmlformats.org/drawingml/2006/main" id="145" idx="0"/>
          </p:cNvCxnSpPr>
          <p:nvPr/>
        </p:nvCxnSpPr>
        <p:spPr>
          <a:xfrm xmlns:a="http://schemas.openxmlformats.org/drawingml/2006/main">
            <a:off x="18726912" y="2715768"/>
            <a:ext cx="0" cy="219456"/>
          </a:xfrm>
          <a:prstGeom xmlns:a="http://schemas.openxmlformats.org/drawingml/2006/main" prst="straightConnector1">
            <a:avLst/>
          </a:prstGeom>
          <a:ln xmlns:a="http://schemas.openxmlformats.org/drawingml/2006/main" w="18288">
            <a:solidFill>
              <a:srgbClr val="81C7F1"/>
            </a:solidFill>
            <a:tailEnd type="arrow" w="med" len="med"/>
          </a:ln>
        </p:spPr>
      </p:cxnSp>
      <p:cxnSp>
        <p:nvCxn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FCAE613-7415-4490-ACBE-BB4A9BA0F4B0}"/>
              </a:ext>
            </a:extLst>
          </p:cNvPr>
          <p:cNvCxnSpPr>
            <a:stCxn xmlns:a="http://schemas.openxmlformats.org/drawingml/2006/main" id="4" idx="6"/>
            <a:endCxn xmlns:a="http://schemas.openxmlformats.org/drawingml/2006/main" id="126" idx="1"/>
          </p:cNvCxnSpPr>
          <p:nvPr/>
        </p:nvCxnSpPr>
        <p:spPr>
          <a:xfrm xmlns:a="http://schemas.openxmlformats.org/drawingml/2006/main">
            <a:off x="21360384" y="9052560"/>
            <a:ext cx="2743200" cy="6821424"/>
          </a:xfrm>
          <a:prstGeom xmlns:a="http://schemas.openxmlformats.org/drawingml/2006/main" prst="straightConnector1">
            <a:avLst/>
          </a:prstGeom>
          <a:ln xmlns:a="http://schemas.openxmlformats.org/drawingml/2006/main" w="18288">
            <a:solidFill>
              <a:srgbClr val="56758C"/>
            </a:solidFill>
          </a:ln>
        </p:spPr>
      </p:cxnSp>
      <p:cxnSp>
        <p:nvCxn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48F22FF-7287-4491-9538-83B611CA961F}"/>
              </a:ext>
            </a:extLst>
          </p:cNvPr>
          <p:cNvCxnSpPr>
            <a:stCxn xmlns:a="http://schemas.openxmlformats.org/drawingml/2006/main" id="4" idx="6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21360384" y="9052560"/>
            <a:ext cx="2743200" cy="4206240"/>
          </a:xfrm>
          <a:prstGeom xmlns:a="http://schemas.openxmlformats.org/drawingml/2006/main" prst="straightConnector1">
            <a:avLst/>
          </a:prstGeom>
          <a:ln xmlns:a="http://schemas.openxmlformats.org/drawingml/2006/main" w="18288">
            <a:solidFill>
              <a:srgbClr val="56758C"/>
            </a:solidFill>
          </a:ln>
        </p:spPr>
      </p:cxnSp>
      <p:cxnSp>
        <p:nvCxn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B4F6ACD-741C-4585-A695-C3C108F44966}"/>
              </a:ext>
            </a:extLst>
          </p:cNvPr>
          <p:cNvCxnSpPr>
            <a:stCxn xmlns:a="http://schemas.openxmlformats.org/drawingml/2006/main" id="4" idx="6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21360384" y="9052560"/>
            <a:ext cx="2743200" cy="1591056"/>
          </a:xfrm>
          <a:prstGeom xmlns:a="http://schemas.openxmlformats.org/drawingml/2006/main" prst="straightConnector1">
            <a:avLst/>
          </a:prstGeom>
          <a:ln xmlns:a="http://schemas.openxmlformats.org/drawingml/2006/main" w="18288">
            <a:solidFill>
              <a:srgbClr val="56758C"/>
            </a:solidFill>
          </a:ln>
        </p:spPr>
      </p:cxnSp>
      <p:cxnSp>
        <p:nvCxn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62B7EDA-19D3-420C-AC2F-76944A51EA57}"/>
              </a:ext>
            </a:extLst>
          </p:cNvPr>
          <p:cNvCxnSpPr>
            <a:stCxn xmlns:a="http://schemas.openxmlformats.org/drawingml/2006/main" id="4" idx="6"/>
            <a:endCxn xmlns:a="http://schemas.openxmlformats.org/drawingml/2006/main" id="93" idx="1"/>
          </p:cNvCxnSpPr>
          <p:nvPr/>
        </p:nvCxnSpPr>
        <p:spPr>
          <a:xfrm xmlns:a="http://schemas.openxmlformats.org/drawingml/2006/main" flipV="1">
            <a:off x="21360384" y="8028432"/>
            <a:ext cx="2743200" cy="1024128"/>
          </a:xfrm>
          <a:prstGeom xmlns:a="http://schemas.openxmlformats.org/drawingml/2006/main" prst="straightConnector1">
            <a:avLst/>
          </a:prstGeom>
          <a:ln xmlns:a="http://schemas.openxmlformats.org/drawingml/2006/main" w="18288">
            <a:solidFill>
              <a:srgbClr val="56758C"/>
            </a:solidFill>
          </a:ln>
        </p:spPr>
      </p:cxnSp>
      <p:cxnSp>
        <p:nvCxn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31D99F6-D529-44F8-9D42-B765013DEE2A}"/>
              </a:ext>
            </a:extLst>
          </p:cNvPr>
          <p:cNvCxnSpPr>
            <a:stCxn xmlns:a="http://schemas.openxmlformats.org/drawingml/2006/main" id="4" idx="6"/>
            <a:endCxn xmlns:a="http://schemas.openxmlformats.org/drawingml/2006/main" id="82" idx="1"/>
          </p:cNvCxnSpPr>
          <p:nvPr/>
        </p:nvCxnSpPr>
        <p:spPr>
          <a:xfrm xmlns:a="http://schemas.openxmlformats.org/drawingml/2006/main" flipV="1">
            <a:off x="21360384" y="5413248"/>
            <a:ext cx="2743200" cy="3639312"/>
          </a:xfrm>
          <a:prstGeom xmlns:a="http://schemas.openxmlformats.org/drawingml/2006/main" prst="straightConnector1">
            <a:avLst/>
          </a:prstGeom>
          <a:ln xmlns:a="http://schemas.openxmlformats.org/drawingml/2006/main" w="18288">
            <a:solidFill>
              <a:srgbClr val="56758C"/>
            </a:solidFill>
          </a:ln>
        </p:spPr>
      </p:cxnSp>
      <p:cxnSp>
        <p:nvCxn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23D716B-6660-4B9B-B07D-09D1FCA2A770}"/>
              </a:ext>
            </a:extLst>
          </p:cNvPr>
          <p:cNvCxnSpPr>
            <a:stCxn xmlns:a="http://schemas.openxmlformats.org/drawingml/2006/main" id="4" idx="6"/>
            <a:endCxn xmlns:a="http://schemas.openxmlformats.org/drawingml/2006/main" id="71" idx="1"/>
          </p:cNvCxnSpPr>
          <p:nvPr/>
        </p:nvCxnSpPr>
        <p:spPr>
          <a:xfrm xmlns:a="http://schemas.openxmlformats.org/drawingml/2006/main" flipV="1">
            <a:off x="21360384" y="2798064"/>
            <a:ext cx="2743200" cy="6254496"/>
          </a:xfrm>
          <a:prstGeom xmlns:a="http://schemas.openxmlformats.org/drawingml/2006/main" prst="straightConnector1">
            <a:avLst/>
          </a:prstGeom>
          <a:ln xmlns:a="http://schemas.openxmlformats.org/drawingml/2006/main" w="18288">
            <a:solidFill>
              <a:srgbClr val="56758C"/>
            </a:solidFill>
          </a:ln>
        </p:spPr>
      </p:cxnSp>
      <p:cxnSp>
        <p:nvCxn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2CA6F4C-A67D-4E82-B15B-9E6E7F911A5A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60" idx="3"/>
          </p:cNvCxnSpPr>
          <p:nvPr/>
        </p:nvCxnSpPr>
        <p:spPr>
          <a:xfrm xmlns:a="http://schemas.openxmlformats.org/drawingml/2006/main" flipH="1">
            <a:off x="13350240" y="9052560"/>
            <a:ext cx="2743200" cy="6821424"/>
          </a:xfrm>
          <a:prstGeom xmlns:a="http://schemas.openxmlformats.org/drawingml/2006/main" prst="straightConnector1">
            <a:avLst/>
          </a:prstGeom>
          <a:ln xmlns:a="http://schemas.openxmlformats.org/drawingml/2006/main" w="18288">
            <a:solidFill>
              <a:srgbClr val="56758C"/>
            </a:solidFill>
          </a:ln>
        </p:spPr>
      </p:cxnSp>
      <p:cxnSp>
        <p:nvCxn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9838B83-7827-4EDE-8739-5CCF497B2D41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49" idx="3"/>
          </p:cNvCxnSpPr>
          <p:nvPr/>
        </p:nvCxnSpPr>
        <p:spPr>
          <a:xfrm xmlns:a="http://schemas.openxmlformats.org/drawingml/2006/main" flipH="1">
            <a:off x="13350240" y="9052560"/>
            <a:ext cx="2743200" cy="4206240"/>
          </a:xfrm>
          <a:prstGeom xmlns:a="http://schemas.openxmlformats.org/drawingml/2006/main" prst="straightConnector1">
            <a:avLst/>
          </a:prstGeom>
          <a:ln xmlns:a="http://schemas.openxmlformats.org/drawingml/2006/main" w="18288">
            <a:solidFill>
              <a:srgbClr val="56758C"/>
            </a:solidFill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87F89C-98DB-416E-BC40-922052C2ACA0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38" idx="3"/>
          </p:cNvCxnSpPr>
          <p:nvPr/>
        </p:nvCxnSpPr>
        <p:spPr>
          <a:xfrm xmlns:a="http://schemas.openxmlformats.org/drawingml/2006/main" flipH="1">
            <a:off x="13350240" y="9052560"/>
            <a:ext cx="2743200" cy="1591056"/>
          </a:xfrm>
          <a:prstGeom xmlns:a="http://schemas.openxmlformats.org/drawingml/2006/main" prst="straightConnector1">
            <a:avLst/>
          </a:prstGeom>
          <a:ln xmlns:a="http://schemas.openxmlformats.org/drawingml/2006/main" w="18288">
            <a:solidFill>
              <a:srgbClr val="56758C"/>
            </a:solidFill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F2E8FD-E703-4C60-9795-5D36DF11E497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27" idx="3"/>
          </p:cNvCxnSpPr>
          <p:nvPr/>
        </p:nvCxnSpPr>
        <p:spPr>
          <a:xfrm xmlns:a="http://schemas.openxmlformats.org/drawingml/2006/main" flipH="1" flipV="1">
            <a:off x="13350240" y="8028432"/>
            <a:ext cx="2743200" cy="1024128"/>
          </a:xfrm>
          <a:prstGeom xmlns:a="http://schemas.openxmlformats.org/drawingml/2006/main" prst="straightConnector1">
            <a:avLst/>
          </a:prstGeom>
          <a:ln xmlns:a="http://schemas.openxmlformats.org/drawingml/2006/main" w="18288">
            <a:solidFill>
              <a:srgbClr val="56758C"/>
            </a:solidFill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00611B-9271-454D-9EA8-15667312AE61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 flipV="1">
            <a:off x="13350240" y="5413248"/>
            <a:ext cx="2743200" cy="3639312"/>
          </a:xfrm>
          <a:prstGeom xmlns:a="http://schemas.openxmlformats.org/drawingml/2006/main" prst="straightConnector1">
            <a:avLst/>
          </a:prstGeom>
          <a:ln xmlns:a="http://schemas.openxmlformats.org/drawingml/2006/main" w="18288">
            <a:solidFill>
              <a:srgbClr val="56758C"/>
            </a:solidFill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06BFA-B63E-40A6-90B0-65180224224C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13350240" y="2798064"/>
            <a:ext cx="2743200" cy="6254496"/>
          </a:xfrm>
          <a:prstGeom xmlns:a="http://schemas.openxmlformats.org/drawingml/2006/main" prst="straightConnector1">
            <a:avLst/>
          </a:prstGeom>
          <a:ln xmlns:a="http://schemas.openxmlformats.org/drawingml/2006/main" w="18288">
            <a:solidFill>
              <a:srgbClr val="56758C"/>
            </a:solidFill>
          </a:ln>
        </p:spPr>
      </p:cxn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68EDF1CC-D769-4B77-AEB9-6456DD92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"/>
            <a:ext cx="868680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896" b="1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4896" b="1">
                <a:solidFill>
                  <a:srgbClr val="F4F7FA"/>
                </a:solidFill>
              </a:defRPr>
            </a:pPr>
            <a:r>
              <a:rPr sz="4896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PSYZ0R_BOT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71AA3E-30C8-4F8E-A4DC-C72E0FD6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1208"/>
            <a:ext cx="178308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24" b="0">
                <a:solidFill>
                  <a:srgbClr val="81C7F1"/>
                </a:solidFill>
              </a:defRPr>
            </a:defPPr>
          </a:lstStyle>
          <a:p xmlns:a="http://schemas.openxmlformats.org/drawingml/2006/main">
            <a:pPr algn="l">
              <a:defRPr sz="3024" b="0">
                <a:solidFill>
                  <a:srgbClr val="81C7F1"/>
                </a:solidFill>
              </a:defRPr>
            </a:pPr>
            <a:r>
              <a:rPr sz="3024" b="0">
                <a:solidFill>
                  <a:srgbClr val="81C7F1"/>
                </a:solidFill>
                <a:latin typeface="Arial"/>
                <a:ea typeface="Arial"/>
                <a:cs typeface="Arial"/>
              </a:rPr>
              <a:t>Карта логики тренировочного соперника Quake Live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BA62B-C59D-4B27-A99F-CCE29D80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840" y="630936"/>
            <a:ext cx="1060704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2016" b="0">
                <a:solidFill>
                  <a:srgbClr val="98ABBA"/>
                </a:solidFill>
              </a:defRPr>
            </a:defPPr>
          </a:lstStyle>
          <a:p xmlns:a="http://schemas.openxmlformats.org/drawingml/2006/main">
            <a:pPr algn="r">
              <a:defRPr sz="2016" b="0">
                <a:solidFill>
                  <a:srgbClr val="98ABBA"/>
                </a:solidFill>
              </a:defRPr>
            </a:pPr>
            <a:r>
              <a:rPr sz="2016" b="0">
                <a:solidFill>
                  <a:srgbClr val="98ABBA"/>
                </a:solidFill>
                <a:latin typeface="Arial"/>
                <a:ea typeface="Arial"/>
                <a:cs typeface="Arial"/>
              </a:rPr>
              <a:t>12 ветвей / 153 пункта в реестре / 10.10.2026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276A8D-69F7-4520-95AB-C36E7941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0" y="7680960"/>
            <a:ext cx="5266944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81C7F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56792-1EDF-49EA-A4C7-9288EF2D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0200"/>
            <a:ext cx="12710160" cy="2395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56758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B62CA6-2EA7-4133-8E1A-D72BA62F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19072"/>
            <a:ext cx="12307824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48" b="1">
                <a:solidFill>
                  <a:srgbClr val="81C7F1"/>
                </a:solidFill>
              </a:defRPr>
            </a:defPPr>
          </a:lstStyle>
          <a:p xmlns:a="http://schemas.openxmlformats.org/drawingml/2006/main">
            <a:pPr algn="l">
              <a:defRPr sz="2448" b="1">
                <a:solidFill>
                  <a:srgbClr val="81C7F1"/>
                </a:solidFill>
              </a:defRPr>
            </a:pPr>
            <a:r>
              <a:rPr sz="2448" b="1">
                <a:solidFill>
                  <a:srgbClr val="81C7F1"/>
                </a:solidFill>
                <a:latin typeface="Arial"/>
                <a:ea typeface="Arial"/>
                <a:cs typeface="Arial"/>
              </a:rPr>
              <a:t>A  Обучение и разработка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0A5EE-C820-485D-87EA-B8849AF8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167128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100 демок PsyRoZa + 20 nekitz0r; затем 100–200 на карту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738FF-DDF2-40C4-8FA5-47E53D85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382926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Сольные пробежки + боевые демки; маршруты, позиции, выбор пушек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9467E3-7B5A-420E-8292-CA51B907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598725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Разметка чатом #bot; стоп 5–10 с = кандидат на нычку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D5A73D-4D24-4A9B-8979-C9D595BE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814523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Время, карта, координаты, скорость, взгляд, стек, оружие, исход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C80394-36DB-4BEE-A5ED-5EB9AB4F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030322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Raw mouse / WASD проверить; восстановленный ввод помечать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56DCFB-6E7A-41E3-9BCB-B6D8E826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246120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Q3 / QL аналоги: распаковать, изучить; C++17 / MSVC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822B69-25F6-477E-9733-4BE326E9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461918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Один маршрут и прыжок сначала; затем расширять набор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5414DF-6EE4-4BA4-9EC8-A0D32B79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677717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Локально; оригиналы целы; сервер только отдельной командой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0E3AAF-6E53-4972-94D8-C7945EA0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15384"/>
            <a:ext cx="12710160" cy="2395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56758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7CB7A7-BEF2-456F-8225-A60C95B2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334256"/>
            <a:ext cx="12307824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48" b="1">
                <a:solidFill>
                  <a:srgbClr val="81C7F1"/>
                </a:solidFill>
              </a:defRPr>
            </a:defPPr>
          </a:lstStyle>
          <a:p xmlns:a="http://schemas.openxmlformats.org/drawingml/2006/main">
            <a:pPr algn="l">
              <a:defRPr sz="2448" b="1">
                <a:solidFill>
                  <a:srgbClr val="81C7F1"/>
                </a:solidFill>
              </a:defRPr>
            </a:pPr>
            <a:r>
              <a:rPr sz="2448" b="1">
                <a:solidFill>
                  <a:srgbClr val="81C7F1"/>
                </a:solidFill>
                <a:latin typeface="Arial"/>
                <a:ea typeface="Arial"/>
                <a:cs typeface="Arial"/>
              </a:rPr>
              <a:t>B  Мувмент и триксы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6FC069-9B68-4A95-9829-662EAEB2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782312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Бег / тихий шаг / остановка / прыжки по задаче, не постоянно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922391-D1ED-4E58-89E1-76F44C4E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998110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Prestrafe, circle jump, single-beat и half-beat распрыжка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254F24-B793-452E-A58F-1A2A1988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213909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Rocket jump; plasma jump отдельно от plasma climb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517D64-8654-4CD7-B862-791989EC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429707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Учить по 3–5 текстовым гайдам + своим демкам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3FADB0-4865-4158-97BE-14DFEFAF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645506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Физика QL: VQL и PQL раздельно; без скрытых бустов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9169C2-C540-4E73-A7B9-0D9B1289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861304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RJ чище: успех, время, приземление, реальные потери HP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F4A336-4993-4E0B-958D-88765172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077102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200/200: допустима погоня с RJ; под давлением меньше шума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596E6E-1EAE-4ECE-AE2C-C7502399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292901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Уровень скилла ограничивает приёмы и качество исполнения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1E7170-1DCE-4EAA-AB3C-68AB817F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830568"/>
            <a:ext cx="12710160" cy="2395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56758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BE4009-1B0D-43CE-AA11-B0850104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949440"/>
            <a:ext cx="12307824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48" b="1">
                <a:solidFill>
                  <a:srgbClr val="81C7F1"/>
                </a:solidFill>
              </a:defRPr>
            </a:defPPr>
          </a:lstStyle>
          <a:p xmlns:a="http://schemas.openxmlformats.org/drawingml/2006/main">
            <a:pPr algn="l">
              <a:defRPr sz="2448" b="1">
                <a:solidFill>
                  <a:srgbClr val="81C7F1"/>
                </a:solidFill>
              </a:defRPr>
            </a:pPr>
            <a:r>
              <a:rPr sz="2448" b="1">
                <a:solidFill>
                  <a:srgbClr val="81C7F1"/>
                </a:solidFill>
                <a:latin typeface="Arial"/>
                <a:ea typeface="Arial"/>
                <a:cs typeface="Arial"/>
              </a:rPr>
              <a:t>C  Стрельба и точность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FED1CD-BFDF-41E9-A060-E592175D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7397496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Стрейф + мышь + додж; контрстрейф относительно цели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6E45F4-455F-4CAF-B149-AA1D7C27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7613294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Преднаведение; полмодельки из угла, rail при видимости, отход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488754-1715-4C72-8B7D-2395ADC5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7829093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Rocket / grenade prefire допустим по прогнозу прохода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66F976-5366-4AD0-9E7D-31E9EDAA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8044891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Rail / plasma / rocket / shaft: считать по демкам доминаторов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079424-ED7C-4382-ADB5-90DFE816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8260690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Выстрелы, попадания, медиана, диапазон; splash отдельно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FE9ECE-AF77-4736-A1B6-38562B1D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8476488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Все пушки зависят от скилла; проценты только с согласованием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96A21B-200C-4CBA-B76D-E713D2B7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8692286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Контроль: точность выше; давление: ниже; контррежим уточнить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1F3E37-EBAE-4F8B-B25D-713FE961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8908085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Через реакцию, наведение, упреждение; без гарантии попаданий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F9001A-2CD9-4A02-A542-A169A4FF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9445752"/>
            <a:ext cx="12710160" cy="2395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56758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767B0A-B789-4B8B-AFDD-1E3B063E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9564624"/>
            <a:ext cx="12307824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48" b="1">
                <a:solidFill>
                  <a:srgbClr val="81C7F1"/>
                </a:solidFill>
              </a:defRPr>
            </a:defPPr>
          </a:lstStyle>
          <a:p xmlns:a="http://schemas.openxmlformats.org/drawingml/2006/main">
            <a:pPr algn="l">
              <a:defRPr sz="2448" b="1">
                <a:solidFill>
                  <a:srgbClr val="81C7F1"/>
                </a:solidFill>
              </a:defRPr>
            </a:pPr>
            <a:r>
              <a:rPr sz="2448" b="1">
                <a:solidFill>
                  <a:srgbClr val="81C7F1"/>
                </a:solidFill>
                <a:latin typeface="Arial"/>
                <a:ea typeface="Arial"/>
                <a:cs typeface="Arial"/>
              </a:rPr>
              <a:t>D  Оружие и боевые связки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513A4B-A20F-4B33-9B88-03A61DB2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0012680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Дистанция, геометрия, скорость, патроны, стек, риск, switch time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5235DE-368C-40B9-99DC-61C72063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0228478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Подбирать выпавшие свои / чужие пушки; не отдавать сопернику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BB729A-C158-496D-A555-9CB9F71E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0444277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LG вблизи: RL / shotgun для добивания красной цели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BCB7DE-0464-4AB4-91E3-E5EF4ECF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0660075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Дальняя rocket + подброс: rail по доступной траектории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BE6A7C-9A03-4B64-87DB-F339849F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0875874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После 70–110 урона: оценить сближение, не лететь автоматически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66334BC-1D81-464C-8107-7AC89393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1091672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Штраф: rail либо 1–2 ракеты и отход из укрытия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FE7132D-731B-4FAA-AD88-82AEF23F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1307470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Rocket / grenade zoning проходов, предметов и преследователя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40C3AFE-FCDE-4D42-B7A3-8CE83632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1523269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Перчатка по цели мести; отмена опасной попытки, без WH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DFE0F69-5170-4BC6-9C10-187F5357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060936"/>
            <a:ext cx="12710160" cy="2395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56758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9C6DC61-9F58-4FC2-A240-2B6D543E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2179808"/>
            <a:ext cx="12307824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48" b="1">
                <a:solidFill>
                  <a:srgbClr val="81C7F1"/>
                </a:solidFill>
              </a:defRPr>
            </a:defPPr>
          </a:lstStyle>
          <a:p xmlns:a="http://schemas.openxmlformats.org/drawingml/2006/main">
            <a:pPr algn="l">
              <a:defRPr sz="2448" b="1">
                <a:solidFill>
                  <a:srgbClr val="81C7F1"/>
                </a:solidFill>
              </a:defRPr>
            </a:pPr>
            <a:r>
              <a:rPr sz="2448" b="1">
                <a:solidFill>
                  <a:srgbClr val="81C7F1"/>
                </a:solidFill>
                <a:latin typeface="Arial"/>
                <a:ea typeface="Arial"/>
                <a:cs typeface="Arial"/>
              </a:rPr>
              <a:t>E  Макроигра и предметы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047A6FB-06B2-4668-BE0A-E3785D43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2627864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Старт аккуратный; Мега важнее армора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D448B5F-5C4E-456F-B648-0D271A85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2843662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Точные таймеры всех предметов разрешены как в спектаторах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13BFB0C-2C50-4255-8660-8E17F9F9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3059461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Обычный цикл: MH / RA / YA / GA / шарды / HP / ammo / пушки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FF499F4-B03E-4287-8A19-AA194A75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3275259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Враг на контроле: остатки, дистанция, штраф MH / RA и выход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9BA6D99-9DF8-45A2-ABCA-CAE00FB4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3491058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Равный 10:10: LG-давление и прибытие ровно к таймингу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F995926-C615-4F51-8069-FC8F4D25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3706856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Сильный соперник: строже считать и собирать жёлтые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54326A1-F798-4D85-BA71-C0BE9810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3922654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Тотальный контроль: 1–2 матча из 10, чаще против сильного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56C90F8-8103-4298-9321-36A40F88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4138453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При свободной игре оставлять ресурсы; не выравнивать счёт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24EC38F-C698-4EBA-9B3D-F4747BE3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76120"/>
            <a:ext cx="12710160" cy="2395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56758C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A232793-E806-420D-9D94-1A6C8119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4794992"/>
            <a:ext cx="12307824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48" b="1">
                <a:solidFill>
                  <a:srgbClr val="81C7F1"/>
                </a:solidFill>
              </a:defRPr>
            </a:defPPr>
          </a:lstStyle>
          <a:p xmlns:a="http://schemas.openxmlformats.org/drawingml/2006/main">
            <a:pPr algn="l">
              <a:defRPr sz="2448" b="1">
                <a:solidFill>
                  <a:srgbClr val="81C7F1"/>
                </a:solidFill>
              </a:defRPr>
            </a:pPr>
            <a:r>
              <a:rPr sz="2448" b="1">
                <a:solidFill>
                  <a:srgbClr val="81C7F1"/>
                </a:solidFill>
                <a:latin typeface="Arial"/>
                <a:ea typeface="Arial"/>
                <a:cs typeface="Arial"/>
              </a:rPr>
              <a:t>F  Циклы игрока и респауны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B8DE8F3-1A98-4762-BB1E-A7116416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5243048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Повтор зон / времени / предметов: история и уверенность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F67F2E3-F12F-464B-BE29-77DCDA6D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5458846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Несколько повторов: перехват, prefire, тайминг power-up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E0C392C-5CEA-4C90-B83B-ADB36650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5674645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Смена маршрута снижает уверенность; без скрытых координат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685F80F-D751-42D7-B7EB-95E7C626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5890443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Spawntrap: позиции из демок, заранее RL / PG спам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2C6E39C-B7F5-41D2-9282-9852C728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6106242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Быстрый респ попадает под спам; задержка игрока неизвестна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2F30BA8-5A92-440D-9FB2-D006A526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6322040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Серия до 2–3 респов; выше шанс после захвата контроля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27FD418-2E6D-4BFE-BC08-FBCC77AD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6537838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Lvl 1: нет; lvl 3: 1–2 эпизода за матч, не обязательная квота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B87CF9C-0DAE-4F2F-8AF8-5354B8B7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6753637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Точный будущий респ — отдельное тренировочное исключение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8B18E02-DFD2-45ED-B51C-58EF1408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3584" y="1600200"/>
            <a:ext cx="12710160" cy="2395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56758C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7831CAB-6D73-4EC5-8377-B03E47FA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719072"/>
            <a:ext cx="12307824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48" b="1">
                <a:solidFill>
                  <a:srgbClr val="81C7F1"/>
                </a:solidFill>
              </a:defRPr>
            </a:defPPr>
          </a:lstStyle>
          <a:p xmlns:a="http://schemas.openxmlformats.org/drawingml/2006/main">
            <a:pPr algn="l">
              <a:defRPr sz="2448" b="1">
                <a:solidFill>
                  <a:srgbClr val="81C7F1"/>
                </a:solidFill>
              </a:defRPr>
            </a:pPr>
            <a:r>
              <a:rPr sz="2448" b="1">
                <a:solidFill>
                  <a:srgbClr val="81C7F1"/>
                </a:solidFill>
                <a:latin typeface="Arial"/>
                <a:ea typeface="Arial"/>
                <a:cs typeface="Arial"/>
              </a:rPr>
              <a:t>G  Восприятие и честная информация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2DAF350-3A81-4AEA-8ACF-BC70DFA9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2167128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Зрение, звук, память; стек противника — оценка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FED29C9-90A1-49DF-8FEF-B893C0F3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2382926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После потери цели прогноз стареет; возможна ошибка направления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C6453F9-2A1C-455E-BAC8-530F1E33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2598725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Взгляд по задаче, а не постоянно на соперника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7E99172-F305-4813-A251-93F3A674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2814523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Игрок может тихо обойти, выйти в спину, ждать за углом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A665382-C412-4269-9E5B-B082DD44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3030322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Реакция после доступного сигнала, с задержкой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E520C63-3A17-4E99-A2C1-D2208A44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3246120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Rail только LOS; projectile prefire по вероятному проходу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A75ACCF-DE2D-484D-A2F4-01A18820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3461918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Разрешения отдельно: все таймеры / будущий респ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4295AAC-AE0C-42FB-976F-D38CE807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3677717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Лог причины реакции; no-WH проверять игровыми сценариями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933B2E2-EAB1-4BE2-96E2-99AA30A5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3584" y="4215384"/>
            <a:ext cx="12710160" cy="2395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56758C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AA2FA02-7AF4-492F-8C0F-D8F12AA7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4334256"/>
            <a:ext cx="12307824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48" b="1">
                <a:solidFill>
                  <a:srgbClr val="81C7F1"/>
                </a:solidFill>
              </a:defRPr>
            </a:defPPr>
          </a:lstStyle>
          <a:p xmlns:a="http://schemas.openxmlformats.org/drawingml/2006/main">
            <a:pPr algn="l">
              <a:defRPr sz="2448" b="1">
                <a:solidFill>
                  <a:srgbClr val="81C7F1"/>
                </a:solidFill>
              </a:defRPr>
            </a:pPr>
            <a:r>
              <a:rPr sz="2448" b="1">
                <a:solidFill>
                  <a:srgbClr val="81C7F1"/>
                </a:solidFill>
                <a:latin typeface="Arial"/>
                <a:ea typeface="Arial"/>
                <a:cs typeface="Arial"/>
              </a:rPr>
              <a:t>H  Три стиля и осторожный режим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67EB8DD-9159-4540-A760-2447B12D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4782312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Агрессивный: 80–90 нанесённого урона + выгода; push, MH / RA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7F22A78-B33F-44C3-8E6B-57C3E008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4998110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Средний: 70–100 полученного; отход, восстановление на YA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3F74486-7F19-480B-9B35-C67A09ED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5213909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Пассивный: один rail по себе; выход, 1–2 YA и аптечки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05422A6-38D9-4E92-9169-F66978C4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5429707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Копирует агрессию / осторожность по накопленным наблюдениям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ACAB388-8433-4D3D-B1AC-AE3F09A7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5645506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«Обоссанец»: 0:3 / 0:4 / 0:5 + проигранные столкновения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C283EAA-9788-4FB1-908A-3597F698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5861304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Тихо уходит, YA / GA / HP / ammo; меньше лишних RJ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4978BF2-DBC5-4D46-B19D-A7BD8D6D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6077102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MH / RA штрафует rail и уходит; безопасный подбор допустим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7D7B8FF-2F40-4845-A21F-2AB4E261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6292901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Выход после устойчивого восстановления; не после одного rail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02E28C4-99AD-41A1-BDE6-C737DA8E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3584" y="6830568"/>
            <a:ext cx="12710160" cy="2395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56758C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B5E016E-BFC6-4F52-A383-565FF473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6949440"/>
            <a:ext cx="12307824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48" b="1">
                <a:solidFill>
                  <a:srgbClr val="81C7F1"/>
                </a:solidFill>
              </a:defRPr>
            </a:defPPr>
          </a:lstStyle>
          <a:p xmlns:a="http://schemas.openxmlformats.org/drawingml/2006/main">
            <a:pPr algn="l">
              <a:defRPr sz="2448" b="1">
                <a:solidFill>
                  <a:srgbClr val="81C7F1"/>
                </a:solidFill>
              </a:defRPr>
            </a:pPr>
            <a:r>
              <a:rPr sz="2448" b="1">
                <a:solidFill>
                  <a:srgbClr val="81C7F1"/>
                </a:solidFill>
                <a:latin typeface="Arial"/>
                <a:ea typeface="Arial"/>
                <a:cs typeface="Arial"/>
              </a:rPr>
              <a:t>I  Подстройка и «игра до фрага»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FFED314-CF9B-4B21-9B3D-193031E9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7397496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Сила: размен, контроль, бои при равном стеке, маршруты, отходы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392F932-045B-41CF-B024-5FA62C50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7613294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Слабый: цикличность, знакомые позиции, пропуски пушек / итемов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5988941-C615-4A3D-969E-1628718E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7829093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Больше палится, рискует, RJ; коротко давит и отпускает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04EF92B-4D80-4FF1-A76B-75754216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8044891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Сильный: строже контроль, контратака; после перехвата тише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F392358-15E2-40E5-9CC6-89595543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8260690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Наглый push: собрать ≥100/100 + LG / RL / rail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3164843-2B3A-426A-8DF6-EB42C22C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8476488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70–110 урона: выгодно сблизиться, RL / SG finish; иначе выйти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0627C0E-7B50-416C-A0AE-09393C05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8692286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Равный: дистанция, размен и восстановление, до ~5 мин без фрага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B792E7D-3B86-44CF-AE08-F75B5927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8908085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Реальные ошибки и засады решают исход; без запрета убийства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2DEB824-E1C5-47E7-ACB0-E766EBDD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3584" y="9445752"/>
            <a:ext cx="12710160" cy="2395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56758C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353F7F0-F655-405C-B805-BA73B324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9564624"/>
            <a:ext cx="12307824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48" b="1">
                <a:solidFill>
                  <a:srgbClr val="81C7F1"/>
                </a:solidFill>
              </a:defRPr>
            </a:defPPr>
          </a:lstStyle>
          <a:p xmlns:a="http://schemas.openxmlformats.org/drawingml/2006/main">
            <a:pPr algn="l">
              <a:defRPr sz="2448" b="1">
                <a:solidFill>
                  <a:srgbClr val="81C7F1"/>
                </a:solidFill>
              </a:defRPr>
            </a:pPr>
            <a:r>
              <a:rPr sz="2448" b="1">
                <a:solidFill>
                  <a:srgbClr val="81C7F1"/>
                </a:solidFill>
                <a:latin typeface="Arial"/>
                <a:ea typeface="Arial"/>
                <a:cs typeface="Arial"/>
              </a:rPr>
              <a:t>J  Характер, расслабление и forfeit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6B48CB1-CDC3-4E63-B2C0-23F5EECB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0012680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При 20:0 может расслабиться, открыть шансы на 5–10 фрагов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756F0E3-9F2C-41F4-BDF3-673666D5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0228478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Тильт с потерей лидерства: 1–2 случая за 10–15 игр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3A2EDFA-B1A8-452B-9270-E0148EB5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0444277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При 0:5 / 0:6 / 0:10 возможна поведенческая сдача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6322B33-47F1-44D4-9946-E636942D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0660075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С респа 100 HP, первая пушка, rush, без нормального сбора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B32E720-5CFB-41BB-89C1-FB575B79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0875874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Случайные 1–2 фрага не означают полноценный comeback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B3F5B9F-9907-4D37-8927-F170E644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1091672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Выход при ≥30 фрагах врага: дефицит &gt;15–20 ≈50%; 5:30 ≈90%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9C8FF19-CAE3-4605-9C19-989D2027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1307470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15:30 ещё может остаться; таблицу выхода согласовать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50B2DB6-53BC-4107-A243-F5DD1A04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1523269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Один бросок вероятности; не каждый тик; не возвращать autofill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4D783EB-2F73-4945-A32A-8A5DD0CB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3584" y="12060936"/>
            <a:ext cx="12710160" cy="2395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56758C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71F35A9-0D9F-4CC2-AAC4-A4A79622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2179808"/>
            <a:ext cx="12307824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48" b="1">
                <a:solidFill>
                  <a:srgbClr val="81C7F1"/>
                </a:solidFill>
              </a:defRPr>
            </a:defPPr>
          </a:lstStyle>
          <a:p xmlns:a="http://schemas.openxmlformats.org/drawingml/2006/main">
            <a:pPr algn="l">
              <a:defRPr sz="2448" b="1">
                <a:solidFill>
                  <a:srgbClr val="81C7F1"/>
                </a:solidFill>
              </a:defRPr>
            </a:pPr>
            <a:r>
              <a:rPr sz="2448" b="1">
                <a:solidFill>
                  <a:srgbClr val="81C7F1"/>
                </a:solidFill>
                <a:latin typeface="Arial"/>
                <a:ea typeface="Arial"/>
                <a:cs typeface="Arial"/>
              </a:rPr>
              <a:t>K  Чат и ответные действия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F85288D-4B9C-4282-9931-26ADFDE4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2627864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GL / HF / GG / WP: вежливо; в конце дуэли: «GG! Реванш?»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563AC03-30E8-4265-BF2C-F2DA4DAC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2843662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На грубость отвечает; не отвечает себе / ботам; без циклов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B4A8319-92F4-4DD4-A40F-C8340698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3059461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Gauntlet: реальный damage, порог 50 (тест 25), месть 90 с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5DA6779-6781-4CE7-80FB-5AEAD260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3275259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Оценка HP ≤50 + близко + видно: обязательная попытка, не килл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488C022-9492-40D1-A52C-6D00547D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3491058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Реплика про пилу: 70%, ≥30 с; не от одного equip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E3B0A09-CC91-44BA-A98E-7DE3F40F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3706856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Трупы: первые 2 эпизода молчит, после 3-го реплика и ответ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8A79C46-1300-45C9-B0B3-041571C2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3922654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Один труп = эпизод; ответ ≤1 с безопасно; сброс в новом матче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E02EA64-F49B-4D67-A1C4-E16AB3B2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4138453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Чат ≥20 с; MH / RA / rail / rocket: 10%, не чаще 120 с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17F59A2-7369-4E5A-BC54-5F645D5F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3584" y="14676120"/>
            <a:ext cx="12710160" cy="2395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56758C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344A019-31B6-4220-9B57-C316BA3F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4794992"/>
            <a:ext cx="12307824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48" b="1">
                <a:solidFill>
                  <a:srgbClr val="81C7F1"/>
                </a:solidFill>
              </a:defRPr>
            </a:defPPr>
          </a:lstStyle>
          <a:p xmlns:a="http://schemas.openxmlformats.org/drawingml/2006/main">
            <a:pPr algn="l">
              <a:defRPr sz="2448" b="1">
                <a:solidFill>
                  <a:srgbClr val="81C7F1"/>
                </a:solidFill>
              </a:defRPr>
            </a:pPr>
            <a:r>
              <a:rPr sz="2448" b="1">
                <a:solidFill>
                  <a:srgbClr val="81C7F1"/>
                </a:solidFill>
                <a:latin typeface="Arial"/>
                <a:ea typeface="Arial"/>
                <a:cs typeface="Arial"/>
              </a:rPr>
              <a:t>L  Пять уровней сложности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3B2798F-CED6-4EB8-98B0-19D40C03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5243048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1 I Can Win: почти без strafe, простой RJ, без tricks / spawntrap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F6055C1-BEBC-44F6-B9F5-CD52B47A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5458846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2 Bring It On: базовый strafe с потерями, простые RJ / смены пушек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939651C-75DA-4813-BFB1-4164DF3D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5674645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3 Hurt Me Plenty: полупрофи, tricks / combo, 1–2 spawntrap-эпизода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3D35038-1B10-4CBB-87E0-77D8481A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5890443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4 Hardcore: чище движение, богаче решения, лучше прогноз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94E9004-CA25-4BA3-84A6-FF9344FF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6106242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5 Nightmare / Кошмар: максимум человеческого исполнения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5662639-AB20-4F9F-84C8-427D382D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6322040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Уровень меняет все aim / reaction / move / решения / контроль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D5539C9-4D18-45F0-B698-FD0B3420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6537838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Подстройка есть на каждом уровне, не открывает запретные умения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64C863F-BA37-444F-BA47-F631DAAA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6753637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Начать с 3; ±1 на следующую карту только при согласии на реванш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5885CDF-036A-4DA1-959B-6BA8184E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8001000"/>
            <a:ext cx="4535424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096" b="1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ctr">
              <a:defRPr sz="3096" b="1">
                <a:solidFill>
                  <a:srgbClr val="F4F7FA"/>
                </a:solidFill>
              </a:defRPr>
            </a:pPr>
            <a:r>
              <a:rPr sz="3096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PSYZ0R_BOT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5465FF2-95BB-45E5-BBAB-0B8019BD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6320" y="8613648"/>
            <a:ext cx="4901184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60" b="1">
                <a:solidFill>
                  <a:srgbClr val="81C7F1"/>
                </a:solidFill>
              </a:defRPr>
            </a:defPPr>
          </a:lstStyle>
          <a:p xmlns:a="http://schemas.openxmlformats.org/drawingml/2006/main">
            <a:pPr algn="ctr">
              <a:defRPr sz="2160" b="1">
                <a:solidFill>
                  <a:srgbClr val="81C7F1"/>
                </a:solidFill>
              </a:defRPr>
            </a:pPr>
            <a:r>
              <a:rPr sz="2160" b="1">
                <a:solidFill>
                  <a:srgbClr val="81C7F1"/>
                </a:solidFill>
                <a:latin typeface="Arial"/>
                <a:ea typeface="Arial"/>
                <a:cs typeface="Arial"/>
              </a:rPr>
              <a:t>Ровные и интересные дуэли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D765B65-A9BB-40C8-B54C-E3AF1EEA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6320" y="9034272"/>
            <a:ext cx="4901184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44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ctr">
              <a:defRPr sz="1944" b="0">
                <a:solidFill>
                  <a:srgbClr val="F4F7FA"/>
                </a:solidFill>
              </a:defRPr>
            </a:pPr>
            <a:r>
              <a:rPr sz="1944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Подстройка под стиль и силу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BE275A1-FADC-4368-9702-481F8595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6320" y="9418320"/>
            <a:ext cx="4901184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0">
                <a:solidFill>
                  <a:srgbClr val="C3CDD6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C3CDD6"/>
                </a:solidFill>
              </a:defRPr>
            </a:pPr>
            <a:r>
              <a:rPr sz="1800" b="0">
                <a:solidFill>
                  <a:srgbClr val="C3CDD6"/>
                </a:solidFill>
                <a:latin typeface="Arial"/>
                <a:ea typeface="Arial"/>
                <a:cs typeface="Arial"/>
              </a:rPr>
              <a:t>В пределах текущей сложности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9C77F582-E3F0-4DAF-8BE4-4C72E0A8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6320" y="9784080"/>
            <a:ext cx="4901184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8" b="0">
                <a:solidFill>
                  <a:srgbClr val="C3CDD6"/>
                </a:solidFill>
              </a:defRPr>
            </a:defPPr>
          </a:lstStyle>
          <a:p xmlns:a="http://schemas.openxmlformats.org/drawingml/2006/main">
            <a:pPr algn="ctr">
              <a:defRPr sz="1728" b="0">
                <a:solidFill>
                  <a:srgbClr val="C3CDD6"/>
                </a:solidFill>
              </a:defRPr>
            </a:pPr>
            <a:r>
              <a:rPr sz="1728" b="0">
                <a:solidFill>
                  <a:srgbClr val="C3CDD6"/>
                </a:solidFill>
                <a:latin typeface="Arial"/>
                <a:ea typeface="Arial"/>
                <a:cs typeface="Arial"/>
              </a:rPr>
              <a:t>Размены, контроль, ключевой фраг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10B5C07D-A8E8-4D78-9AA3-5C264EA5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6592" y="1627632"/>
            <a:ext cx="512064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376" b="1">
                <a:solidFill>
                  <a:srgbClr val="81C7F1"/>
                </a:solidFill>
              </a:defRPr>
            </a:defPPr>
          </a:lstStyle>
          <a:p xmlns:a="http://schemas.openxmlformats.org/drawingml/2006/main">
            <a:pPr algn="ctr">
              <a:defRPr sz="2376" b="1">
                <a:solidFill>
                  <a:srgbClr val="81C7F1"/>
                </a:solidFill>
              </a:defRPr>
            </a:pPr>
            <a:r>
              <a:rPr sz="2376" b="1">
                <a:solidFill>
                  <a:srgbClr val="81C7F1"/>
                </a:solidFill>
                <a:latin typeface="Arial"/>
                <a:ea typeface="Arial"/>
                <a:cs typeface="Arial"/>
              </a:rPr>
              <a:t>Цикл решения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0C10C33-7D35-4027-9DF1-E6629DCA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9472" y="2231136"/>
            <a:ext cx="4754880" cy="484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56758C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8CFCF4EE-F4E5-4925-801D-EB1497C5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2331720"/>
            <a:ext cx="4535424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44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ctr">
              <a:defRPr sz="1944" b="0">
                <a:solidFill>
                  <a:srgbClr val="F4F7FA"/>
                </a:solidFill>
              </a:defRPr>
            </a:pPr>
            <a:r>
              <a:rPr sz="1944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Наблюдения и память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2ADE9C1A-E3DA-475B-A58B-B9B99ED1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9472" y="2935224"/>
            <a:ext cx="4754880" cy="484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56758C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DC01945-9818-4BA9-8716-23D7A6E2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3035808"/>
            <a:ext cx="4535424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44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ctr">
              <a:defRPr sz="1944" b="0">
                <a:solidFill>
                  <a:srgbClr val="F4F7FA"/>
                </a:solidFill>
              </a:defRPr>
            </a:pPr>
            <a:r>
              <a:rPr sz="1944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Оценка игрока и стека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D24C52DD-AAF4-436D-A437-1FF5FC7B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9472" y="3639312"/>
            <a:ext cx="4754880" cy="484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56758C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B3E1F46E-3129-4E56-B75D-B0D5E4FC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3739896"/>
            <a:ext cx="4535424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44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ctr">
              <a:defRPr sz="1944" b="0">
                <a:solidFill>
                  <a:srgbClr val="F4F7FA"/>
                </a:solidFill>
              </a:defRPr>
            </a:pPr>
            <a:r>
              <a:rPr sz="1944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Профиль сложности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302A4B65-F708-41E5-9BE5-1A3AB80B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9472" y="4343400"/>
            <a:ext cx="4754880" cy="484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56758C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1C4B82D0-0CB1-4D0C-917B-C8B2E907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4443984"/>
            <a:ext cx="4535424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44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ctr">
              <a:defRPr sz="1944" b="0">
                <a:solidFill>
                  <a:srgbClr val="F4F7FA"/>
                </a:solidFill>
              </a:defRPr>
            </a:pPr>
            <a:r>
              <a:rPr sz="1944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Режим и тактическая цель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0E8E9C17-BF76-4539-9333-2F1EE049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9472" y="5047488"/>
            <a:ext cx="4754880" cy="484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56758C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30F3E0D9-CDB3-4AAE-B2DF-F207AB08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5148072"/>
            <a:ext cx="4535424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44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ctr">
              <a:defRPr sz="1944" b="0">
                <a:solidFill>
                  <a:srgbClr val="F4F7FA"/>
                </a:solidFill>
              </a:defRPr>
            </a:pPr>
            <a:r>
              <a:rPr sz="1944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Движение / оружие / огонь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C214B2B9-8B3E-4215-A96F-79AC6EEA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9472" y="5751576"/>
            <a:ext cx="4754880" cy="484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56758C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72F72B0-DC32-4E9E-8C37-962615DC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5852160"/>
            <a:ext cx="4535424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44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ctr">
              <a:defRPr sz="1944" b="0">
                <a:solidFill>
                  <a:srgbClr val="F4F7FA"/>
                </a:solidFill>
              </a:defRPr>
            </a:pPr>
            <a:r>
              <a:rPr sz="1944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Результат и новые наблюдения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21F7A32F-C9FB-45FE-817C-BDFA9E9E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8032" y="6547104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088" b="1">
                <a:solidFill>
                  <a:srgbClr val="81C7F1"/>
                </a:solidFill>
              </a:defRPr>
            </a:defPPr>
          </a:lstStyle>
          <a:p xmlns:a="http://schemas.openxmlformats.org/drawingml/2006/main">
            <a:pPr algn="ctr">
              <a:defRPr sz="2088" b="1">
                <a:solidFill>
                  <a:srgbClr val="81C7F1"/>
                </a:solidFill>
              </a:defRPr>
            </a:pPr>
            <a:r>
              <a:rPr sz="2088" b="1">
                <a:solidFill>
                  <a:srgbClr val="81C7F1"/>
                </a:solidFill>
                <a:latin typeface="Arial"/>
                <a:ea typeface="Arial"/>
                <a:cs typeface="Arial"/>
              </a:rPr>
              <a:t>Как подстраивается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879BC1D1-1C20-4DF6-8124-F446D998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6592" y="6949440"/>
            <a:ext cx="51206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0">
                <a:solidFill>
                  <a:srgbClr val="C3CDD6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C3CDD6"/>
                </a:solidFill>
              </a:defRPr>
            </a:pPr>
            <a:r>
              <a:rPr sz="1800" b="0">
                <a:solidFill>
                  <a:srgbClr val="C3CDD6"/>
                </a:solidFill>
                <a:latin typeface="Arial"/>
                <a:ea typeface="Arial"/>
                <a:cs typeface="Arial"/>
              </a:rPr>
              <a:t>Слабому: читаемые ошибки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EC6AA08F-2A68-4903-BC2A-C5AFFD44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6592" y="7306056"/>
            <a:ext cx="51206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0">
                <a:solidFill>
                  <a:srgbClr val="C3CDD6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C3CDD6"/>
                </a:solidFill>
              </a:defRPr>
            </a:pPr>
            <a:r>
              <a:rPr sz="1800" b="0">
                <a:solidFill>
                  <a:srgbClr val="C3CDD6"/>
                </a:solidFill>
                <a:latin typeface="Arial"/>
                <a:ea typeface="Arial"/>
                <a:cs typeface="Arial"/>
              </a:rPr>
              <a:t>Сильному: лучшие решения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6814F8B-DA08-4C7A-8817-B19AD631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6592" y="10881360"/>
            <a:ext cx="512064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32" b="1">
                <a:solidFill>
                  <a:srgbClr val="81C7F1"/>
                </a:solidFill>
              </a:defRPr>
            </a:defPPr>
          </a:lstStyle>
          <a:p xmlns:a="http://schemas.openxmlformats.org/drawingml/2006/main">
            <a:pPr algn="l">
              <a:defRPr sz="2232" b="1">
                <a:solidFill>
                  <a:srgbClr val="81C7F1"/>
                </a:solidFill>
              </a:defRPr>
            </a:pPr>
            <a:r>
              <a:rPr sz="2232" b="1">
                <a:solidFill>
                  <a:srgbClr val="81C7F1"/>
                </a:solidFill>
                <a:latin typeface="Arial"/>
                <a:ea typeface="Arial"/>
                <a:cs typeface="Arial"/>
              </a:rPr>
              <a:t>Стартовый набор демок</a:t>
            </a:r>
          </a:p>
        </p:txBody>
      </p:sp>
      <p:graphicFrame>
        <p:nvGraphicFramePr>
          <p:cNvPr id="164" name="Chart">
            <a:extLst xmlns:a="http://schemas.openxmlformats.org/drawingml/2006/main">
              <a:ext uri="{FF2B5EF4-FFF2-40B4-BE49-F238E27FC236}">
                <a16:creationId xmlns:a16="http://schemas.microsoft.com/office/drawing/2014/main" id="{290DC0BA-8163-46D0-999D-47A3C861E0D1}"/>
              </a:ext>
            </a:extLst>
          </p:cNvPr>
          <p:cNvGraphicFramePr/>
          <p:nvPr/>
        </p:nvGraphicFramePr>
        <p:xfrm>
          <a:off xmlns:a="http://schemas.openxmlformats.org/drawingml/2006/main" x="16093440" y="11301984"/>
          <a:ext xmlns:a="http://schemas.openxmlformats.org/drawingml/2006/main" cx="5266944" cy="219456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99c1afa19ce4f73"/>
          </a:graphicData>
        </a:graphic>
      </p:graphicFrame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9030EE76-1EC4-4E70-ADBF-17661B40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6592" y="13807440"/>
            <a:ext cx="512064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60" b="1">
                <a:solidFill>
                  <a:srgbClr val="81C7F1"/>
                </a:solidFill>
              </a:defRPr>
            </a:defPPr>
          </a:lstStyle>
          <a:p xmlns:a="http://schemas.openxmlformats.org/drawingml/2006/main">
            <a:pPr algn="l">
              <a:defRPr sz="2160" b="1">
                <a:solidFill>
                  <a:srgbClr val="81C7F1"/>
                </a:solidFill>
              </a:defRPr>
            </a:pPr>
            <a:r>
              <a:rPr sz="2160" b="1">
                <a:solidFill>
                  <a:srgbClr val="81C7F1"/>
                </a:solidFill>
                <a:latin typeface="Arial"/>
                <a:ea typeface="Arial"/>
                <a:cs typeface="Arial"/>
              </a:rPr>
              <a:t>Выход: примеры владельца</a:t>
            </a:r>
          </a:p>
        </p:txBody>
      </p:sp>
      <p:graphicFrame>
        <p:nvGraphicFramePr>
          <p:cNvPr id="166" name="Chart">
            <a:extLst xmlns:a="http://schemas.openxmlformats.org/drawingml/2006/main">
              <a:ext uri="{FF2B5EF4-FFF2-40B4-BE49-F238E27FC236}">
                <a16:creationId xmlns:a16="http://schemas.microsoft.com/office/drawing/2014/main" id="{32EBE53D-BB6F-486D-AEF6-120F06F6B3D9}"/>
              </a:ext>
            </a:extLst>
          </p:cNvPr>
          <p:cNvGraphicFramePr/>
          <p:nvPr/>
        </p:nvGraphicFramePr>
        <p:xfrm>
          <a:off xmlns:a="http://schemas.openxmlformats.org/drawingml/2006/main" x="16093440" y="14218920"/>
          <a:ext xmlns:a="http://schemas.openxmlformats.org/drawingml/2006/main" cx="5266944" cy="21031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d936bbe0c146fd"/>
          </a:graphicData>
        </a:graphic>
      </p:graphicFrame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15C712A5-FF13-4AEC-A6B7-D1424E36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6592" y="16477488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8" b="0">
                <a:solidFill>
                  <a:srgbClr val="C3CDD6"/>
                </a:solidFill>
              </a:defRPr>
            </a:defPPr>
          </a:lstStyle>
          <a:p xmlns:a="http://schemas.openxmlformats.org/drawingml/2006/main">
            <a:pPr algn="l">
              <a:defRPr sz="1728" b="0">
                <a:solidFill>
                  <a:srgbClr val="C3CDD6"/>
                </a:solidFill>
              </a:defRPr>
            </a:pPr>
            <a:r>
              <a:rPr sz="1728" b="0">
                <a:solidFill>
                  <a:srgbClr val="C3CDD6"/>
                </a:solidFill>
                <a:latin typeface="Arial"/>
                <a:ea typeface="Arial"/>
                <a:cs typeface="Arial"/>
              </a:rPr>
              <a:t>Функцию выхода ещё согласовать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180BD9D4-44FC-4C3A-B37A-6E58E6E2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6592" y="16834104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8" b="0">
                <a:solidFill>
                  <a:srgbClr val="C3CDD6"/>
                </a:solidFill>
              </a:defRPr>
            </a:defPPr>
          </a:lstStyle>
          <a:p xmlns:a="http://schemas.openxmlformats.org/drawingml/2006/main">
            <a:pPr algn="l">
              <a:defRPr sz="1728" b="0">
                <a:solidFill>
                  <a:srgbClr val="C3CDD6"/>
                </a:solidFill>
              </a:defRPr>
            </a:pPr>
            <a:r>
              <a:rPr sz="1728" b="0">
                <a:solidFill>
                  <a:srgbClr val="C3CDD6"/>
                </a:solidFill>
                <a:latin typeface="Arial"/>
                <a:ea typeface="Arial"/>
                <a:cs typeface="Arial"/>
              </a:rPr>
              <a:t>Точность: значения не утверждены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7829BAE1-2456-40A1-B57C-E61B6ED5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675352"/>
            <a:ext cx="283464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60" b="1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2160" b="1">
                <a:solidFill>
                  <a:srgbClr val="F4F7FA"/>
                </a:solidFill>
              </a:defRPr>
            </a:pPr>
            <a:r>
              <a:rPr sz="216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Цель: напряжённые дуэли с адаптацией, где фраг решают ошибка или удачное действие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EAEFF552-35F4-4553-AFB1-2FBCA4E7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0" y="17721072"/>
            <a:ext cx="6858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944" b="0">
                <a:solidFill>
                  <a:srgbClr val="98ABBA"/>
                </a:solidFill>
              </a:defRPr>
            </a:defPPr>
          </a:lstStyle>
          <a:p xmlns:a="http://schemas.openxmlformats.org/drawingml/2006/main">
            <a:pPr algn="r">
              <a:defRPr sz="1944" b="0">
                <a:solidFill>
                  <a:srgbClr val="98ABBA"/>
                </a:solidFill>
              </a:defRPr>
            </a:pPr>
            <a:r>
              <a:rPr sz="1944" b="0">
                <a:solidFill>
                  <a:srgbClr val="98ABBA"/>
                </a:solidFill>
                <a:latin typeface="Arial"/>
                <a:ea typeface="Arial"/>
                <a:cs typeface="Arial"/>
              </a:rPr>
              <a:t>4096 × 2048 px / 100 dpi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DAC670BD-2192-4FFB-B3F4-EB525303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105120"/>
            <a:ext cx="306324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98ABBA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98ABBA"/>
                </a:solidFill>
              </a:defRPr>
            </a:pPr>
            <a:r>
              <a:rPr sz="1800" b="0">
                <a:solidFill>
                  <a:srgbClr val="98ABBA"/>
                </a:solidFill>
                <a:latin typeface="Arial"/>
                <a:ea typeface="Arial"/>
                <a:cs typeface="Arial"/>
              </a:rPr>
              <a:t>Счёт и фраги не подгоняются. Все прежние ветви, подробности, спорные правила и источники сохранены в реестре</a:t>
            </a:r>
          </a:p>
        </p:txBody>
      </p:sp>
    </p:spTree>
    <p:extLst>
      <p:ext uri="{BB962C8B-B14F-4D97-AF65-F5344CB8AC3E}">
        <p14:creationId xmlns:p14="http://schemas.microsoft.com/office/powerpoint/2010/main" val="14698412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2026-10-09T21:07:17.9050000Z</dcterms:created>
  <dcterms:modified xsi:type="dcterms:W3CDTF">2026-10-09T21:07:17.9050000Z</dcterms:modified>
</coreProperties>
</file>