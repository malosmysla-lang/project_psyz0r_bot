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charts/chart1.xml" ContentType="application/vnd.openxmlformats-officedocument.drawingml.chart+xml"/>
  <Override PartName="/ppt/slides/charts/chart2.xml" ContentType="application/vnd.openxmlformats-officedocument.drawingml.chart+xml"/>
  <Override PartName="/ppt/notesSlides/notesSlide1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31586e474184d49" /><Relationship Type="http://schemas.openxmlformats.org/officeDocument/2006/relationships/extended-properties" Target="/docProps/app.xml" Id="Rf91c7b9e826e41a1" /><Relationship Type="http://schemas.openxmlformats.org/officeDocument/2006/relationships/officeDocument" Target="/ppt/presentation.xml" Id="R8fb2ffcc19ed48d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ce92dc15ad9450e"/>
  </p:sldMasterIdLst>
  <p:notesMasterIdLst>
    <p:notesMasterId xmlns:r="http://schemas.openxmlformats.org/officeDocument/2006/relationships" r:id="R7a78e92a83b54ae3"/>
  </p:notesMasterIdLst>
  <p:sldIdLst>
    <p:sldId xmlns:r="http://schemas.openxmlformats.org/officeDocument/2006/relationships" id="256" r:id="R44db4ca161514e71"/>
  </p:sldIdLst>
  <p:sldSz cx="37453824" cy="18726912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962c4d9446c4139" /><Relationship Type="http://schemas.openxmlformats.org/officeDocument/2006/relationships/slideMaster" Target="/ppt/slideMasters/slideMaster1.xml" Id="R0ce92dc15ad9450e" /><Relationship Type="http://schemas.openxmlformats.org/officeDocument/2006/relationships/notesMaster" Target="/ppt/notesMasters/notesMaster1.xml" Id="R7a78e92a83b54ae3" /><Relationship Type="http://schemas.openxmlformats.org/officeDocument/2006/relationships/presProps" Target="/ppt/presProps.xml" Id="R83191c114a8b4601" /><Relationship Type="http://schemas.openxmlformats.org/officeDocument/2006/relationships/tableStyles" Target="/ppt/tableStyles.xml" Id="Rcd2b0726fddf40cb" /><Relationship Type="http://schemas.openxmlformats.org/officeDocument/2006/relationships/slide" Target="/ppt/slides/slide1.xml" Id="R44db4ca161514e7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16fb0fbadea46d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1505ce4525d4fe7" /><Relationship Type="http://schemas.openxmlformats.org/officeDocument/2006/relationships/notesMaster" Target="/ppt/notesMasters/notesMaster1.xml" Id="R530a777322fc447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# Psyz0r_bot: полный реестр логики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Версия 09.10.2026. Сводка всей доступной переписки, прочитанной постранично до первого сообщения. 12 ветвей, 153 пунктов с подробностями. Это требования и проектные предложения, не отчёт о готовности кода.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Кратко для владельца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Тренировочный Quake Live бот имитирует человеческие решения, движения и характер. Пять уровней ограничивают его возможности. Внутри каждого уровня он подстраивается под стиль и силу игрока: слабому оставляет читаемые ошибки, сильному отвечает лучшими доступными решениями. Долгие равные размены возникают через дистанцию, риск и восстановление. Счёт, фраги и попадания не подгоняются принудительно.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Обучение означает разбор демок и настройку правил, маршрутов и приёмов, без отдельной нейросети. Точные таймеры предметов разрешены, точное знание будущего респауна отдельно оговорено. Скрытая живая позиция и точный стек соперника запрещены. Вежливый чат, ответная перчатка, добивание трупов, расслабление и тильт связаны с реальными событиями.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Как читать пакет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PNG — один обзорный слайд 4096 × 2048 px, 100 dpi, горизонтально. SVG — тот же обзор с масштабированием. PPTX — один редактируемый слайд, полный реестр также в заметках. Markdown и HTML — все подробности, ссылки и история правок. OPML — иерархия для редакторов mind map с поддержкой импорта. Архив переписки хранит исходные пользовательские сообщения и ответы ассистента, без внутренних рассуждений и команд.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Статус чисел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Числа из прямых вводных владельца — требования/ориентиры, а не измеренные результаты. Проценты точности ещё предстоит рассчитать и согласовать. Cooldown чата, пороги мести 50/25, срок 90 с и оценка HP 50 — предложенные стартовые настройки прежних ТЗ. Промежуточные уровни 2 и 4 — предложенная градация. Таблица выхода и новые диапазоны точности ожидают согласования.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A. Обучение и разработка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**A01** Цель: тренировочный соперник для Quake Live, максимально похожий на человека. Скриптовые правила и извлечение примеров из демок, без отдельной нейросети. Рабочие имена PzyZ0r-bot / Psyz0r_bot.</a:t>
            </a:r>
          </a:p>
          <a:p xmlns:a="http://schemas.openxmlformats.org/drawingml/2006/main">
            <a:r>
              <a:t>- **A02** Исходный набор: 100 демок PsyRoZa и 20 демок владельца nekitz0r. Дальше десятки и сотни записей разных стилей, например 100–200 на одну карту и 200 на другую. Это ориентир объёма, не обязательная квота.</a:t>
            </a:r>
          </a:p>
          <a:p xmlns:a="http://schemas.openxmlformats.org/drawingml/2006/main">
            <a:r>
              <a:t>- **A03** Сольные демки показывают маршруты, цикл ресурсов, прыжки, выбор оружия, прослушивание, укрытия, отходы, штраф и spawntrap. Боевые записи показывают размены, стрейф, погоню, восстановление и борьбу за контроль.</a:t>
            </a:r>
          </a:p>
          <a:p xmlns:a="http://schemas.openxmlformats.org/drawingml/2006/main">
            <a:r>
              <a:t>- **A04** Неподвижность 5–10 секунд отмечает кандидата на значимую позицию. Назначение listen/hide/escape/punish подтверждает владелец, оно не определяется одной остановкой.</a:t>
            </a:r>
          </a:p>
          <a:p xmlns:a="http://schemas.openxmlformats.org/drawingml/2006/main">
            <a:r>
              <a:t>- **A05** Предложенные метки: #bot listen, hide, escape, punish mega, punish red, rocketjump, cycle, spawntrap. Привязка чата к времени и положению модельки, окно до/после приёма. Если парсер не извлекает чат, использовать sidecar с метками времени.</a:t>
            </a:r>
          </a:p>
          <a:p xmlns:a="http://schemas.openxmlformats.org/drawingml/2006/main">
            <a:r>
              <a:t>- **A06** Производные эпизоды содержат карту, протокол, режим физики, источник, время, позицию, скорость, взгляд, оружие, HP/armor/ammo, события, начало/конец, исход и уверенность. Исходные демки сохраняются неизменными.</a:t>
            </a:r>
          </a:p>
          <a:p xmlns:a="http://schemas.openxmlformats.org/drawingml/2006/main">
            <a:r>
              <a:t>- **A07** Проверить наличие сырых нажатий и движений мыши. Демка со снимками состояния не гарантирует raw mouse/WASD. Восстановленные команды отделять от наблюдаемых, указывать погрешность; при необходимости записывать ввод дополнительно.</a:t>
            </a:r>
          </a:p>
          <a:p xmlns:a="http://schemas.openxmlformats.org/drawingml/2006/main">
            <a:r>
              <a:t>- **A08** Исследовать распакованный zzz_bots.pk3 из мастерской и доступные аналоги Q3/QL. Сначала доступные исходники и данные, возможность декомпиляции оценить отдельно. Наличие подходящего аналога и переносимость в QL не считать доказанными заранее.</a:t>
            </a:r>
          </a:p>
          <a:p xmlns:a="http://schemas.openxmlformats.org/drawingml/2006/main">
            <a:r>
              <a:t>- **A09** Рабочий проект Project_Psyz0r_bot, C++/MSVC, существующие C++17 core и Python chat по последнему прочитанному состоянию. VS Code с Codex и Visual Studio/Build Tools различать.</a:t>
            </a:r>
          </a:p>
          <a:p xmlns:a="http://schemas.openxmlformats.org/drawingml/2006/main">
            <a:r>
              <a:t>- **A10** Аудит AGENTS.md, SPEC.md, PROJECT_STATE.md, кода, тестов и материалов. Не создавать второй несвязанный проект и дублирующие системы. Соблюдать правила Git, документации и сохранения незавершённой работы.</a:t>
            </a:r>
          </a:p>
          <a:p xmlns:a="http://schemas.openxmlformats.org/drawingml/2006/main">
            <a:r>
              <a:t>- **A11** Сначала подтвердить доступные данные и исполнение forward/back/strafe/jump/walk, yaw/pitch, attack, weapon switch и временную точность. Решение политики и приём команды адаптером не доказывают исполнение игрой.</a:t>
            </a:r>
          </a:p>
          <a:p xmlns:a="http://schemas.openxmlformats.org/drawingml/2006/main">
            <a:r>
              <a:t>- **A12** Этапы: аудит и русский гайд; входные данные/адаптер; один размеченный маршрут и RJ; движение/стрельба; оружие/комбо; штраф/зонинг; макро/циклы; респауны; forfeit; интеграционные проверки.</a:t>
            </a:r>
          </a:p>
          <a:p xmlns:a="http://schemas.openxmlformats.org/drawingml/2006/main">
            <a:r>
              <a:t>- **A13** Статусы каждого требования: реализовано, проверено локально, подтверждено в игре, запланировано, заблокировано. В отчёте: изменения, проверки, ограничения, следующий этап и нужные демки.</a:t>
            </a:r>
          </a:p>
          <a:p xmlns:a="http://schemas.openxmlformats.org/drawingml/2006/main">
            <a:r>
              <a:t>- **A14** Работа локально. Развёртывание и игровые испытания только по отдельной команде. Сохранять штатного бота, резервные копии и исходные материалы. В Git не включать архивы, демки, секреты и чужие игровые бинарники.</a:t>
            </a:r>
          </a:p>
          <a:p xmlns:a="http://schemas.openxmlformats.org/drawingml/2006/main">
            <a:r>
              <a:t>- **A15** Контекст сервера: частный тренировочный Quake Live, пока без MMR, Intel-карты с изменёнными текстурами. CFG, плагины и собственные карты предполагается хранить в GitHub. Это контекст проекта, не отдельная способность бота.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B. Мувмент и триксы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**B01** Последовательность освоения: обычные маршруты; prestrafe/circle; single-beat; half-beat и переходы; rocket jump; plasma jump; plasma climb; дополнительные триксы конкретных карт.</a:t>
            </a:r>
          </a:p>
          <a:p xmlns:a="http://schemas.openxmlformats.org/drawingml/2006/main">
            <a:r>
              <a:t>- **B02** Изучить 3–5 текстовых руководств Q3/QL, максимум со скриншотами, без необходимости смотреть видео. Четыре выбранных источника и две Markdown-копии перечислены в приложении.</a:t>
            </a:r>
          </a:p>
          <a:p xmlns:a="http://schemas.openxmlformats.org/drawingml/2006/main">
            <a:r>
              <a:t>- **B03** Для каждого руководства указать автора, ссылку, режим физики, использованные правила и способ проверки. Не переносить константы Q3/CPM автоматически в текущий Quake Live.</a:t>
            </a:r>
          </a:p>
          <a:p xmlns:a="http://schemas.openxmlformats.org/drawingml/2006/main">
            <a:r>
              <a:t>- **B04** Для приёма: стартовая позиция/скорость, направление, yaw/pitch, команды ног, момент прыжка и выстрела, оружие/боезапас/стек, траектория, приземление, прекращение и восстановление после ошибки.</a:t>
            </a:r>
          </a:p>
          <a:p xmlns:a="http://schemas.openxmlformats.org/drawingml/2006/main">
            <a:r>
              <a:t>- **B05** Распрыжка должна учитывать направление ускорения относительно взгляда и скорости, смену стрейфов и угла по мере разгона. Prestrafe и circle включают наземный разгон и переход в воздух.</a:t>
            </a:r>
          </a:p>
          <a:p xmlns:a="http://schemas.openxmlformats.org/drawingml/2006/main">
            <a:r>
              <a:t>- **B06** Рокетджампы выполнять обычной физикой и с реальным self-damage. Оптимизировать не только HP, но и успешность, время и пригодность точки приземления. Нельзя отменять урон, телепортировать или давать скрытое ускорение.</a:t>
            </a:r>
          </a:p>
          <a:p xmlns:a="http://schemas.openxmlformats.org/drawingml/2006/main">
            <a:r>
              <a:t>- **B07** Plasma jump с пола и plasma climb по стене хранить как разные навыки. Дополнительные триксы добавлять после проверки показанных владельцем.</a:t>
            </a:r>
          </a:p>
          <a:p xmlns:a="http://schemas.openxmlformats.org/drawingml/2006/main">
            <a:r>
              <a:t>- **B08** Не прыгать постоянно. Выбирать бег, тихий шаг, остановку и прыжки по маршруту, опасности, стеку, слышимости и цели. Быстро набирать скорость при переходах и погоне.</a:t>
            </a:r>
          </a:p>
          <a:p xmlns:a="http://schemas.openxmlformats.org/drawingml/2006/main">
            <a:r>
              <a:t>- **B09** При стеке около 200 HP / 200 armor допустима более активная погоня с RJ. При осторожном восстановлении уменьшить шум, ненужные прыжки и self-damage.</a:t>
            </a:r>
          </a:p>
          <a:p xmlns:a="http://schemas.openxmlformats.org/drawingml/2006/main">
            <a:r>
              <a:t>- **B10** Повторяемые ошибки исполнения на низкой сложности допустимы, технические зависания и бессмысленные вращения недопустимы. На высоких уровнях чище показанные прыжки, но без физических преимуществ.</a:t>
            </a:r>
          </a:p>
          <a:p xmlns:a="http://schemas.openxmlformats.org/drawingml/2006/main">
            <a:r>
              <a:t>- **B11** Проверять успех, длительность, скорости в ключевых точках, отклонение приземления, потери HP/armor, чувствительность к старту, застревания и способность восстановить маршрут.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C. Стрельба и точность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**C01** Отделить исполнение стрельбы и уклонений от модуля выбора оружия. Наведение строится совместно движением ногами и мышью, без запрета мышиного сопровождения.</a:t>
            </a:r>
          </a:p>
          <a:p xmlns:a="http://schemas.openxmlformats.org/drawingml/2006/main">
            <a:r>
              <a:t>- **C02** Из демок извлекать стрейф при стрельбе с типичных позиций, согласование движения с целью, смены направления, додж, преднаведение, короткие выходы, префайр и отход.</a:t>
            </a:r>
          </a:p>
          <a:p xmlns:a="http://schemas.openxmlformats.org/drawingml/2006/main">
            <a:r>
              <a:t>- **C03** Контрстрейф означает работу относительного движения в Quake, не остановку ради точности из Counter-Strike.</a:t>
            </a:r>
          </a:p>
          <a:p xmlns:a="http://schemas.openxmlformats.org/drawingml/2006/main">
            <a:r>
              <a:t>- **C04** Дальний rail peek: заранее выбрать высоту и линию, выйти примерно на полмодельки, открыть видимость, выстрелить и уйти. Большой поворот мыши не обязателен, если стрейф выводит прицел на линию контакта.</a:t>
            </a:r>
          </a:p>
          <a:p xmlns:a="http://schemas.openxmlformats.org/drawingml/2006/main">
            <a:r>
              <a:t>- **C05** Rail стреляет при проверенной линии видимости. Ракетный/гранатный префайр разрешён в ожидаемый проход по наблюдениям, звукам, памяти и прогнозу, без сопровождения скрытой модельки.</a:t>
            </a:r>
          </a:p>
          <a:p xmlns:a="http://schemas.openxmlformats.org/drawingml/2006/main">
            <a:r>
              <a:t>- **C06** Для rail, plasma, rocket, shaft вычислить человеческий ориентир по демкам уверенно доминирующих игроков. Критерий доминирования: счёт и доступный damage trade, с явным размером выборки.</a:t>
            </a:r>
          </a:p>
          <a:p xmlns:a="http://schemas.openxmlformats.org/drawingml/2006/main">
            <a:r>
              <a:t>- **C07** Отчёт: число демок/игроков, выстрелы/попадания, суммарная взвешенная точность, медиана по матчам, наблюдаемый диапазон, предлагаемая база, ограничения и достоверность.</a:t>
            </a:r>
          </a:p>
          <a:p xmlns:a="http://schemas.openxmlformats.org/drawingml/2006/main">
            <a:r>
              <a:t>- **C08** Урон не равен числу попаданий. Для ракет различать direct и splash, если данные позволяют; документировать семантику статистики каждого оружия. Если данных недостаточно, запросить дополнительные демки.</a:t>
            </a:r>
          </a:p>
          <a:p xmlns:a="http://schemas.openxmlformats.org/drawingml/2006/main">
            <a:r>
              <a:t>- **C09** До согласования владельцем не выставлять новые базовые проценты и плавающие диапазоны. Сейчас допустим механизм настроек без изменения действующей точности.</a:t>
            </a:r>
          </a:p>
          <a:p xmlns:a="http://schemas.openxmlformats.org/drawingml/2006/main">
            <a:r>
              <a:t>- **C10** Плавающая точность плавно повышается при уверенном контроле/преимуществе, понижается под давлением, около базы при равной игре. Учитывать недавние столкновения, а не один счёт.</a:t>
            </a:r>
          </a:p>
          <a:p xmlns:a="http://schemas.openxmlformats.org/drawingml/2006/main">
            <a:r>
              <a:t>- **C11** Последняя правка допускает усиление рейла против сильного давящего соперника внутри утверждённых границ. Это конфликт направлений с обычным снижением под давлением: требуется явный режим контратаки и документированный приоритет.</a:t>
            </a:r>
          </a:p>
          <a:p xmlns:a="http://schemas.openxmlformats.org/drawingml/2006/main">
            <a:r>
              <a:t>- **C12** Расслабление, тильт и forfeit могут снижать исполнение при большом преимуществе. Изменения скорости/диапазонов не должны скакать после каждого выстрела.</a:t>
            </a:r>
          </a:p>
          <a:p xmlns:a="http://schemas.openxmlformats.org/drawingml/2006/main">
            <a:r>
              <a:t>- **C13** Точность всех оружий зависит от уровня: rail, LG, RL, PG, SG, MG, GL; gauntlet учитывает контакт, дистанцию и реакцию отдельно. Реализовать через реакцию, ошибку aim/tracking/lead, а не случайный отказ попаданий.</a:t>
            </a:r>
          </a:p>
          <a:p xmlns:a="http://schemas.openxmlformats.org/drawingml/2006/main">
            <a:r>
              <a:t>- **C14** Статистический процент не гарантируется в каждом бою. Не менять damage, физику, HP или размеры hitbox. Не вводить мгновенные развороты и скрытое знание цели.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D. Оружие и боевые связки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**D01** Выбирать оружие по позиции, дистанции, видимости, относительной скорости, геометрии, патронам, собственному стеку, оценке соперника, риску self-damage и задержке смены.</a:t>
            </a:r>
          </a:p>
          <a:p xmlns:a="http://schemas.openxmlformats.org/drawingml/2006/main">
            <a:r>
              <a:t>- **D02** Цели выбора различать: основной бой, добивание, штраф, отзонивание, отход, RJ и месть перчаткой. Не переключать оружие хаотично каждый кадр.</a:t>
            </a:r>
          </a:p>
          <a:p xmlns:a="http://schemas.openxmlformats.org/drawingml/2006/main">
            <a:r>
              <a:t>- **D03** Подбирать реально существующие выпавшие пушки после смерти соперника или собственной прошлой смерти. Это подбор предмета, не обязательное действие над трупом.</a:t>
            </a:r>
          </a:p>
          <a:p xmlns:a="http://schemas.openxmlformats.org/drawingml/2006/main">
            <a:r>
              <a:t>- **D04** При подборе учитывать восстановление арсенала и лишение соперника полезного оружия. Не рисковать проигрышной перестрелкой ради ненужной пушки.</a:t>
            </a:r>
          </a:p>
          <a:p xmlns:a="http://schemas.openxmlformats.org/drawingml/2006/main">
            <a:r>
              <a:t>- **D05** Комбо LG → RL/SG: при сближении и низкой оценке HP соперника использовать подходящее быстрое добивание.</a:t>
            </a:r>
          </a:p>
          <a:p xmlns:a="http://schemas.openxmlformats.org/drawingml/2006/main">
            <a:r>
              <a:t>- **D06** Комбо дальняя rocket → rail: после подтверждённого попадания и knockback использовать предсказуемый участок траектории, видимость и реальную задержку смены.</a:t>
            </a:r>
          </a:p>
          <a:p xmlns:a="http://schemas.openxmlformats.org/drawingml/2006/main">
            <a:r>
              <a:t>- **D07** Не считать соперника после ракеты полностью лишённым управления. Отменить комбо при потере цели, ухудшении условий или риске.</a:t>
            </a:r>
          </a:p>
          <a:p xmlns:a="http://schemas.openxmlformats.org/drawingml/2006/main">
            <a:r>
              <a:t>- **D08** При контратаке нанесённые 70–110 урона запускают оценку погони, а не обязательный rush. Учитывать неизвестную броню/лечение противника и собственные возможности.</a:t>
            </a:r>
          </a:p>
          <a:p xmlns:a="http://schemas.openxmlformats.org/drawingml/2006/main">
            <a:r>
              <a:t>- **D09** Штраф: короткий rail или 1–2 ракеты / подходящий префайр, затем отход. Нужны укрытие и путь выхода, не обязательный пуш.</a:t>
            </a:r>
          </a:p>
          <a:p xmlns:a="http://schemas.openxmlformats.org/drawingml/2006/main">
            <a:r>
              <a:t>- **D10** RL/GL zoning ограничивает ожидаемые выходы, узкие проходы, подходы к предметам и погоню при отходе. Учитывать боезапас и возможность смены маршрута.</a:t>
            </a:r>
          </a:p>
          <a:p xmlns:a="http://schemas.openxmlformats.org/drawingml/2006/main">
            <a:r>
              <a:t>- **D11** Ответная перчатка ищет реальный шанс убийства и не отменяет оценку риска. Правильные позиции и правила выбора владелец дополнит; часть извлекается из демок.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E. Макроигра и предметы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**E01** Всегда аккуратное начало, приоритет Меги перед бронёй. Дальше приоритеты меняются по стилю, стеку и контролю.</a:t>
            </a:r>
          </a:p>
          <a:p xmlns:a="http://schemas.openxmlformats.org/drawingml/2006/main">
            <a:r>
              <a:t>- **E02** Последнее разрешение владельца: бот знает точные таймеры всех предметов, как наблюдатель. Это заменяет раннее правило таймеров только по известным подборам.</a:t>
            </a:r>
          </a:p>
          <a:p xmlns:a="http://schemas.openxmlformats.org/drawingml/2006/main">
            <a:r>
              <a:t>- **E03** Разделить таймеры ресурсов, видимость живого соперника, прогноз маршрута и отдельное исключение знания респауна. Таймеры не дают доступ к скрытой позиции.</a:t>
            </a:r>
          </a:p>
          <a:p xmlns:a="http://schemas.openxmlformats.org/drawingml/2006/main">
            <a:r>
              <a:t>- **E04** Контроль включает оценку владельца ресурсов, неравенства стеков, безопасности боя, цикла и необходимости уступить предмет.</a:t>
            </a:r>
          </a:p>
          <a:p xmlns:a="http://schemas.openxmlformats.org/drawingml/2006/main">
            <a:r>
              <a:t>- **E05** Цикл может включать MH, RA, YA, GA, шарды, HP, пушки, ammo и power-up, если они есть на данной карте и в правилах.</a:t>
            </a:r>
          </a:p>
          <a:p xmlns:a="http://schemas.openxmlformats.org/drawingml/2006/main">
            <a:r>
              <a:t>- **E06** Когда соперник контролирует карту: избегать прямых неравных боёв, брать остатки, не рисковать ради MH/RA, дать максимум короткий rail/1–2 rockets и уйти.</a:t>
            </a:r>
          </a:p>
          <a:p xmlns:a="http://schemas.openxmlformats.org/drawingml/2006/main">
            <a:r>
              <a:t>- **E07** Штрафовать издалека/угла с выходом. Учитывать, что сильный игрок быстро сокращает дистанцию, если предполагает нехватку стека/пушек.</a:t>
            </a:r>
          </a:p>
          <a:p xmlns:a="http://schemas.openxmlformats.org/drawingml/2006/main">
            <a:r>
              <a:t>- **E08** При равном счёте вроде 10:10 активнее LG, давление и точное прибытие на предметы. Против сильного соперника строже работать с жёлтыми.</a:t>
            </a:r>
          </a:p>
          <a:p xmlns:a="http://schemas.openxmlformats.org/drawingml/2006/main">
            <a:r>
              <a:t>- **E09** Раннее требование полного контроля при равной игре/отставании уточнено: обычный контроль основных предметов и тотальное выедание всей карты — разные режимы.</a:t>
            </a:r>
          </a:p>
          <a:p xmlns:a="http://schemas.openxmlformats.org/drawingml/2006/main">
            <a:r>
              <a:t>- **E10** Попытка тотального контроля редкая, ориентир 1–2 игры из 10, преимущественно против сильного. Последний запрос усиления под давлением реализовать внутри этого ограничения, не каждый матч автоматически.</a:t>
            </a:r>
          </a:p>
          <a:p xmlns:a="http://schemas.openxmlformats.org/drawingml/2006/main">
            <a:r>
              <a:t>- **E11** При большом преимуществе можно ослабить цикл и оставить ресурсы. Цель 5–10 ответных фрагов при 20:0 — пример желаемых шансов, не фиксированная выдача счёта.</a:t>
            </a:r>
          </a:p>
          <a:p xmlns:a="http://schemas.openxmlformats.org/drawingml/2006/main">
            <a:r>
              <a:t>- **E12** Основания владелец связывает с дуэльной макроигрой Cooller. Не выдавать проектные правила за подтверждённые цитаты Антона Синьгова.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F. Циклы игрока и респауны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**F01** Наблюдать видимые зоны, порядок переходов, интервалы, доступные подборы и типовые атаки. История ограничена по времени.</a:t>
            </a:r>
          </a:p>
          <a:p xmlns:a="http://schemas.openxmlformats.org/drawingml/2006/main">
            <a:r>
              <a:t>- **F02** После нескольких подтверждённых повторов бот может занять позицию, перехватить выход, подготовить префайр, отзонить проход или прыгнуть на power-up точно к появлению.</a:t>
            </a:r>
          </a:p>
          <a:p xmlns:a="http://schemas.openxmlformats.org/drawingml/2006/main">
            <a:r>
              <a:t>- **F03** Количество повторов, допуски времени и вероятность наказания настраиваются. Один проход не доказывает цикл, прогноз имеет уверенность и срок.</a:t>
            </a:r>
          </a:p>
          <a:p xmlns:a="http://schemas.openxmlformats.org/drawingml/2006/main">
            <a:r>
              <a:t>- **F04** После изменения маршрута уверенность снижается. Не строить историю по скрытым координатам живого игрока. Тренировочная цель — поощрение вариативности.</a:t>
            </a:r>
          </a:p>
          <a:p xmlns:a="http://schemas.openxmlformats.org/drawingml/2006/main">
            <a:r>
              <a:t>- **F05** Spawntrap учить постепенно по размеченным демкам: позиция бота, точки появления, направление/время RL или PG спама, боезапас и путь выхода.</a:t>
            </a:r>
          </a:p>
          <a:p xmlns:a="http://schemas.openxmlformats.org/drawingml/2006/main">
            <a:r>
              <a:t>- **F06** Быстрое нажатие respawn может подставить игрока под заранее выпущенные снаряды. Фиксированную задержку появления не предполагать.</a:t>
            </a:r>
          </a:p>
          <a:p xmlns:a="http://schemas.openxmlformats.org/drawingml/2006/main">
            <a:r>
              <a:t>- **F07** Допускать короткие цепочки до 2–3 перехватов, вероятность выше после перехвата контроля. Ограничить частоту и прекратить при потере условий, затем вернуться к обычной игре.</a:t>
            </a:r>
          </a:p>
          <a:p xmlns:a="http://schemas.openxmlformats.org/drawingml/2006/main">
            <a:r>
              <a:t>- **F08** Уровень 1 не делает прогонку; уровень 2 без систематической прогонки по предложенной градации; уровень 3 до 1–2 эпизодов за матч, каждый отдельная короткая серия. Это возможность, не обязательное количество.</a:t>
            </a:r>
          </a:p>
          <a:p xmlns:a="http://schemas.openxmlformats.org/drawingml/2006/main">
            <a:r>
              <a:t>- **F09** Для уровней 4–5 повышается качество использования ситуации, частоту ещё настроить по демкам и тестам. Не превращать матч в непрерывный spawntrap.</a:t>
            </a:r>
          </a:p>
          <a:p xmlns:a="http://schemas.openxmlformats.org/drawingml/2006/main">
            <a:r>
              <a:t>- **F10** Владелец разрешил знание будущего респауна. Сначала изучить реальный алгоритм QL, отличить вероятностный прогноз от точного знания через разрешённый механизм.</a:t>
            </a:r>
          </a:p>
          <a:p xmlns:a="http://schemas.openxmlformats.org/drawingml/2006/main">
            <a:r>
              <a:t>- **F11** Если есть случайность, не называть прогноз гарантией. Точное знание оформить отдельной тренировочной настройкой. После появления нельзя сопровождать живого соперника через стены.</a:t>
            </a:r>
          </a:p>
          <a:p xmlns:a="http://schemas.openxmlformats.org/drawingml/2006/main">
            <a:r>
              <a:t>- **F12** Смысл — показать цену потери контроля и мгновенного респауна, включая фраг сразу или выход с ~20 HP. Успех и урон не гарантировать.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G. Восприятие и честная информация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**G01** Бот без WH, хорошо слушает и считает. Боевая логика получает разрешённое зрение, реальные звуки, память, прогноз и явно оговорённые исключения.</a:t>
            </a:r>
          </a:p>
          <a:p xmlns:a="http://schemas.openxmlformats.org/drawingml/2006/main">
            <a:r>
              <a:t>- **G02** Не передавать скрытые координаты, точный HP/armor или live tracking противника из серверных/демо данных. Его стек оценивать по наблюдаемым событиям с неопределённостью.</a:t>
            </a:r>
          </a:p>
          <a:p xmlns:a="http://schemas.openxmlformats.org/drawingml/2006/main">
            <a:r>
              <a:t>- **G03** После потери видимости хранить последнюю позицию, время, прогноз и уверенность. Уверенность падает, возможна проверка неверного направления.</a:t>
            </a:r>
          </a:p>
          <a:p xmlns:a="http://schemas.openxmlformats.org/drawingml/2006/main">
            <a:r>
              <a:t>- **G04** Звуки дают только информацию, доступную реальной механикой игры. Не превращать один звук в идеальную непрерывную координату.</a:t>
            </a:r>
          </a:p>
          <a:p xmlns:a="http://schemas.openxmlformats.org/drawingml/2006/main">
            <a:r>
              <a:t>- **G05** Направление взгляда определяется задачей: маршрут, приземление, предмет, проверка прохода, слушание или видимая цель. Бот не всегда лицом к противнику.</a:t>
            </a:r>
          </a:p>
          <a:p xmlns:a="http://schemas.openxmlformats.org/drawingml/2006/main">
            <a:r>
              <a:t>- **G06** Игрок может скрытно обойти, выйти в спину, неожиданно ждать за углом. Бот реагирует после сигнала с человеческой задержкой, без синхронного разворота вслед за скрытой моделькой.</a:t>
            </a:r>
          </a:p>
          <a:p xmlns:a="http://schemas.openxmlformats.org/drawingml/2006/main">
            <a:r>
              <a:t>- **G07** Разрешённые все таймеры ресурсов и будущий респ не расширяют остальные права на информацию. Эти каналы документировать и фильтровать отдельно.</a:t>
            </a:r>
          </a:p>
          <a:p xmlns:a="http://schemas.openxmlformats.org/drawingml/2006/main">
            <a:r>
              <a:t>- **G08** Полные данные демок допустимы для офлайн-анализа, но не становятся автоматически знаниями бота в матче.</a:t>
            </a:r>
          </a:p>
          <a:p xmlns:a="http://schemas.openxmlformats.org/drawingml/2006/main">
            <a:r>
              <a:t>- **G09** В диагностике фиксировать источник и время наблюдения, уверенность, основание поворота/выстрела/погони. Не выводить диагностические данные в игровой чат.</a:t>
            </a:r>
          </a:p>
          <a:p xmlns:a="http://schemas.openxmlformats.org/drawingml/2006/main">
            <a:r>
              <a:t>- **G10** Проверки: тихий обход, атака сзади, неподвижная засада, исчезновение цели, ложный прогноз, неизвестное лечение/оружие, отдельность таймеров и WH.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H. Три стиля и осторожный режим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**H01** Агрессивный стиль: после примерно 80–90 нанесённого урона активно сближается, если считает бой выгодным. Основной приоритет MH/RA.</a:t>
            </a:r>
          </a:p>
          <a:p xmlns:a="http://schemas.openxmlformats.org/drawingml/2006/main">
            <a:r>
              <a:t>- **H02** Средний продуманный стиль: после примерно 70–100 полученного урона отходит, повышает приоритет YA и восстановления, чередует бой и сбор.</a:t>
            </a:r>
          </a:p>
          <a:p xmlns:a="http://schemas.openxmlformats.org/drawingml/2006/main">
            <a:r>
              <a:t>- **H03** Пассивный стиль: после одного rail по себе отходит, собирает 1–2 YA и аптечки, меньше прыгает и использует RJ, чаще тихо перемещается.</a:t>
            </a:r>
          </a:p>
          <a:p xmlns:a="http://schemas.openxmlformats.org/drawingml/2006/main">
            <a:r>
              <a:t>- **H04** Пороги приблизительны: определить окно боевого эпизода, учитываемый damage с бронёй, собственный стек и оружие. Не считать их неизменными константами.</a:t>
            </a:r>
          </a:p>
          <a:p xmlns:a="http://schemas.openxmlformats.org/drawingml/2006/main">
            <a:r>
              <a:t>- **H05** Адаптация к манере: агрессивный противник, даже пушащий на low HP, повышает склонность к агрессии; осторожный — к более осторожной игре. Это тенденция, не буквальное копирование любой невыгодной атаки.</a:t>
            </a:r>
          </a:p>
          <a:p xmlns:a="http://schemas.openxmlformats.org/drawingml/2006/main">
            <a:r>
              <a:t>- **H06** pressure_retreat, рабочее название «Обоссанец»: при 0:3/0:4/0:5 и накопленной серии проигранных боёв бот уступает инициативу и старается выжить, а не сдаётся.</a:t>
            </a:r>
          </a:p>
          <a:p xmlns:a="http://schemas.openxmlformats.org/drawingml/2006/main">
            <a:r>
              <a:t>- **H07** Счёта недостаточно. Учитывать повторные смерти, damage и неудачные атаки, пороги/вероятность в конфигурации.</a:t>
            </a:r>
          </a:p>
          <a:p xmlns:a="http://schemas.openxmlformats.org/drawingml/2006/main">
            <a:r>
              <a:t>- **H08** Осторожный режим: укрытия, смена маршрутов, тихая ходьба где полезна, скорость при прямой погоне/на открытом месте, YA/GA/HP/ammo, минимум лишнего self-damage.</a:t>
            </a:r>
          </a:p>
          <a:p xmlns:a="http://schemas.openxmlformats.org/drawingml/2006/main">
            <a:r>
              <a:t>- **H09** MH/RA преимущественно штрафует rail из позиции с выходом. Если предмет безопасен, может забрать. Без rail/ammo сначала восстановить арсенал или продолжить отход.</a:t>
            </a:r>
          </a:p>
          <a:p xmlns:a="http://schemas.openxmlformats.org/drawingml/2006/main">
            <a:r>
              <a:t>- **H10** После обнаружения или выстрела менять позицию, не стоять вечным кемпером. Держать режим минимальное время, выходить после устойчивого восстановления и ослабления давления.</a:t>
            </a:r>
          </a:p>
          <a:p xmlns:a="http://schemas.openxmlformats.org/drawingml/2006/main">
            <a:r>
              <a:t>- **H11** Один удачный rail не переводит сразу в агрессию. pressure_retreat и forfeit взаимоисключаются. Месть перчаткой сохраняется как цель, но не заставляет идти на опасное сближение.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I. Подстройка и «игра до фрага»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**I01** Разделить базовую сложность, оценку силы/привычек, тактический стиль и состояние настроения. Адаптация действует внутри способностей текущего уровня.</a:t>
            </a:r>
          </a:p>
          <a:p xmlns:a="http://schemas.openxmlformats.org/drawingml/2006/main">
            <a:r>
              <a:t>- **I02** Силу определять совокупностью damage trade, боёв при сопоставимом стеке, контроля ресурсов, оружия/позиций, качества погони/отхода, повторяемости и умения наказать бота.</a:t>
            </a:r>
          </a:p>
          <a:p xmlns:a="http://schemas.openxmlformats.org/drawingml/2006/main">
            <a:r>
              <a:t>- **I03** Отдельно оценивать агрессию, осторожность, склонность к погоне и риск. Не оценивать по одной смерти, одному попаданию или только счёту.</a:t>
            </a:r>
          </a:p>
          <a:p xmlns:a="http://schemas.openxmlformats.org/drawingml/2006/main">
            <a:r>
              <a:t>- **I04** Несколько окон наблюдений: недавний эпизод, серия боёв, матч. Накопление признаков, минимум удержания режима, разные пороги входа/выхода и плавная смена.</a:t>
            </a:r>
          </a:p>
          <a:p xmlns:a="http://schemas.openxmlformats.org/drawingml/2006/main">
            <a:r>
              <a:t>- **I05** Против явно слабого: повторять ограниченные маршруты и позиции, пропускать MH/RA/второстепенные предметы, забывать нужную пушку, выбирать хуже путь, слабее слушать другой этаж.</a:t>
            </a:r>
          </a:p>
          <a:p xmlns:a="http://schemas.openxmlformats.org/drawingml/2006/main">
            <a:r>
              <a:t>- **I06** Чаще выдавать себя, меньше скрытно ждать, чаще открытый бой, риск и лишний физически корректный RJ. Ошибка должна быть читаемой несколько эпизодов, чтобы игрок мог адаптироваться.</a:t>
            </a:r>
          </a:p>
          <a:p xmlns:a="http://schemas.openxmlformats.org/drawingml/2006/main">
            <a:r>
              <a:t>- **I07** Не имитировать слабость застреванием, вращением, выключением управления или стрельбой в пустоту. После наказания повторяемого решения постепенно его менять.</a:t>
            </a:r>
          </a:p>
          <a:p xmlns:a="http://schemas.openxmlformats.org/drawingml/2006/main">
            <a:r>
              <a:t>- **I08** Волны темпа: короткое давление, затем пространство для соперника. Не выдавать фраги по квоте и не гарантировать сопернику победу.</a:t>
            </a:r>
          </a:p>
          <a:p xmlns:a="http://schemas.openxmlformats.org/drawingml/2006/main">
            <a:r>
              <a:t>- **I09** Против сильного: лучшие доступные тайминги, сбор стека/пушек, перекрытия и короткие spawntrap, выгодное добивание, борьба за инициативу. При слабом собственном стеке сначала восстановление/штраф.</a:t>
            </a:r>
          </a:p>
          <a:p xmlns:a="http://schemas.openxmlformats.org/drawingml/2006/main">
            <a:r>
              <a:t>- **I10** После устойчивого перехвата контроля/инициативы слегка снижать темп и переходить к слушанию углов/засадам. Один случайный фраг не выключает усиленную фазу.</a:t>
            </a:r>
          </a:p>
          <a:p xmlns:a="http://schemas.openxmlformats.org/drawingml/2006/main">
            <a:r>
              <a:t>- **I11** Против чрезмерно наглого пуша подготовить ориентир ≥100 HP / 100 armor и выгодные LG/RL/rail, при необходимости SG. Занять позицию для приёма или контрпуша.</a:t>
            </a:r>
          </a:p>
          <a:p xmlns:a="http://schemas.openxmlformats.org/drawingml/2006/main">
            <a:r>
              <a:t>- **I12** После 70–110 урона оценить оставшийся стек, расстояние, геометрию, собственный стек, оружие и выход. При выгоде сближаться и добивать RL/SG, при утрате преимущества прекратить погоню.</a:t>
            </a:r>
          </a:p>
          <a:p xmlns:a="http://schemas.openxmlformats.org/drawingml/2006/main">
            <a:r>
              <a:t>- **I13** «Крыса» после инициативы: меньше шума/прыжков, слушать, ждать с выходом, короткий штраф и смена места. Допускать неверное ожидание и пропущенный обход, не одну идеальную вечную засаду.</a:t>
            </a:r>
          </a:p>
          <a:p xmlns:a="http://schemas.openxmlformats.org/drawingml/2006/main">
            <a:r>
              <a:t>- **I14** Для равного заслуженного соперника стремиться к напряжённым разменам и восстановлению, иногда около пяти минут без фрага. Это результат дистанции/риска, не таймер запрета убийства.</a:t>
            </a:r>
          </a:p>
          <a:p xmlns:a="http://schemas.openxmlformats.org/drawingml/2006/main">
            <a:r>
              <a:t>- **I15** Не оставлять искусственно 1 HP, не отказываться от очевидного добивания, не выравнивать счёт. Ключевой фраг создаёт ошибка/ловушка/позиция и может запустить серию 5:0.</a:t>
            </a:r>
          </a:p>
          <a:p xmlns:a="http://schemas.openxmlformats.org/drawingml/2006/main">
            <a:r>
              <a:t>- **I16** Найти демки с долгим 0:0, разменами, первым ключевым фрагом, перехватом контроля, проигрышем перед overtime, наказанием погони, обходом и атакой в спину. Извлекать решения, не сценарий счёта.</a:t>
            </a:r>
          </a:p>
          <a:p xmlns:a="http://schemas.openxmlformats.org/drawingml/2006/main">
            <a:r>
              <a:t>- **I17** Калибровочный контекст: владелец почти всегда побеждает штатного Xaero 5, но без контроля испытывает трудности, особенно на респаунах. Это ориентир испытаний, не готовая численная оценка.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J. Характер, расслабление и forfeit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**J01** Иногда бот играет хуже, расслабляется, ошибается или безрассудно атакует. Ошибки выглядят человеческими решениями, не техническими сбоями.</a:t>
            </a:r>
          </a:p>
          <a:p xmlns:a="http://schemas.openxmlformats.org/drawingml/2006/main">
            <a:r>
              <a:t>- **J02** При преимуществе вроде 20:0 может ослабить контроль и дать игроку шансы на примерно 5–10 фрагов. Итог не гарантирован и не выставляется скриптом.</a:t>
            </a:r>
          </a:p>
          <a:p xmlns:a="http://schemas.openxmlformats.org/drawingml/2006/main">
            <a:r>
              <a:t>- **J03** Сильный тильт с потерей собственного лидерства вплоть до поражения: актуальный ориентир 1–2 матча на 10–15 игр. Ранние 1–2 на 100 сохранены только в истории правок.</a:t>
            </a:r>
          </a:p>
          <a:p xmlns:a="http://schemas.openxmlformats.org/drawingml/2006/main">
            <a:r>
              <a:t>- **J04** Это целевая частота состояния, не принудительный проигрыш. Выбор состояния на уровне матча/эпизода, не каждый кадр. Уточнить вероятность и условия по тестам.</a:t>
            </a:r>
          </a:p>
          <a:p xmlns:a="http://schemas.openxmlformats.org/drawingml/2006/main">
            <a:r>
              <a:t>- **J05** При доминировании игрока 5:0, 6:0, 10:0, то есть бот отстаёт 0:5/0:6/0:10, возможен forfeit через поведение: 100 HP с респа, первое доступное оружие, немедленная атака.</a:t>
            </a:r>
          </a:p>
          <a:p xmlns:a="http://schemas.openxmlformats.org/drawingml/2006/main">
            <a:r>
              <a:t>- **J06** В forfeit прекращается нормальный сбор, восстановление и подготовка. Может случайно взять 1–2 фрага, но это не обязано возвращать его к полноценной игре.</a:t>
            </a:r>
          </a:p>
          <a:p xmlns:a="http://schemas.openxmlformats.org/drawingml/2006/main">
            <a:r>
              <a:t>- **J07** Поведенческая сдача отличается от осторожного pressure_retreat, где бот хочет восстановиться и вернуться. Состояния взаимоисключаются.</a:t>
            </a:r>
          </a:p>
          <a:p xmlns:a="http://schemas.openxmlformats.org/drawingml/2006/main">
            <a:r>
              <a:t>- **J08** Выход из матча отдельный: соперник достиг примерно 30 фрагов и имеется крупное отставание. Примеры бот:игрок: 15:30 может остаться; дефицит больше 15–20 ориентир 50%; 5:30 ориентир 90%.</a:t>
            </a:r>
          </a:p>
          <a:p xmlns:a="http://schemas.openxmlformats.org/drawingml/2006/main">
            <a:r>
              <a:t>- **J09** Эти примеры не задают полную функцию. Предложить непротиворечивую таблицу/кривую и согласовать до включения автоматического выхода. Не выводить промежуточные вероятности как уже утверждённые.</a:t>
            </a:r>
          </a:p>
          <a:p xmlns:a="http://schemas.openxmlformats.org/drawingml/2006/main">
            <a:r>
              <a:t>- **J10** Вероятность проверить один раз при достижении согласованных условий, сохранять решение до сброса матча. Повторный roll каждый тик недопустим.</a:t>
            </a:r>
          </a:p>
          <a:p xmlns:a="http://schemas.openxmlformats.org/drawingml/2006/main">
            <a:r>
              <a:t>- **J11** Проверить жизненный цикл: autofill не должен немедленно вернуть ушедшего бота. До проверки можно реализовать решение без исполнительного выхода.</a:t>
            </a:r>
          </a:p>
          <a:p xmlns:a="http://schemas.openxmlformats.org/drawingml/2006/main">
            <a:r>
              <a:t>- **J12** Команду кика пока отложить. Правило реванша позже разрешено отдельно. Приоритеты состояния, тактики, мести и чата документировать, не выдавать одновременно несовместимые команды.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K. Чат и ответные действия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**K01** Существующий почти готовый чат использовать как единую систему. На грубость человека бот может грубить в ответ, связывать реплики с реальными событиями.</a:t>
            </a:r>
          </a:p>
          <a:p xmlns:a="http://schemas.openxmlformats.org/drawingml/2006/main">
            <a:r>
              <a:t>- **K02** Спортивные сообщения gl, hf, glhf, gl hf, good luck, have fun, gg, gg wp, wp, «удачи», «хорошей игры» распознавать после нормализации регистра/цветов и по словам, не случайным подстрокам.</a:t>
            </a:r>
          </a:p>
          <a:p xmlns:a="http://schemas.openxmlformats.org/drawingml/2006/main">
            <a:r>
              <a:t>- **K03** Ответ вежливый и взаимный, иногда с добрым приколом: «GL HF!», «Спасибо, тебе тоже!», «GG, хорошая игра», «Только Мегу мне оставь :)». Спортивное поведение работает независимо от раздражения.</a:t>
            </a:r>
          </a:p>
          <a:p xmlns:a="http://schemas.openxmlformats.org/drawingml/2006/main">
            <a:r>
              <a:t>- **K04** Учитывать контекст начала/конца, не отвечать себе и другим ботам, дедупликация и общий cooldown исключают бесконечный обмен.</a:t>
            </a:r>
          </a:p>
          <a:p xmlns:a="http://schemas.openxmlformats.org/drawingml/2006/main">
            <a:r>
              <a:t>- **K05** Gauntlet/пила: различать выбор оружия, достоверную близкую атаку и фактический damage. Один equip не вызывает реакцию, близкий промах только при надёжном определении.</a:t>
            </a:r>
          </a:p>
          <a:p xmlns:a="http://schemas.openxmlformats.org/drawingml/2006/main">
            <a:r>
              <a:t>- **K06** После подтверждённого удара возможны «Убери свой ножик», «Теперь моя очередь», «Хочешь на пилах? Запомнил». Предложенные начальные настройки: 70% и ≥30 с, без одинаковой фразы подряд.</a:t>
            </a:r>
          </a:p>
          <a:p xmlns:a="http://schemas.openxmlformats.org/drawingml/2006/main">
            <a:r>
              <a:t>- **K07** Месть: накапливать урон конкретного игрока; актуальный предложенный порог 50, тестовый 25. Ранние 50–100 уточнены. Проверить, damage означает HP или HP+armor.</a:t>
            </a:r>
          </a:p>
          <a:p xmlns:a="http://schemas.openxmlformats.org/drawingml/2006/main">
            <a:r>
              <a:t>- **K08** gauntlet_revenge действует предложенные 90 с, цель — хотя бы одно убийство перчаткой. Оценка HP цели ≤50, близкий достижимый контакт и видимость запускают обязательную попытку, не гарантированное попадание/убийство.</a:t>
            </a:r>
          </a:p>
          <a:p xmlns:a="http://schemas.openxmlformats.org/drawingml/2006/main">
            <a:r>
              <a:t>- **K09** Не бежать с перчаткой через всю карту, прекратить опасную попытку/потерю контакта, не отменять цель после одного промаха. Подтверждённый gauntlet kill завершает цель.</a:t>
            </a:r>
          </a:p>
          <a:p xmlns:a="http://schemas.openxmlformats.org/drawingml/2006/main">
            <a:r>
              <a:t>- **K10** Трупы: исходно никогда не добивает. Первые два намеренных эпизода повреждения его трупов игнорирует, после третьего corpse_retaliation и одна реплика: «Чем тебе мой труп помешал?» / «С живым мной сразись».</a:t>
            </a:r>
          </a:p>
          <a:p xmlns:a="http://schemas.openxmlformats.org/drawingml/2006/main">
            <a:r>
              <a:t>- **K11** Очередь по одному трупу считается одним эпизодом. Не считать killing shot, damage живому, auto-gib при смерти и недостоверную случайность. Использовать консервативное распознавание.</a:t>
            </a:r>
          </a:p>
          <a:p xmlns:a="http://schemas.openxmlformats.org/drawingml/2006/main">
            <a:r>
              <a:t>- **K12** После активации может коротко добить следующий доступный труп этого соперника после своей победы, если безопасно, максимум 1 с; затем продолжить игру, без обязательной новой реплики.</a:t>
            </a:r>
          </a:p>
          <a:p xmlns:a="http://schemas.openxmlformats.org/drawingml/2006/main">
            <a:r>
              <a:t>- **K13** corpse_retaliation действует до конца матча. Персональные счётчики/месть/реплики сбрасываются в новом матче, обрабатывать отключение/смену команды.</a:t>
            </a:r>
          </a:p>
          <a:p xmlns:a="http://schemas.openxmlformats.org/drawingml/2006/main">
            <a:r>
              <a:t>- **K14** Предложенные настройки антиспама: общий интервал ≥20 с; предметы/оружие суммарно ≥120 с и шанс 10% на подходящее событие. Перчатка/трупы приоритетнее редкого комментария про rail/MH/RA/rocket.</a:t>
            </a:r>
          </a:p>
          <a:p xmlns:a="http://schemas.openxmlformats.org/drawingml/2006/main">
            <a:r>
              <a:t>- **K15** Если чат занят, событийную реплику ненадолго отложить, не копить устаревшую очередь. Все параметры конфигурируемые, диагностика только в журнале.</a:t>
            </a:r>
          </a:p>
          <a:p xmlns:a="http://schemas.openxmlformats.org/drawingml/2006/main">
            <a:r>
              <a:t>- **K16** В конце дуэли один вопрос «GG! Реванш?». Только явное согласие разрешает следующий матч; gg само по себе не согласие. Поздняя правка разрешила вопрос, остальные команды дуэли/кика отложены.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L. Пять уровней сложности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**L01** Сложность задаёт границы навыков, реакцию, точность всех пушек, качество movement, ошибку исполнения, разнообразие решений/маршрутов, контроль, комбо и spawntrap.</a:t>
            </a:r>
          </a:p>
          <a:p xmlns:a="http://schemas.openxmlformats.org/drawingml/2006/main">
            <a:r>
              <a:t>- **L02** 1 I Can Win: низкая точность и медленная реакция, почти нет распрыжки, без сложных tricks. Для некоторых предметов отдельный простой RJ. Простые маршруты/пропуски пушек и предметов, без намеренных combo/spawntrap.</a:t>
            </a:r>
          </a:p>
          <a:p xmlns:a="http://schemas.openxmlformats.org/drawingml/2006/main">
            <a:r>
              <a:t>- **L03** 2 Bring It On: предложенная промежуточная градация. Базовый strafe с потерями скорости, простые освоенные RJ, более широкий выбор маршрутов/оружия, простые switch, без систематического spawntrap.</a:t>
            </a:r>
          </a:p>
          <a:p xmlns:a="http://schemas.openxmlformats.org/drawingml/2006/main">
            <a:r>
              <a:t>- **L04** 3 Hurt Me Plenty: стартовый уровень для нового игрока, образ полупрофи. Уверенная распрыжка, изученные tricks, RJ, боевой strafe и человеческие ошибки. Combo, контроль, до 1–2 spawntrap-эпизодов за матч.</a:t>
            </a:r>
          </a:p>
          <a:p xmlns:a="http://schemas.openxmlformats.org/drawingml/2006/main">
            <a:r>
              <a:t>- **L05** 4 Hardcore: предложенная промежуточная градация. Устойчивый быстрый мувмент, больше tricks, лучше aim/tracking/lead, вариативные решения, combo, чтение циклов и использование окон респауна.</a:t>
            </a:r>
          </a:p>
          <a:p xmlns:a="http://schemas.openxmlformats.org/drawingml/2006/main">
            <a:r>
              <a:t>- **L06** 5 Nightmare / Кошмар: лучшее исполнение внутри человеческого профиля и утверждённой точности. Лучшие контроль/прогноз/комбо, но человеческая реакция, ошибки и возможность обхода.</a:t>
            </a:r>
          </a:p>
          <a:p xmlns:a="http://schemas.openxmlformats.org/drawingml/2006/main">
            <a:r>
              <a:t>- **L07** Все уровни используют одинаковую реальную физику, damage, HP/armor и размеры цели. Не повышать сложность скрытыми физическими преимуществами.</a:t>
            </a:r>
          </a:p>
          <a:p xmlns:a="http://schemas.openxmlformats.org/drawingml/2006/main">
            <a:r>
              <a:t>- **L08** Адаптация слабый/сильный/наглый/осторожный действует внутри каждого уровня. Бот lvl1 не получает сложные прыжки или spawntrap от одного давления.</a:t>
            </a:r>
          </a:p>
          <a:p xmlns:a="http://schemas.openxmlformats.org/drawingml/2006/main">
            <a:r>
              <a:t>- **L09** Профиль каждого уровня хранит разрешённые приёмы, диапазоны aim и исполнения, набор решений, ограничения spawntrap и силу адаптации.</a:t>
            </a:r>
          </a:p>
          <a:p xmlns:a="http://schemas.openxmlformats.org/drawingml/2006/main">
            <a:r>
              <a:t>- **L10** После завершения карты предложить реванш. При явном согласии оценить матч и изменить уровень максимум на ±1 к следующей карте; при близкой игре оставить.</a:t>
            </a:r>
          </a:p>
          <a:p xmlns:a="http://schemas.openxmlformats.org/drawingml/2006/main">
            <a:r>
              <a:t>- **L11** Тильт, forfeit и намеренное расслабление не считать надёжным свидетельством силы игрока. Не переключать сам уровень сложности посреди карты.</a:t>
            </a:r>
          </a:p>
          <a:p xmlns:a="http://schemas.openxmlformats.org/drawingml/2006/main">
            <a:r>
              <a:t>- **L12** Промежуточные уровни и диапазоны пока проектные предложения. Числовую точность и частоты высоких уровней согласовать по демкам/испытаниям.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История уточнений без потери исходных идей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| Тема | Ранний вариант | Актуальный вариант |</a:t>
            </a:r>
          </a:p>
          <a:p xmlns:a="http://schemas.openxmlformats.org/drawingml/2006/main">
            <a:r>
              <a:t>|---|---|---|</a:t>
            </a:r>
          </a:p>
          <a:p xmlns:a="http://schemas.openxmlformats.org/drawingml/2006/main">
            <a:r>
              <a:t>| Таймеры | Раньше только наблюдаемые подборы | Теперь разрешены точные таймеры всех предметов; WH не разрешён |</a:t>
            </a:r>
          </a:p>
          <a:p xmlns:a="http://schemas.openxmlformats.org/drawingml/2006/main">
            <a:r>
              <a:t>| Тильт с потерей лидерства | 1–2 матча на 100 | Актуально 1–2 на 10–15 игр; исход не гарантируется |</a:t>
            </a:r>
          </a:p>
          <a:p xmlns:a="http://schemas.openxmlformats.org/drawingml/2006/main">
            <a:r>
              <a:t>| Полный контроль | Включать при равной игре/отставании | Тотальный сбор редкий, 1–2/10; усиление против сильного внутри ограничения |</a:t>
            </a:r>
          </a:p>
          <a:p xmlns:a="http://schemas.openxmlformats.org/drawingml/2006/main">
            <a:r>
              <a:t>| Перчатка | Реакция на equip; порог 50–100 | Надёжный damage; предложено 50, тест 25; обязательная попытка при условиях |</a:t>
            </a:r>
          </a:p>
          <a:p xmlns:a="http://schemas.openxmlformats.org/drawingml/2006/main">
            <a:r>
              <a:t>| Трупы | Сразу отвечать | Первые 2 эпизода игнор, с 3-го ответ |</a:t>
            </a:r>
          </a:p>
          <a:p xmlns:a="http://schemas.openxmlformats.org/drawingml/2006/main">
            <a:r>
              <a:t>| Реванш | Общение/запрос дуэли отложены | Позже разрешён один вопрос в конце; kick и остальные команды отложены |</a:t>
            </a:r>
          </a:p>
          <a:p xmlns:a="http://schemas.openxmlformats.org/drawingml/2006/main">
            <a:r>
              <a:t>| Spawntrap | 2–3 подряд, несколько раз | Серия до 2–3; lvl1 нет, lvl3 до 1–2 эпизодов; точное знание отдельная опция |</a:t>
            </a:r>
          </a:p>
          <a:p xmlns:a="http://schemas.openxmlformats.org/drawingml/2006/main">
            <a:r>
              <a:t>| Мувмент-источники | Допускались видео | Последний запрос: текстовые статьи, максимум изображения |</a:t>
            </a:r>
          </a:p>
          <a:p xmlns:a="http://schemas.openxmlformats.org/drawingml/2006/main">
            <a:r>
              <a:t>| Точность под давлением | Обычное снижение | Позже усиление против сильного: нужен отдельный контррежим, границы ещё согласовать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Оценка связности логики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Это качественный разбор требований, без выдуманного процента готовности.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| Область | Оценка | Что учитывать |</a:t>
            </a:r>
          </a:p>
          <a:p xmlns:a="http://schemas.openxmlformats.org/drawingml/2006/main">
            <a:r>
              <a:t>|---|---|---|</a:t>
            </a:r>
          </a:p>
          <a:p xmlns:a="http://schemas.openxmlformats.org/drawingml/2006/main">
            <a:r>
              <a:t>| Человекоподобие | Сильная концепция | Ошибки решений, слышимость, обходы и ограниченная память делают поведение читаемым. |</a:t>
            </a:r>
          </a:p>
          <a:p xmlns:a="http://schemas.openxmlformats.org/drawingml/2006/main">
            <a:r>
              <a:t>| Адаптация | Требует устойчивых переходов | Несколько окон наблюдений, hysteresis и ограничение текущим уровнем исключают качели. |</a:t>
            </a:r>
          </a:p>
          <a:p xmlns:a="http://schemas.openxmlformats.org/drawingml/2006/main">
            <a:r>
              <a:t>| Точность | Нужны данные и согласование | Снижение под давлением конфликтует с усилением против сильного. Предлагается отдельный режим, не скрытое изменение. |</a:t>
            </a:r>
          </a:p>
          <a:p xmlns:a="http://schemas.openxmlformats.org/drawingml/2006/main">
            <a:r>
              <a:t>| Тотальный контроль | Есть ограничение и конфликт | Запрос фул-контроля при давлении следует совместить с редкостью 1–2/10; не считать оба безусловными. |</a:t>
            </a:r>
          </a:p>
          <a:p xmlns:a="http://schemas.openxmlformats.org/drawingml/2006/main">
            <a:r>
              <a:t>| Честная информация | Явные тренировочные исключения | Точные таймеры/будущий респ отделить от запрещённых скрытых HP и live positions. |</a:t>
            </a:r>
          </a:p>
          <a:p xmlns:a="http://schemas.openxmlformats.org/drawingml/2006/main">
            <a:r>
              <a:t>| Тильт и выход | Нужна калибровка | 1–2/10–15 не стоит называть крайне редким. Выход 50%/90% пока примеры, функция не согласована. |</a:t>
            </a:r>
          </a:p>
          <a:p xmlns:a="http://schemas.openxmlformats.org/drawingml/2006/main">
            <a:r>
              <a:t>| Долгий равный матч | Цель, не гарантия | Дистанция и риск могут дать долгий 0:0, искусственный запрет фрага разрушает тренировочный смысл. |</a:t>
            </a:r>
          </a:p>
          <a:p xmlns:a="http://schemas.openxmlformats.org/drawingml/2006/main">
            <a:r>
              <a:t>| Готовность реализации | Не оценивалась в этом пакете | Схема отражает требования. Последняя доступная запись: policy/tests есть, реальное управление в QL ещё требовало подтверждения.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Предлагаемый порядок разрешения конфликтов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Это рекомендация для реализации, её нужно документировать в коде: сначала ограничения информации/физики и профиль уровня; затем завершение матча/решение о выходе; затем взаимоисключающий поведенческий режим; затем тактическая цель и оружие; затем исполнение движения/стрельбы. Месть и чат работают как ограниченные дополнительные цели. Forfeit не выдаёт одновременно маршрут осторожного восстановления. Входы/выходы состояний имеют выдержку и журнал причин.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Проверка и дальнейшая работа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Аудит проекта и подтверждение реального адаптера управления.</a:t>
            </a:r>
          </a:p>
          <a:p xmlns:a="http://schemas.openxmlformats.org/drawingml/2006/main">
            <a:r>
              <a:t>2. Одна карта, одна размеченная сольная демка, один маршрут и RJ.</a:t>
            </a:r>
          </a:p>
          <a:p xmlns:a="http://schemas.openxmlformats.org/drawingml/2006/main">
            <a:r>
              <a:t>3. Проверка движения, стрельбы, выбора оружия и combo.</a:t>
            </a:r>
          </a:p>
          <a:p xmlns:a="http://schemas.openxmlformats.org/drawingml/2006/main">
            <a:r>
              <a:t>4. Предметный цикл, повторяющиеся маршруты, spawntrap с ограничениями сложности.</a:t>
            </a:r>
          </a:p>
          <a:p xmlns:a="http://schemas.openxmlformats.org/drawingml/2006/main">
            <a:r>
              <a:t>5. Адаптация слабый/сильный/агрессивный/осторожный и смена стиля посреди матча.</a:t>
            </a:r>
          </a:p>
          <a:p xmlns:a="http://schemas.openxmlformats.org/drawingml/2006/main">
            <a:r>
              <a:t>6. Реакции на gauntlet/corpse/chat и сброс персональных состояний.</a:t>
            </a:r>
          </a:p>
          <a:p xmlns:a="http://schemas.openxmlformats.org/drawingml/2006/main">
            <a:r>
              <a:t>7. Тихий обход, атака в спину, исчезновение цели и ошибочный прогноз.</a:t>
            </a:r>
          </a:p>
          <a:p xmlns:a="http://schemas.openxmlformats.org/drawingml/2006/main">
            <a:r>
              <a:t>8. Расчёт точности, согласование диапазонов и функции выхода.</a:t>
            </a:r>
          </a:p>
          <a:p xmlns:a="http://schemas.openxmlformats.org/drawingml/2006/main">
            <a:r>
              <a:t>9. По отдельной команде владельца игровые испытания. Policy unit tests не доказывают работу интеграции.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Метрики: успешность/время маршрута, скорость, приземление, HP/armor, застревания, длительность боёв, успешность отходов, повторяемость, смены режимов, реализованные spawntrap, причины действий, чатовый спам, источники знаний и возможность застать бота врасплох.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Последняя доступная запись о проекте: C++-политика, MSVC-сборка, тесты и чат существовали, реальное исполнение управления в Quake Live ещё требовало подтверждения. В этом графическом пакете свежий аудит кода не проводился.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Ссылки из переписки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 ниже сохранены как библиотека для исследования. В этом задании мы не повторяли сетевую проверку и не скачивали репозитории. Наличие ссылки не доказывает переносимость или рабочую интеграцию.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[Strafing Theory — injx](https://www.artifexquake.com/?page_id=186) — single-beat, half-beat, теория ускорения.</a:t>
            </a:r>
          </a:p>
          <a:p xmlns:a="http://schemas.openxmlformats.org/drawingml/2006/main">
            <a:r>
              <a:t>2. [Circle-Jump Theory — injx](https://www.artifexquake.com/?page_id=184) — prestrafe, circle jump, различия VQ3/CPM.</a:t>
            </a:r>
          </a:p>
          <a:p xmlns:a="http://schemas.openxmlformats.org/drawingml/2006/main">
            <a:r>
              <a:t>3. [The Ultimate Quake Live Guide — Yakumo](https://steamcommunity.com/sharedfiles/filedetails/?id=315482318) — текст движения, RJ, plasma jump/climb.</a:t>
            </a:r>
          </a:p>
          <a:p xmlns:a="http://schemas.openxmlformats.org/drawingml/2006/main">
            <a:r>
              <a:t>4. [Quake III Arena FAQ — Delta](https://gamefaqs.gamespot.com/pc/192047-quake-iii-arena/faqs/10194) — дополнительное текстовое описание RJ.</a:t>
            </a:r>
          </a:p>
          <a:p xmlns:a="http://schemas.openxmlformats.org/drawingml/2006/main">
            <a:r>
              <a:t>5. [Markdown-копия Strafing Theory](https://github.com/5xp/strafe-theory/blob/master/strafing-theory.md) — копия, не независимый источник.</a:t>
            </a:r>
          </a:p>
          <a:p xmlns:a="http://schemas.openxmlformats.org/drawingml/2006/main">
            <a:r>
              <a:t>6. [Markdown-копия Circle-Jump Theory](https://github.com/5xp/strafe-theory/blob/master/circle-jump-theory.md) — копия, не независимый источник.</a:t>
            </a:r>
          </a:p>
          <a:p xmlns:a="http://schemas.openxmlformats.org/drawingml/2006/main">
            <a:r>
              <a:t>7. [Quake III Arena source](https://github.com/id-Software/Quake-III-Arena) — game AI, botlib, ai_chat.</a:t>
            </a:r>
          </a:p>
          <a:p xmlns:a="http://schemas.openxmlformats.org/drawingml/2006/main">
            <a:r>
              <a:t>8. [ioquake3](https://github.com/ioquake/ioq3) — движок и бот-основа Q3.</a:t>
            </a:r>
          </a:p>
          <a:p xmlns:a="http://schemas.openxmlformats.org/drawingml/2006/main">
            <a:r>
              <a:t>9. [Brainworks](https://github.com/NuclearMonster/quake3-brainworks) — движение, восприятие, уклонения, предметы.</a:t>
            </a:r>
          </a:p>
          <a:p xmlns:a="http://schemas.openxmlformats.org/drawingml/2006/main">
            <a:r>
              <a:t>10. [SpiterBot RC9 Hotfix](https://www.moddb.com/downloads/spiterbot-rc9-hotfix-1) — аналог Q3, исходники не подтверждены.</a:t>
            </a:r>
          </a:p>
          <a:p xmlns:a="http://schemas.openxmlformats.org/drawingml/2006/main">
            <a:r>
              <a:t>11. [CPMA](https://playmorepromode.com/downloads) — сравнение ботов, другая физика.</a:t>
            </a:r>
          </a:p>
          <a:p xmlns:a="http://schemas.openxmlformats.org/drawingml/2006/main">
            <a:r>
              <a:t>12. [Hopper 2.2](https://www.moddb.com/mods/quake3-hopper/downloads/quake3-arena-hopper-engine-version-22) — изучать навигацию, не копировать отмену self-damage.</a:t>
            </a:r>
          </a:p>
          <a:p xmlns:a="http://schemas.openxmlformats.org/drawingml/2006/main">
            <a:r>
              <a:t>13. [QuakeLiveInterface](https://github.com/cainky/QuakeLiveInterface) — интерфейс наблюдения/управления, исполнение отдельно проверить.</a:t>
            </a:r>
          </a:p>
          <a:p xmlns:a="http://schemas.openxmlformats.org/drawingml/2006/main">
            <a:r>
              <a:t>14. [WinQLX](https://github.com/locopol/WinQLX32) — Windows x86, ограничения совместимости.</a:t>
            </a:r>
          </a:p>
          <a:p xmlns:a="http://schemas.openxmlformats.org/drawingml/2006/main">
            <a:r>
              <a:t>15. [minqlxtended](https://github.com/tjone270/minqlxtended) — расширение серверной интеграции.</a:t>
            </a:r>
          </a:p>
          <a:p xmlns:a="http://schemas.openxmlformats.org/drawingml/2006/main">
            <a:r>
              <a:t>16. [wolfcamql](https://github.com/brugal/wolfcamql) — QL demo playback и анализ.</a:t>
            </a:r>
          </a:p>
          <a:p xmlns:a="http://schemas.openxmlformats.org/drawingml/2006/main">
            <a:r>
              <a:t>17. [ioquakelive](https://github.com/tjone270/ioquakelive) — экспериментальная реконструкция.</a:t>
            </a:r>
          </a:p>
          <a:p xmlns:a="http://schemas.openxmlformats.org/drawingml/2006/main">
            <a:r>
              <a:t>18. [FnQL technical](https://github.com/themuffinator/FnQL/blob/main/docs/fnql/TECHNICAL.md) — совместимость движка, не готовая замена gamecode.</a:t>
            </a:r>
          </a:p>
          <a:p xmlns:a="http://schemas.openxmlformats.org/drawingml/2006/main">
            <a:r>
              <a:t>19. [QL API](https://github.com/quakelive-server-standards/ql-api) — RCON/статистика, не управление движением.</a:t>
            </a:r>
          </a:p>
          <a:p xmlns:a="http://schemas.openxmlformats.org/drawingml/2006/main">
            <a:r>
              <a:t>20. [QL documentation](https://github.com/tjone270/Quake-Live/tree/master/documentation) — неполная общественная документация.</a:t>
            </a:r>
          </a:p>
          <a:p xmlns:a="http://schemas.openxmlformats.org/drawingml/2006/main">
            <a:r>
              <a:t>21. [UberDemoTools](https://github.com/mightycow/uberdemotools) — разбор демок QL.</a:t>
            </a:r>
          </a:p>
          <a:p xmlns:a="http://schemas.openxmlformats.org/drawingml/2006/main">
            <a:r>
              <a:t>22. [UDT custom parsing](https://github.com/mightycow/uberdemotools/blob/develop/CUSTOM_PARSING.md) — добавление извлечения событий.</a:t>
            </a:r>
          </a:p>
          <a:p xmlns:a="http://schemas.openxmlformats.org/drawingml/2006/main">
            <a:r>
              <a:t>23. [Scala QL Demo Parser](https://github.com/vincasmiliunas/Quake-Live-Demo-Parser) — альтернативный low-level parser.</a:t>
            </a:r>
          </a:p>
          <a:p xmlns:a="http://schemas.openxmlformats.org/drawingml/2006/main">
            <a:r>
              <a:t>24. [qldt](https://github.com/redrumrobot/qldt) — старые протоколы dm73/dm68.</a:t>
            </a:r>
          </a:p>
          <a:p xmlns:a="http://schemas.openxmlformats.org/drawingml/2006/main">
            <a:r>
              <a:t>25. [BobbyBones, публикация автора](https://www.reddit.com/r/quake/comments/1wyqngx/bobbybones_a_quake_live_bot_that_learns/) — исследовательская зацепка, скачивание/исходники не подтверждены.</a:t>
            </a:r>
          </a:p>
          <a:p xmlns:a="http://schemas.openxmlformats.org/drawingml/2006/main">
            <a:r>
              <a:t>26. [DeepMind Q3 CTF](https://arxiv.org/abs/1807.01281) — исследование RL, не готовый дуэльный бот QL.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Границы сводки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Дубли логики объединены. Обсуждение входа в редактор и размытия текста сохранено в архиве переписки, но не превращено в функции бота. Утверждение о том, что аналогов вообще нет, остаётся предположением владельца, не проверенным фактом.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 исходных требований: сообщения владельца и задания ассистента в чате «Разработка PsYz0r-bot», до 09.10.2026.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3f65e49d90e492b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dbb86f7fd5546a1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02991a3d0874057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197725f70f14f95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aba2a6b0dab4d68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2752817831f490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C370E9C-D14B-4580-9ED2-903DD956907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745382" y="7074611"/>
            <a:ext cx="29963059" cy="27049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1310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BE4947DF-1368-4021-A111-83EE0A25987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5618074" y="10299802"/>
            <a:ext cx="26217677" cy="20807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573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2CFC0FE7-C7A5-46A7-88E7-AF61C797086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745382" y="7802880"/>
            <a:ext cx="29963059" cy="31211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11469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69FE264-A6D1-4093-9976-1B27B8A8AA2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106778" y="1456538"/>
            <a:ext cx="33240269" cy="22888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901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6A659B6F-6B96-46BF-98FE-A202D9C5F28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2106778" y="5201920"/>
            <a:ext cx="33240269" cy="116523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614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624230" indent="-624230">
              <a:lnSpc>
                <a:spcPct val="110000"/>
              </a:lnSpc>
              <a:spcBef>
                <a:spcPts val="0"/>
              </a:spcBef>
              <a:spcAft>
                <a:spcPts val="3277"/>
              </a:spcAft>
              <a:buChar char="•"/>
            </a:lvl1pPr>
            <a:lvl2pPr marL="1456538" indent="-624230">
              <a:lnSpc>
                <a:spcPct val="110000"/>
              </a:lnSpc>
              <a:spcBef>
                <a:spcPts val="0"/>
              </a:spcBef>
              <a:spcAft>
                <a:spcPts val="3277"/>
              </a:spcAft>
              <a:buChar char="•"/>
            </a:lvl2pPr>
            <a:lvl3pPr marL="2288845" indent="-624230">
              <a:lnSpc>
                <a:spcPct val="110000"/>
              </a:lnSpc>
              <a:spcBef>
                <a:spcPts val="0"/>
              </a:spcBef>
              <a:spcAft>
                <a:spcPts val="3277"/>
              </a:spcAft>
              <a:buChar char="•"/>
            </a:lvl3pPr>
            <a:lvl4pPr marL="3121152" indent="-624230">
              <a:lnSpc>
                <a:spcPct val="110000"/>
              </a:lnSpc>
              <a:spcBef>
                <a:spcPts val="0"/>
              </a:spcBef>
              <a:spcAft>
                <a:spcPts val="3277"/>
              </a:spcAft>
              <a:buChar char="•"/>
            </a:lvl4pPr>
            <a:lvl5pPr marL="3953459" indent="-624230">
              <a:lnSpc>
                <a:spcPct val="110000"/>
              </a:lnSpc>
              <a:spcBef>
                <a:spcPts val="0"/>
              </a:spcBef>
              <a:spcAft>
                <a:spcPts val="3277"/>
              </a:spcAft>
              <a:buChar char="•"/>
            </a:lvl5pPr>
            <a:lvl6pPr marL="4785766" indent="-624230">
              <a:lnSpc>
                <a:spcPct val="110000"/>
              </a:lnSpc>
              <a:spcBef>
                <a:spcPts val="0"/>
              </a:spcBef>
              <a:spcAft>
                <a:spcPts val="3277"/>
              </a:spcAft>
              <a:buChar char="•"/>
            </a:lvl6pPr>
            <a:lvl7pPr marL="5618074" indent="-624230">
              <a:lnSpc>
                <a:spcPct val="110000"/>
              </a:lnSpc>
              <a:spcBef>
                <a:spcPts val="0"/>
              </a:spcBef>
              <a:spcAft>
                <a:spcPts val="3277"/>
              </a:spcAft>
              <a:buChar char="•"/>
            </a:lvl7pPr>
            <a:lvl8pPr marL="6450381" indent="-624230">
              <a:lnSpc>
                <a:spcPct val="110000"/>
              </a:lnSpc>
              <a:spcBef>
                <a:spcPts val="0"/>
              </a:spcBef>
              <a:spcAft>
                <a:spcPts val="3277"/>
              </a:spcAft>
              <a:buChar char="•"/>
            </a:lvl8pPr>
            <a:lvl9pPr marL="7282688" indent="-624230">
              <a:lnSpc>
                <a:spcPct val="110000"/>
              </a:lnSpc>
              <a:spcBef>
                <a:spcPts val="0"/>
              </a:spcBef>
              <a:spcAft>
                <a:spcPts val="3277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FA196D2A-1157-4F0A-82DB-04BA83B19A4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106778" y="1456538"/>
            <a:ext cx="33240269" cy="22888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901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3E80348-5BD8-4A73-B070-81E8B209F06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2106778" y="5201920"/>
            <a:ext cx="15449702" cy="116523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573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624230" indent="-624230">
              <a:lnSpc>
                <a:spcPct val="110000"/>
              </a:lnSpc>
              <a:spcBef>
                <a:spcPts val="0"/>
              </a:spcBef>
              <a:spcAft>
                <a:spcPts val="3277"/>
              </a:spcAft>
              <a:buChar char="•"/>
            </a:lvl1pPr>
            <a:lvl2pPr marL="1456538" indent="-624230">
              <a:lnSpc>
                <a:spcPct val="110000"/>
              </a:lnSpc>
              <a:spcBef>
                <a:spcPts val="0"/>
              </a:spcBef>
              <a:spcAft>
                <a:spcPts val="3277"/>
              </a:spcAft>
              <a:buChar char="•"/>
            </a:lvl2pPr>
            <a:lvl3pPr marL="2288845" indent="-624230">
              <a:lnSpc>
                <a:spcPct val="110000"/>
              </a:lnSpc>
              <a:spcBef>
                <a:spcPts val="0"/>
              </a:spcBef>
              <a:spcAft>
                <a:spcPts val="3277"/>
              </a:spcAft>
              <a:buChar char="•"/>
            </a:lvl3pPr>
            <a:lvl4pPr marL="3121152" indent="-624230">
              <a:lnSpc>
                <a:spcPct val="110000"/>
              </a:lnSpc>
              <a:spcBef>
                <a:spcPts val="0"/>
              </a:spcBef>
              <a:spcAft>
                <a:spcPts val="3277"/>
              </a:spcAft>
              <a:buChar char="•"/>
            </a:lvl4pPr>
            <a:lvl5pPr marL="3953459" indent="-624230">
              <a:lnSpc>
                <a:spcPct val="110000"/>
              </a:lnSpc>
              <a:spcBef>
                <a:spcPts val="0"/>
              </a:spcBef>
              <a:spcAft>
                <a:spcPts val="3277"/>
              </a:spcAft>
              <a:buChar char="•"/>
            </a:lvl5pPr>
            <a:lvl6pPr marL="4785766" indent="-624230">
              <a:lnSpc>
                <a:spcPct val="110000"/>
              </a:lnSpc>
              <a:spcBef>
                <a:spcPts val="0"/>
              </a:spcBef>
              <a:spcAft>
                <a:spcPts val="3277"/>
              </a:spcAft>
              <a:buChar char="•"/>
            </a:lvl6pPr>
            <a:lvl7pPr marL="5618074" indent="-624230">
              <a:lnSpc>
                <a:spcPct val="110000"/>
              </a:lnSpc>
              <a:spcBef>
                <a:spcPts val="0"/>
              </a:spcBef>
              <a:spcAft>
                <a:spcPts val="3277"/>
              </a:spcAft>
              <a:buChar char="•"/>
            </a:lvl7pPr>
            <a:lvl8pPr marL="6450381" indent="-624230">
              <a:lnSpc>
                <a:spcPct val="110000"/>
              </a:lnSpc>
              <a:spcBef>
                <a:spcPts val="0"/>
              </a:spcBef>
              <a:spcAft>
                <a:spcPts val="3277"/>
              </a:spcAft>
              <a:buChar char="•"/>
            </a:lvl8pPr>
            <a:lvl9pPr marL="7282688" indent="-624230">
              <a:lnSpc>
                <a:spcPct val="110000"/>
              </a:lnSpc>
              <a:spcBef>
                <a:spcPts val="0"/>
              </a:spcBef>
              <a:spcAft>
                <a:spcPts val="3277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89F95948-CCA4-41F6-BEB2-44B1BA6CB0C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9897344" y="5201920"/>
            <a:ext cx="15449702" cy="116523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573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624230" indent="-624230">
              <a:lnSpc>
                <a:spcPct val="110000"/>
              </a:lnSpc>
              <a:spcBef>
                <a:spcPts val="0"/>
              </a:spcBef>
              <a:spcAft>
                <a:spcPts val="3277"/>
              </a:spcAft>
              <a:buChar char="•"/>
            </a:lvl1pPr>
            <a:lvl2pPr marL="1456538" indent="-624230">
              <a:lnSpc>
                <a:spcPct val="110000"/>
              </a:lnSpc>
              <a:spcBef>
                <a:spcPts val="0"/>
              </a:spcBef>
              <a:spcAft>
                <a:spcPts val="3277"/>
              </a:spcAft>
              <a:buChar char="•"/>
            </a:lvl2pPr>
            <a:lvl3pPr marL="2288845" indent="-624230">
              <a:lnSpc>
                <a:spcPct val="110000"/>
              </a:lnSpc>
              <a:spcBef>
                <a:spcPts val="0"/>
              </a:spcBef>
              <a:spcAft>
                <a:spcPts val="3277"/>
              </a:spcAft>
              <a:buChar char="•"/>
            </a:lvl3pPr>
            <a:lvl4pPr marL="3121152" indent="-624230">
              <a:lnSpc>
                <a:spcPct val="110000"/>
              </a:lnSpc>
              <a:spcBef>
                <a:spcPts val="0"/>
              </a:spcBef>
              <a:spcAft>
                <a:spcPts val="3277"/>
              </a:spcAft>
              <a:buChar char="•"/>
            </a:lvl4pPr>
            <a:lvl5pPr marL="3953459" indent="-624230">
              <a:lnSpc>
                <a:spcPct val="110000"/>
              </a:lnSpc>
              <a:spcBef>
                <a:spcPts val="0"/>
              </a:spcBef>
              <a:spcAft>
                <a:spcPts val="3277"/>
              </a:spcAft>
              <a:buChar char="•"/>
            </a:lvl5pPr>
            <a:lvl6pPr marL="4785766" indent="-624230">
              <a:lnSpc>
                <a:spcPct val="110000"/>
              </a:lnSpc>
              <a:spcBef>
                <a:spcPts val="0"/>
              </a:spcBef>
              <a:spcAft>
                <a:spcPts val="3277"/>
              </a:spcAft>
              <a:buChar char="•"/>
            </a:lvl6pPr>
            <a:lvl7pPr marL="5618074" indent="-624230">
              <a:lnSpc>
                <a:spcPct val="110000"/>
              </a:lnSpc>
              <a:spcBef>
                <a:spcPts val="0"/>
              </a:spcBef>
              <a:spcAft>
                <a:spcPts val="3277"/>
              </a:spcAft>
              <a:buChar char="•"/>
            </a:lvl7pPr>
            <a:lvl8pPr marL="6450381" indent="-624230">
              <a:lnSpc>
                <a:spcPct val="110000"/>
              </a:lnSpc>
              <a:spcBef>
                <a:spcPts val="0"/>
              </a:spcBef>
              <a:spcAft>
                <a:spcPts val="3277"/>
              </a:spcAft>
              <a:buChar char="•"/>
            </a:lvl8pPr>
            <a:lvl9pPr marL="7282688" indent="-624230">
              <a:lnSpc>
                <a:spcPct val="110000"/>
              </a:lnSpc>
              <a:spcBef>
                <a:spcPts val="0"/>
              </a:spcBef>
              <a:spcAft>
                <a:spcPts val="3277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0C06F2B-800C-43C7-BC12-8C596E363B9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106778" y="1456538"/>
            <a:ext cx="33240269" cy="22888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901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D9EFFC4-B7A9-44DE-8639-18D7466F31B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2106778" y="5201920"/>
            <a:ext cx="15449702" cy="116523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614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624230" indent="-624230">
              <a:lnSpc>
                <a:spcPct val="110000"/>
              </a:lnSpc>
              <a:spcBef>
                <a:spcPts val="0"/>
              </a:spcBef>
              <a:spcAft>
                <a:spcPts val="3277"/>
              </a:spcAft>
              <a:buChar char="•"/>
            </a:lvl1pPr>
            <a:lvl2pPr marL="1456538" indent="-624230">
              <a:lnSpc>
                <a:spcPct val="110000"/>
              </a:lnSpc>
              <a:spcBef>
                <a:spcPts val="0"/>
              </a:spcBef>
              <a:spcAft>
                <a:spcPts val="3277"/>
              </a:spcAft>
              <a:buChar char="•"/>
            </a:lvl2pPr>
            <a:lvl3pPr marL="2288845" indent="-624230">
              <a:lnSpc>
                <a:spcPct val="110000"/>
              </a:lnSpc>
              <a:spcBef>
                <a:spcPts val="0"/>
              </a:spcBef>
              <a:spcAft>
                <a:spcPts val="3277"/>
              </a:spcAft>
              <a:buChar char="•"/>
            </a:lvl3pPr>
            <a:lvl4pPr marL="3121152" indent="-624230">
              <a:lnSpc>
                <a:spcPct val="110000"/>
              </a:lnSpc>
              <a:spcBef>
                <a:spcPts val="0"/>
              </a:spcBef>
              <a:spcAft>
                <a:spcPts val="3277"/>
              </a:spcAft>
              <a:buChar char="•"/>
            </a:lvl4pPr>
            <a:lvl5pPr marL="3953459" indent="-624230">
              <a:lnSpc>
                <a:spcPct val="110000"/>
              </a:lnSpc>
              <a:spcBef>
                <a:spcPts val="0"/>
              </a:spcBef>
              <a:spcAft>
                <a:spcPts val="3277"/>
              </a:spcAft>
              <a:buChar char="•"/>
            </a:lvl5pPr>
            <a:lvl6pPr marL="4785766" indent="-624230">
              <a:lnSpc>
                <a:spcPct val="110000"/>
              </a:lnSpc>
              <a:spcBef>
                <a:spcPts val="0"/>
              </a:spcBef>
              <a:spcAft>
                <a:spcPts val="3277"/>
              </a:spcAft>
              <a:buChar char="•"/>
            </a:lvl6pPr>
            <a:lvl7pPr marL="5618074" indent="-624230">
              <a:lnSpc>
                <a:spcPct val="110000"/>
              </a:lnSpc>
              <a:spcBef>
                <a:spcPts val="0"/>
              </a:spcBef>
              <a:spcAft>
                <a:spcPts val="3277"/>
              </a:spcAft>
              <a:buChar char="•"/>
            </a:lvl7pPr>
            <a:lvl8pPr marL="6450381" indent="-624230">
              <a:lnSpc>
                <a:spcPct val="110000"/>
              </a:lnSpc>
              <a:spcBef>
                <a:spcPts val="0"/>
              </a:spcBef>
              <a:spcAft>
                <a:spcPts val="3277"/>
              </a:spcAft>
              <a:buChar char="•"/>
            </a:lvl8pPr>
            <a:lvl9pPr marL="7282688" indent="-624230">
              <a:lnSpc>
                <a:spcPct val="110000"/>
              </a:lnSpc>
              <a:spcBef>
                <a:spcPts val="0"/>
              </a:spcBef>
              <a:spcAft>
                <a:spcPts val="3277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a5c09a1a6af46ed" /><Relationship Type="http://schemas.openxmlformats.org/officeDocument/2006/relationships/slideLayout" Target="/ppt/slideLayouts/slideLayout1.xml" Id="R4abba72fdee44c20" /><Relationship Type="http://schemas.openxmlformats.org/officeDocument/2006/relationships/slideLayout" Target="/ppt/slideLayouts/slideLayout2.xml" Id="Rae38dc7096174f21" /><Relationship Type="http://schemas.openxmlformats.org/officeDocument/2006/relationships/slideLayout" Target="/ppt/slideLayouts/slideLayout3.xml" Id="Rad6ac9d68b2b4d29" /><Relationship Type="http://schemas.openxmlformats.org/officeDocument/2006/relationships/slideLayout" Target="/ppt/slideLayouts/slideLayout4.xml" Id="R51fcdbc3aede4906" /><Relationship Type="http://schemas.openxmlformats.org/officeDocument/2006/relationships/slideLayout" Target="/ppt/slideLayouts/slideLayout5.xml" Id="R805ed0e86e634ad1" /><Relationship Type="http://schemas.openxmlformats.org/officeDocument/2006/relationships/slideLayout" Target="/ppt/slideLayouts/slideLayout6.xml" Id="R6144e3ec6bcd4fe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abba72fdee44c20"/>
    <p:sldLayoutId xmlns:r="http://schemas.openxmlformats.org/officeDocument/2006/relationships" id="2147483650" r:id="Rae38dc7096174f21"/>
    <p:sldLayoutId xmlns:r="http://schemas.openxmlformats.org/officeDocument/2006/relationships" id="2147483651" r:id="Rad6ac9d68b2b4d29"/>
    <p:sldLayoutId xmlns:r="http://schemas.openxmlformats.org/officeDocument/2006/relationships" id="2147483652" r:id="R51fcdbc3aede4906"/>
    <p:sldLayoutId xmlns:r="http://schemas.openxmlformats.org/officeDocument/2006/relationships" id="2147483653" r:id="R805ed0e86e634ad1"/>
    <p:sldLayoutId xmlns:r="http://schemas.openxmlformats.org/officeDocument/2006/relationships" id="2147483654" r:id="R6144e3ec6bcd4fe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e790c20852c40e8" /><Relationship Type="http://schemas.openxmlformats.org/officeDocument/2006/relationships/chart" Target="/ppt/slides/charts/chart1.xml" Id="R45665a1a9b0043a9" /><Relationship Type="http://schemas.openxmlformats.org/officeDocument/2006/relationships/chart" Target="/ppt/slides/charts/chart2.xml" Id="Raa29f3dfa8714658" /><Relationship Type="http://schemas.openxmlformats.org/officeDocument/2006/relationships/notesSlide" Target="/ppt/notesSlides/notesSlide1.xml" Id="R30be4837cc664742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varyColors val="0"/>
        <c:ser>
          <c:idx val="0"/>
          <c:order val="0"/>
          <c:tx>
            <c:v>Демки</c:v>
          </c:tx>
          <c:spPr>
            <a:solidFill xmlns:a="http://schemas.openxmlformats.org/drawingml/2006/main">
              <a:srgbClr val="81C7F1"/>
            </a:solidFill>
          </c:spPr>
          <c:cat>
            <c:strRef>
              <c:f>'Chart Data'!$A$2:$A$3</c:f>
              <c:strCache>
                <c:ptCount val="2"/>
                <c:pt idx="0">
                  <c:v>PsyRoZa</c:v>
                </c:pt>
                <c:pt idx="1">
                  <c:v>nekitz0r</c:v>
                </c:pt>
              </c:strCache>
            </c:strRef>
          </c:cat>
          <c:val>
            <c:numRef>
              <c:f>'Chart Data'!$B$2:$B$3</c:f>
              <c:numCache>
                <c:formatCode>General</c:formatCode>
                <c:ptCount val="2"/>
                <c:pt idx="0">
                  <c:v>100</c:v>
                </c:pt>
                <c:pt idx="1">
                  <c:v>20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00">
                  <a:solidFill>
                    <a:srgbClr val="F4F7FA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6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6">
                <a:solidFill>
                  <a:srgbClr val="C3CDD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120"/>
          <c:min val="0"/>
        </c:scaling>
        <c:delete val="0"/>
        <c:axPos val="l"/>
        <c:majorGridlines>
          <c:spPr>
            <a:ln xmlns:a="http://schemas.openxmlformats.org/drawingml/2006/main" w="4763">
              <a:solidFill>
                <a:srgbClr val="56758C"/>
              </a:solidFill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40">
                <a:solidFill>
                  <a:srgbClr val="98ABBA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252A30"/>
        </a:solidFill>
      </c:spPr>
    </c:plotArea>
    <c:plotVisOnly val="1"/>
  </c:chart>
  <c:spPr>
    <a:solidFill xmlns:a="http://schemas.openxmlformats.org/drawingml/2006/main">
      <a:srgbClr val="252A30"/>
    </a:solidFill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varyColors val="0"/>
        <c:ser>
          <c:idx val="0"/>
          <c:order val="0"/>
          <c:tx>
            <c:v>Выход, %</c:v>
          </c:tx>
          <c:spPr>
            <a:solidFill xmlns:a="http://schemas.openxmlformats.org/drawingml/2006/main">
              <a:srgbClr val="81C7F1"/>
            </a:solidFill>
          </c:spPr>
          <c:cat>
            <c:strRef>
              <c:f>'Chart Data'!$A$2:$A$3</c:f>
              <c:strCache>
                <c:ptCount val="2"/>
                <c:pt idx="0">
                  <c:v>Разрыв &gt;15–20</c:v>
                </c:pt>
                <c:pt idx="1">
                  <c:v>5:30</c:v>
                </c:pt>
              </c:strCache>
            </c:strRef>
          </c:cat>
          <c:val>
            <c:numRef>
              <c:f>'Chart Data'!$B$2:$B$3</c:f>
              <c:numCache>
                <c:formatCode>General</c:formatCode>
                <c:ptCount val="2"/>
                <c:pt idx="0">
                  <c:v>50</c:v>
                </c:pt>
                <c:pt idx="1">
                  <c:v>90</c:v>
                </c:pt>
              </c:numCache>
            </c:numRef>
          </c:val>
        </c:ser>
        <c:dLbls>
          <c:numFmt formatCode="0&quot;%&quot;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00">
                  <a:solidFill>
                    <a:srgbClr val="F4F7FA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6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68">
                <a:solidFill>
                  <a:srgbClr val="C3CDD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100"/>
          <c:min val="0"/>
        </c:scaling>
        <c:delete val="0"/>
        <c:axPos val="l"/>
        <c:majorGridlines>
          <c:spPr>
            <a:ln xmlns:a="http://schemas.openxmlformats.org/drawingml/2006/main" w="4763">
              <a:solidFill>
                <a:srgbClr val="56758C"/>
              </a:solidFill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40">
                <a:solidFill>
                  <a:srgbClr val="98ABBA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252A30"/>
        </a:solidFill>
      </c:spPr>
    </c:plotArea>
    <c:plotVisOnly val="1"/>
  </c:chart>
  <c:spPr>
    <a:solidFill xmlns:a="http://schemas.openxmlformats.org/drawingml/2006/main">
      <a:srgbClr val="252A30"/>
    </a:solidFill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252A3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58" name="">
            <a:extLst xmlns:a="http://schemas.openxmlformats.org/drawingml/2006/main">
              <a:ext uri="{FF2B5EF4-FFF2-40B4-BE49-F238E27FC236}">
                <a16:creationId xmlns:a16="http://schemas.microsoft.com/office/drawing/2014/main" id="{51AFE1FA-7E60-4BEF-873A-1B728CD5F81B}"/>
              </a:ext>
            </a:extLst>
          </p:cNvPr>
          <p:cNvCxnSpPr>
            <a:stCxn xmlns:a="http://schemas.openxmlformats.org/drawingml/2006/main" id="153" idx="2"/>
            <a:endCxn xmlns:a="http://schemas.openxmlformats.org/drawingml/2006/main" id="156" idx="0"/>
          </p:cNvCxnSpPr>
          <p:nvPr/>
        </p:nvCxnSpPr>
        <p:spPr>
          <a:xfrm xmlns:a="http://schemas.openxmlformats.org/drawingml/2006/main">
            <a:off x="18726912" y="5532120"/>
            <a:ext cx="0" cy="219456"/>
          </a:xfrm>
          <a:prstGeom xmlns:a="http://schemas.openxmlformats.org/drawingml/2006/main" prst="straightConnector1">
            <a:avLst/>
          </a:prstGeom>
          <a:ln xmlns:a="http://schemas.openxmlformats.org/drawingml/2006/main" w="18288">
            <a:solidFill>
              <a:srgbClr val="81C7F1"/>
            </a:solidFill>
            <a:tailEnd type="arrow" w="med" len="med"/>
          </a:ln>
        </p:spPr>
      </p:cxnSp>
      <p:cxnSp>
        <p:nvCxnSpPr>
          <p:cNvPr id="155" name="">
            <a:extLst xmlns:a="http://schemas.openxmlformats.org/drawingml/2006/main">
              <a:ext uri="{FF2B5EF4-FFF2-40B4-BE49-F238E27FC236}">
                <a16:creationId xmlns:a16="http://schemas.microsoft.com/office/drawing/2014/main" id="{80BEA00C-664A-4C9C-9964-DC8D62A5767C}"/>
              </a:ext>
            </a:extLst>
          </p:cNvPr>
          <p:cNvCxnSpPr>
            <a:stCxn xmlns:a="http://schemas.openxmlformats.org/drawingml/2006/main" id="150" idx="2"/>
            <a:endCxn xmlns:a="http://schemas.openxmlformats.org/drawingml/2006/main" id="153" idx="0"/>
          </p:cNvCxnSpPr>
          <p:nvPr/>
        </p:nvCxnSpPr>
        <p:spPr>
          <a:xfrm xmlns:a="http://schemas.openxmlformats.org/drawingml/2006/main">
            <a:off x="18726912" y="4828032"/>
            <a:ext cx="0" cy="219456"/>
          </a:xfrm>
          <a:prstGeom xmlns:a="http://schemas.openxmlformats.org/drawingml/2006/main" prst="straightConnector1">
            <a:avLst/>
          </a:prstGeom>
          <a:ln xmlns:a="http://schemas.openxmlformats.org/drawingml/2006/main" w="18288">
            <a:solidFill>
              <a:srgbClr val="81C7F1"/>
            </a:solidFill>
            <a:tailEnd type="arrow" w="med" len="med"/>
          </a:ln>
        </p:spPr>
      </p:cxnSp>
      <p:cxnSp>
        <p:nvCxnSpPr>
          <p:cNvPr id="152" name="">
            <a:extLst xmlns:a="http://schemas.openxmlformats.org/drawingml/2006/main">
              <a:ext uri="{FF2B5EF4-FFF2-40B4-BE49-F238E27FC236}">
                <a16:creationId xmlns:a16="http://schemas.microsoft.com/office/drawing/2014/main" id="{18CB0C73-DB9B-4E56-8159-A185BD964A98}"/>
              </a:ext>
            </a:extLst>
          </p:cNvPr>
          <p:cNvCxnSpPr>
            <a:stCxn xmlns:a="http://schemas.openxmlformats.org/drawingml/2006/main" id="147" idx="2"/>
            <a:endCxn xmlns:a="http://schemas.openxmlformats.org/drawingml/2006/main" id="150" idx="0"/>
          </p:cNvCxnSpPr>
          <p:nvPr/>
        </p:nvCxnSpPr>
        <p:spPr>
          <a:xfrm xmlns:a="http://schemas.openxmlformats.org/drawingml/2006/main">
            <a:off x="18726912" y="4123944"/>
            <a:ext cx="0" cy="219456"/>
          </a:xfrm>
          <a:prstGeom xmlns:a="http://schemas.openxmlformats.org/drawingml/2006/main" prst="straightConnector1">
            <a:avLst/>
          </a:prstGeom>
          <a:ln xmlns:a="http://schemas.openxmlformats.org/drawingml/2006/main" w="18288">
            <a:solidFill>
              <a:srgbClr val="81C7F1"/>
            </a:solidFill>
            <a:tailEnd type="arrow" w="med" len="med"/>
          </a:ln>
        </p:spPr>
      </p:cxnSp>
      <p:cxnSp>
        <p:nvCxnSpPr>
          <p:cNvPr id="149" name="">
            <a:extLst xmlns:a="http://schemas.openxmlformats.org/drawingml/2006/main">
              <a:ext uri="{FF2B5EF4-FFF2-40B4-BE49-F238E27FC236}">
                <a16:creationId xmlns:a16="http://schemas.microsoft.com/office/drawing/2014/main" id="{A8F9AD09-2E78-4DF9-A504-DE51D60A33AF}"/>
              </a:ext>
            </a:extLst>
          </p:cNvPr>
          <p:cNvCxnSpPr>
            <a:stCxn xmlns:a="http://schemas.openxmlformats.org/drawingml/2006/main" id="144" idx="2"/>
            <a:endCxn xmlns:a="http://schemas.openxmlformats.org/drawingml/2006/main" id="147" idx="0"/>
          </p:cNvCxnSpPr>
          <p:nvPr/>
        </p:nvCxnSpPr>
        <p:spPr>
          <a:xfrm xmlns:a="http://schemas.openxmlformats.org/drawingml/2006/main">
            <a:off x="18726912" y="3419856"/>
            <a:ext cx="0" cy="219456"/>
          </a:xfrm>
          <a:prstGeom xmlns:a="http://schemas.openxmlformats.org/drawingml/2006/main" prst="straightConnector1">
            <a:avLst/>
          </a:prstGeom>
          <a:ln xmlns:a="http://schemas.openxmlformats.org/drawingml/2006/main" w="18288">
            <a:solidFill>
              <a:srgbClr val="81C7F1"/>
            </a:solidFill>
            <a:tailEnd type="arrow" w="med" len="med"/>
          </a:ln>
        </p:spPr>
      </p:cxnSp>
      <p:cxnSp>
        <p:nvCxnSpPr>
          <p:cNvPr id="146" name="">
            <a:extLst xmlns:a="http://schemas.openxmlformats.org/drawingml/2006/main">
              <a:ext uri="{FF2B5EF4-FFF2-40B4-BE49-F238E27FC236}">
                <a16:creationId xmlns:a16="http://schemas.microsoft.com/office/drawing/2014/main" id="{63DB3351-36E8-4C54-A1F5-3CE920B51D99}"/>
              </a:ext>
            </a:extLst>
          </p:cNvPr>
          <p:cNvCxnSpPr>
            <a:stCxn xmlns:a="http://schemas.openxmlformats.org/drawingml/2006/main" id="142" idx="2"/>
            <a:endCxn xmlns:a="http://schemas.openxmlformats.org/drawingml/2006/main" id="144" idx="0"/>
          </p:cNvCxnSpPr>
          <p:nvPr/>
        </p:nvCxnSpPr>
        <p:spPr>
          <a:xfrm xmlns:a="http://schemas.openxmlformats.org/drawingml/2006/main">
            <a:off x="18726912" y="2715768"/>
            <a:ext cx="0" cy="219456"/>
          </a:xfrm>
          <a:prstGeom xmlns:a="http://schemas.openxmlformats.org/drawingml/2006/main" prst="straightConnector1">
            <a:avLst/>
          </a:prstGeom>
          <a:ln xmlns:a="http://schemas.openxmlformats.org/drawingml/2006/main" w="18288">
            <a:solidFill>
              <a:srgbClr val="81C7F1"/>
            </a:solidFill>
            <a:tailEnd type="arrow" w="med" len="med"/>
          </a:ln>
        </p:spPr>
      </p:cxnSp>
      <p:cxnSp>
        <p:nvCxn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188913F7-E2C8-4FC0-8EDA-8A54991FD50D}"/>
              </a:ext>
            </a:extLst>
          </p:cNvPr>
          <p:cNvCxnSpPr>
            <a:stCxn xmlns:a="http://schemas.openxmlformats.org/drawingml/2006/main" id="4" idx="6"/>
            <a:endCxn xmlns:a="http://schemas.openxmlformats.org/drawingml/2006/main" id="126" idx="1"/>
          </p:cNvCxnSpPr>
          <p:nvPr/>
        </p:nvCxnSpPr>
        <p:spPr>
          <a:xfrm xmlns:a="http://schemas.openxmlformats.org/drawingml/2006/main">
            <a:off x="21360384" y="9052560"/>
            <a:ext cx="2743200" cy="6821424"/>
          </a:xfrm>
          <a:prstGeom xmlns:a="http://schemas.openxmlformats.org/drawingml/2006/main" prst="straightConnector1">
            <a:avLst/>
          </a:prstGeom>
          <a:ln xmlns:a="http://schemas.openxmlformats.org/drawingml/2006/main" w="18288">
            <a:solidFill>
              <a:srgbClr val="56758C"/>
            </a:solidFill>
          </a:ln>
        </p:spPr>
      </p:cxnSp>
      <p:cxnSp>
        <p:nvCxn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EA21F3A9-C8D7-4253-B490-D001306B92D5}"/>
              </a:ext>
            </a:extLst>
          </p:cNvPr>
          <p:cNvCxnSpPr>
            <a:stCxn xmlns:a="http://schemas.openxmlformats.org/drawingml/2006/main" id="4" idx="6"/>
            <a:endCxn xmlns:a="http://schemas.openxmlformats.org/drawingml/2006/main" id="115" idx="1"/>
          </p:cNvCxnSpPr>
          <p:nvPr/>
        </p:nvCxnSpPr>
        <p:spPr>
          <a:xfrm xmlns:a="http://schemas.openxmlformats.org/drawingml/2006/main">
            <a:off x="21360384" y="9052560"/>
            <a:ext cx="2743200" cy="4206240"/>
          </a:xfrm>
          <a:prstGeom xmlns:a="http://schemas.openxmlformats.org/drawingml/2006/main" prst="straightConnector1">
            <a:avLst/>
          </a:prstGeom>
          <a:ln xmlns:a="http://schemas.openxmlformats.org/drawingml/2006/main" w="18288">
            <a:solidFill>
              <a:srgbClr val="56758C"/>
            </a:solidFill>
          </a:ln>
        </p:spPr>
      </p:cxnSp>
      <p:cxnSp>
        <p:nvCxn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91D9E9D6-0F42-43F6-8284-0118951D9254}"/>
              </a:ext>
            </a:extLst>
          </p:cNvPr>
          <p:cNvCxnSpPr>
            <a:stCxn xmlns:a="http://schemas.openxmlformats.org/drawingml/2006/main" id="4" idx="6"/>
            <a:endCxn xmlns:a="http://schemas.openxmlformats.org/drawingml/2006/main" id="104" idx="1"/>
          </p:cNvCxnSpPr>
          <p:nvPr/>
        </p:nvCxnSpPr>
        <p:spPr>
          <a:xfrm xmlns:a="http://schemas.openxmlformats.org/drawingml/2006/main">
            <a:off x="21360384" y="9052560"/>
            <a:ext cx="2743200" cy="1591056"/>
          </a:xfrm>
          <a:prstGeom xmlns:a="http://schemas.openxmlformats.org/drawingml/2006/main" prst="straightConnector1">
            <a:avLst/>
          </a:prstGeom>
          <a:ln xmlns:a="http://schemas.openxmlformats.org/drawingml/2006/main" w="18288">
            <a:solidFill>
              <a:srgbClr val="56758C"/>
            </a:solidFill>
          </a:ln>
        </p:spPr>
      </p:cxnSp>
      <p:cxnSp>
        <p:nvCxn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CE5AD8CA-9100-4093-9422-A48585DF7AA2}"/>
              </a:ext>
            </a:extLst>
          </p:cNvPr>
          <p:cNvCxnSpPr>
            <a:stCxn xmlns:a="http://schemas.openxmlformats.org/drawingml/2006/main" id="4" idx="6"/>
            <a:endCxn xmlns:a="http://schemas.openxmlformats.org/drawingml/2006/main" id="93" idx="1"/>
          </p:cNvCxnSpPr>
          <p:nvPr/>
        </p:nvCxnSpPr>
        <p:spPr>
          <a:xfrm xmlns:a="http://schemas.openxmlformats.org/drawingml/2006/main" flipV="1">
            <a:off x="21360384" y="8028432"/>
            <a:ext cx="2743200" cy="1024128"/>
          </a:xfrm>
          <a:prstGeom xmlns:a="http://schemas.openxmlformats.org/drawingml/2006/main" prst="straightConnector1">
            <a:avLst/>
          </a:prstGeom>
          <a:ln xmlns:a="http://schemas.openxmlformats.org/drawingml/2006/main" w="18288">
            <a:solidFill>
              <a:srgbClr val="56758C"/>
            </a:solidFill>
          </a:ln>
        </p:spPr>
      </p:cxnSp>
      <p:cxnSp>
        <p:nvCxn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EF879A8C-7641-4CA8-8A45-E8C6DE9A8D59}"/>
              </a:ext>
            </a:extLst>
          </p:cNvPr>
          <p:cNvCxnSpPr>
            <a:stCxn xmlns:a="http://schemas.openxmlformats.org/drawingml/2006/main" id="4" idx="6"/>
            <a:endCxn xmlns:a="http://schemas.openxmlformats.org/drawingml/2006/main" id="82" idx="1"/>
          </p:cNvCxnSpPr>
          <p:nvPr/>
        </p:nvCxnSpPr>
        <p:spPr>
          <a:xfrm xmlns:a="http://schemas.openxmlformats.org/drawingml/2006/main" flipV="1">
            <a:off x="21360384" y="5413248"/>
            <a:ext cx="2743200" cy="3639312"/>
          </a:xfrm>
          <a:prstGeom xmlns:a="http://schemas.openxmlformats.org/drawingml/2006/main" prst="straightConnector1">
            <a:avLst/>
          </a:prstGeom>
          <a:ln xmlns:a="http://schemas.openxmlformats.org/drawingml/2006/main" w="18288">
            <a:solidFill>
              <a:srgbClr val="56758C"/>
            </a:solidFill>
          </a:ln>
        </p:spPr>
      </p:cxnSp>
      <p:cxnSp>
        <p:nvCxn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F2A774EE-D610-40C4-81AA-A4E82D091C4B}"/>
              </a:ext>
            </a:extLst>
          </p:cNvPr>
          <p:cNvCxnSpPr>
            <a:stCxn xmlns:a="http://schemas.openxmlformats.org/drawingml/2006/main" id="4" idx="6"/>
            <a:endCxn xmlns:a="http://schemas.openxmlformats.org/drawingml/2006/main" id="71" idx="1"/>
          </p:cNvCxnSpPr>
          <p:nvPr/>
        </p:nvCxnSpPr>
        <p:spPr>
          <a:xfrm xmlns:a="http://schemas.openxmlformats.org/drawingml/2006/main" flipV="1">
            <a:off x="21360384" y="2798064"/>
            <a:ext cx="2743200" cy="6254496"/>
          </a:xfrm>
          <a:prstGeom xmlns:a="http://schemas.openxmlformats.org/drawingml/2006/main" prst="straightConnector1">
            <a:avLst/>
          </a:prstGeom>
          <a:ln xmlns:a="http://schemas.openxmlformats.org/drawingml/2006/main" w="18288">
            <a:solidFill>
              <a:srgbClr val="56758C"/>
            </a:solidFill>
          </a:ln>
        </p:spPr>
      </p:cxnSp>
      <p:cxnSp>
        <p:nvCxn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43C8C7E9-59DB-4B5E-83CA-DB0F38342D33}"/>
              </a:ext>
            </a:extLst>
          </p:cNvPr>
          <p:cNvCxnSpPr>
            <a:stCxn xmlns:a="http://schemas.openxmlformats.org/drawingml/2006/main" id="4" idx="2"/>
            <a:endCxn xmlns:a="http://schemas.openxmlformats.org/drawingml/2006/main" id="60" idx="3"/>
          </p:cNvCxnSpPr>
          <p:nvPr/>
        </p:nvCxnSpPr>
        <p:spPr>
          <a:xfrm xmlns:a="http://schemas.openxmlformats.org/drawingml/2006/main" flipH="1">
            <a:off x="13350240" y="9052560"/>
            <a:ext cx="2743200" cy="6821424"/>
          </a:xfrm>
          <a:prstGeom xmlns:a="http://schemas.openxmlformats.org/drawingml/2006/main" prst="straightConnector1">
            <a:avLst/>
          </a:prstGeom>
          <a:ln xmlns:a="http://schemas.openxmlformats.org/drawingml/2006/main" w="18288">
            <a:solidFill>
              <a:srgbClr val="56758C"/>
            </a:solidFill>
          </a:ln>
        </p:spPr>
      </p:cxnSp>
      <p:cxnSp>
        <p:nvCxn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86968D56-6BDD-4CBB-BF2E-F9857CE055A8}"/>
              </a:ext>
            </a:extLst>
          </p:cNvPr>
          <p:cNvCxnSpPr>
            <a:stCxn xmlns:a="http://schemas.openxmlformats.org/drawingml/2006/main" id="4" idx="2"/>
            <a:endCxn xmlns:a="http://schemas.openxmlformats.org/drawingml/2006/main" id="49" idx="3"/>
          </p:cNvCxnSpPr>
          <p:nvPr/>
        </p:nvCxnSpPr>
        <p:spPr>
          <a:xfrm xmlns:a="http://schemas.openxmlformats.org/drawingml/2006/main" flipH="1">
            <a:off x="13350240" y="9052560"/>
            <a:ext cx="2743200" cy="4206240"/>
          </a:xfrm>
          <a:prstGeom xmlns:a="http://schemas.openxmlformats.org/drawingml/2006/main" prst="straightConnector1">
            <a:avLst/>
          </a:prstGeom>
          <a:ln xmlns:a="http://schemas.openxmlformats.org/drawingml/2006/main" w="18288">
            <a:solidFill>
              <a:srgbClr val="56758C"/>
            </a:solidFill>
          </a:ln>
        </p:spPr>
      </p:cxnSp>
      <p:cxnSp>
        <p:nvCxn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D6E6FC4-0A8D-4893-9DB2-B4BCADEDA590}"/>
              </a:ext>
            </a:extLst>
          </p:cNvPr>
          <p:cNvCxnSpPr>
            <a:stCxn xmlns:a="http://schemas.openxmlformats.org/drawingml/2006/main" id="4" idx="2"/>
            <a:endCxn xmlns:a="http://schemas.openxmlformats.org/drawingml/2006/main" id="38" idx="3"/>
          </p:cNvCxnSpPr>
          <p:nvPr/>
        </p:nvCxnSpPr>
        <p:spPr>
          <a:xfrm xmlns:a="http://schemas.openxmlformats.org/drawingml/2006/main" flipH="1">
            <a:off x="13350240" y="9052560"/>
            <a:ext cx="2743200" cy="1591056"/>
          </a:xfrm>
          <a:prstGeom xmlns:a="http://schemas.openxmlformats.org/drawingml/2006/main" prst="straightConnector1">
            <a:avLst/>
          </a:prstGeom>
          <a:ln xmlns:a="http://schemas.openxmlformats.org/drawingml/2006/main" w="18288">
            <a:solidFill>
              <a:srgbClr val="56758C"/>
            </a:solidFill>
          </a:ln>
        </p:spPr>
      </p:cxnSp>
      <p:cxnSp>
        <p:nvCxn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474B38C-E898-426B-9601-801F97590EFA}"/>
              </a:ext>
            </a:extLst>
          </p:cNvPr>
          <p:cNvCxnSpPr>
            <a:stCxn xmlns:a="http://schemas.openxmlformats.org/drawingml/2006/main" id="4" idx="2"/>
            <a:endCxn xmlns:a="http://schemas.openxmlformats.org/drawingml/2006/main" id="27" idx="3"/>
          </p:cNvCxnSpPr>
          <p:nvPr/>
        </p:nvCxnSpPr>
        <p:spPr>
          <a:xfrm xmlns:a="http://schemas.openxmlformats.org/drawingml/2006/main" flipH="1" flipV="1">
            <a:off x="13350240" y="8028432"/>
            <a:ext cx="2743200" cy="1024128"/>
          </a:xfrm>
          <a:prstGeom xmlns:a="http://schemas.openxmlformats.org/drawingml/2006/main" prst="straightConnector1">
            <a:avLst/>
          </a:prstGeom>
          <a:ln xmlns:a="http://schemas.openxmlformats.org/drawingml/2006/main" w="18288">
            <a:solidFill>
              <a:srgbClr val="56758C"/>
            </a:solidFill>
          </a:ln>
        </p:spPr>
      </p:cxnSp>
      <p:cxnSp>
        <p:nvCxn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0FE0181-216B-4846-AA98-A9EA844126AB}"/>
              </a:ext>
            </a:extLst>
          </p:cNvPr>
          <p:cNvCxnSpPr>
            <a:stCxn xmlns:a="http://schemas.openxmlformats.org/drawingml/2006/main" id="4" idx="2"/>
            <a:endCxn xmlns:a="http://schemas.openxmlformats.org/drawingml/2006/main" id="16" idx="3"/>
          </p:cNvCxnSpPr>
          <p:nvPr/>
        </p:nvCxnSpPr>
        <p:spPr>
          <a:xfrm xmlns:a="http://schemas.openxmlformats.org/drawingml/2006/main" flipH="1" flipV="1">
            <a:off x="13350240" y="5413248"/>
            <a:ext cx="2743200" cy="3639312"/>
          </a:xfrm>
          <a:prstGeom xmlns:a="http://schemas.openxmlformats.org/drawingml/2006/main" prst="straightConnector1">
            <a:avLst/>
          </a:prstGeom>
          <a:ln xmlns:a="http://schemas.openxmlformats.org/drawingml/2006/main" w="18288">
            <a:solidFill>
              <a:srgbClr val="56758C"/>
            </a:solidFill>
          </a:ln>
        </p:spPr>
      </p:cxnSp>
      <p:cxnSp>
        <p:nvCxn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8141D2-6276-4B80-B5B0-A4FDB191139B}"/>
              </a:ext>
            </a:extLst>
          </p:cNvPr>
          <p:cNvCxnSpPr>
            <a:stCxn xmlns:a="http://schemas.openxmlformats.org/drawingml/2006/main" id="4" idx="2"/>
            <a:endCxn xmlns:a="http://schemas.openxmlformats.org/drawingml/2006/main" id="5" idx="3"/>
          </p:cNvCxnSpPr>
          <p:nvPr/>
        </p:nvCxnSpPr>
        <p:spPr>
          <a:xfrm xmlns:a="http://schemas.openxmlformats.org/drawingml/2006/main" flipH="1" flipV="1">
            <a:off x="13350240" y="2798064"/>
            <a:ext cx="2743200" cy="6254496"/>
          </a:xfrm>
          <a:prstGeom xmlns:a="http://schemas.openxmlformats.org/drawingml/2006/main" prst="straightConnector1">
            <a:avLst/>
          </a:prstGeom>
          <a:ln xmlns:a="http://schemas.openxmlformats.org/drawingml/2006/main" w="18288">
            <a:solidFill>
              <a:srgbClr val="56758C"/>
            </a:solidFill>
          </a:ln>
        </p:spPr>
      </p:cxnSp>
      <p:sp>
        <p:nvSpPr>
          <p:cNvPr id="170" name="">
            <a:extLst xmlns:a="http://schemas.openxmlformats.org/drawingml/2006/main">
              <a:ext uri="{FF2B5EF4-FFF2-40B4-BE49-F238E27FC236}">
                <a16:creationId xmlns:a16="http://schemas.microsoft.com/office/drawing/2014/main" id="{AA88A636-7ED8-4CCE-A326-1A3C4CD8B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65760"/>
            <a:ext cx="8686800" cy="731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716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4896" b="1">
                <a:solidFill>
                  <a:srgbClr val="F4F7FA"/>
                </a:solidFill>
              </a:defRPr>
            </a:defPPr>
          </a:lstStyle>
          <a:p xmlns:a="http://schemas.openxmlformats.org/drawingml/2006/main">
            <a:pPr algn="l">
              <a:defRPr sz="4896" b="1">
                <a:solidFill>
                  <a:srgbClr val="F4F7FA"/>
                </a:solidFill>
              </a:defRPr>
            </a:pPr>
            <a:r>
              <a:rPr sz="4896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PSYZ0R_BOT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9BFDEB-6460-4BA0-A58D-3019BF8A0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21208"/>
            <a:ext cx="17830800" cy="548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716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3024" b="0">
                <a:solidFill>
                  <a:srgbClr val="81C7F1"/>
                </a:solidFill>
              </a:defRPr>
            </a:defPPr>
          </a:lstStyle>
          <a:p xmlns:a="http://schemas.openxmlformats.org/drawingml/2006/main">
            <a:pPr algn="l">
              <a:defRPr sz="3024" b="0">
                <a:solidFill>
                  <a:srgbClr val="81C7F1"/>
                </a:solidFill>
              </a:defRPr>
            </a:pPr>
            <a:r>
              <a:rPr sz="3024" b="0">
                <a:solidFill>
                  <a:srgbClr val="81C7F1"/>
                </a:solidFill>
                <a:latin typeface="Arial"/>
                <a:ea typeface="Arial"/>
                <a:cs typeface="Arial"/>
              </a:rPr>
              <a:t>Карта логики тренировочного соперника Quake Live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118647-0799-4F5F-975C-9E2A5D0AB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51840" y="630936"/>
            <a:ext cx="10607040" cy="3840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716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2016" b="0">
                <a:solidFill>
                  <a:srgbClr val="98ABBA"/>
                </a:solidFill>
              </a:defRPr>
            </a:defPPr>
          </a:lstStyle>
          <a:p xmlns:a="http://schemas.openxmlformats.org/drawingml/2006/main">
            <a:pPr algn="r">
              <a:defRPr sz="2016" b="0">
                <a:solidFill>
                  <a:srgbClr val="98ABBA"/>
                </a:solidFill>
              </a:defRPr>
            </a:pPr>
            <a:r>
              <a:rPr sz="2016" b="0">
                <a:solidFill>
                  <a:srgbClr val="98ABBA"/>
                </a:solidFill>
                <a:latin typeface="Arial"/>
                <a:ea typeface="Arial"/>
                <a:cs typeface="Arial"/>
              </a:rPr>
              <a:t>12 ветвей / 153 пункта в реестре / 09.10.2026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83C3C5-9E52-4AD4-817C-7792EB8C9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3440" y="7680960"/>
            <a:ext cx="5266944" cy="2743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323A"/>
          </a:solidFill>
          <a:ln xmlns:a="http://schemas.openxmlformats.org/drawingml/2006/main" w="13716">
            <a:solidFill>
              <a:srgbClr val="81C7F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E547E8-DDFA-4858-A3EF-F322D2DE3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600200"/>
            <a:ext cx="12710160" cy="2395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323A"/>
          </a:solidFill>
          <a:ln xmlns:a="http://schemas.openxmlformats.org/drawingml/2006/main" w="13716">
            <a:solidFill>
              <a:srgbClr val="56758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5EE5A8-B4D6-4279-93A4-43D8C24DD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1719072"/>
            <a:ext cx="12307824" cy="3840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716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448" b="1">
                <a:solidFill>
                  <a:srgbClr val="81C7F1"/>
                </a:solidFill>
              </a:defRPr>
            </a:defPPr>
          </a:lstStyle>
          <a:p xmlns:a="http://schemas.openxmlformats.org/drawingml/2006/main">
            <a:pPr algn="l">
              <a:defRPr sz="2448" b="1">
                <a:solidFill>
                  <a:srgbClr val="81C7F1"/>
                </a:solidFill>
              </a:defRPr>
            </a:pPr>
            <a:r>
              <a:rPr sz="2448" b="1">
                <a:solidFill>
                  <a:srgbClr val="81C7F1"/>
                </a:solidFill>
                <a:latin typeface="Arial"/>
                <a:ea typeface="Arial"/>
                <a:cs typeface="Arial"/>
              </a:rPr>
              <a:t>A  Обучение и разработка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8D8AE8-3AC6-404B-A5C1-F888A6D9D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2167128"/>
            <a:ext cx="12307824" cy="2468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716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56" b="0">
                <a:solidFill>
                  <a:srgbClr val="F4F7FA"/>
                </a:solidFill>
              </a:defRPr>
            </a:defPPr>
          </a:lstStyle>
          <a:p xmlns:a="http://schemas.openxmlformats.org/drawingml/2006/main">
            <a:pPr algn="l">
              <a:defRPr sz="1656" b="0">
                <a:solidFill>
                  <a:srgbClr val="F4F7FA"/>
                </a:solidFill>
              </a:defRPr>
            </a:pPr>
            <a:r>
              <a:rPr sz="1656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100 демок PsyRoZa + 20 nekitz0r; затем 100–200 на карту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6ED703-2683-4D0B-A571-A62E7C20D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2382926"/>
            <a:ext cx="12307824" cy="2468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716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56" b="0">
                <a:solidFill>
                  <a:srgbClr val="F4F7FA"/>
                </a:solidFill>
              </a:defRPr>
            </a:defPPr>
          </a:lstStyle>
          <a:p xmlns:a="http://schemas.openxmlformats.org/drawingml/2006/main">
            <a:pPr algn="l">
              <a:defRPr sz="1656" b="0">
                <a:solidFill>
                  <a:srgbClr val="F4F7FA"/>
                </a:solidFill>
              </a:defRPr>
            </a:pPr>
            <a:r>
              <a:rPr sz="1656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Сольные пробежки + боевые демки; маршруты, позиции, выбор пушек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B86FA4-4546-441F-ADDB-95E5CC7F5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2598725"/>
            <a:ext cx="12307824" cy="2468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716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56" b="0">
                <a:solidFill>
                  <a:srgbClr val="F4F7FA"/>
                </a:solidFill>
              </a:defRPr>
            </a:defPPr>
          </a:lstStyle>
          <a:p xmlns:a="http://schemas.openxmlformats.org/drawingml/2006/main">
            <a:pPr algn="l">
              <a:defRPr sz="1656" b="0">
                <a:solidFill>
                  <a:srgbClr val="F4F7FA"/>
                </a:solidFill>
              </a:defRPr>
            </a:pPr>
            <a:r>
              <a:rPr sz="1656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Разметка чатом #bot; стоп 5–10 с = кандидат на нычку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205688-93A4-49DE-8C7E-F394D5C2D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2814523"/>
            <a:ext cx="12307824" cy="2468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716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56" b="0">
                <a:solidFill>
                  <a:srgbClr val="F4F7FA"/>
                </a:solidFill>
              </a:defRPr>
            </a:defPPr>
          </a:lstStyle>
          <a:p xmlns:a="http://schemas.openxmlformats.org/drawingml/2006/main">
            <a:pPr algn="l">
              <a:defRPr sz="1656" b="0">
                <a:solidFill>
                  <a:srgbClr val="F4F7FA"/>
                </a:solidFill>
              </a:defRPr>
            </a:pPr>
            <a:r>
              <a:rPr sz="1656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Время, карта, координаты, скорость, взгляд, стек, оружие, исход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4FE0D6-3367-46F1-A1E9-DD0A0FCE0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3030322"/>
            <a:ext cx="12307824" cy="2468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716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56" b="0">
                <a:solidFill>
                  <a:srgbClr val="F4F7FA"/>
                </a:solidFill>
              </a:defRPr>
            </a:defPPr>
          </a:lstStyle>
          <a:p xmlns:a="http://schemas.openxmlformats.org/drawingml/2006/main">
            <a:pPr algn="l">
              <a:defRPr sz="1656" b="0">
                <a:solidFill>
                  <a:srgbClr val="F4F7FA"/>
                </a:solidFill>
              </a:defRPr>
            </a:pPr>
            <a:r>
              <a:rPr sz="1656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Raw mouse / WASD проверить; восстановленный ввод помечать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8D6B68F-6106-4B69-92A3-9E551F7CF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3246120"/>
            <a:ext cx="12307824" cy="2468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716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56" b="0">
                <a:solidFill>
                  <a:srgbClr val="F4F7FA"/>
                </a:solidFill>
              </a:defRPr>
            </a:defPPr>
          </a:lstStyle>
          <a:p xmlns:a="http://schemas.openxmlformats.org/drawingml/2006/main">
            <a:pPr algn="l">
              <a:defRPr sz="1656" b="0">
                <a:solidFill>
                  <a:srgbClr val="F4F7FA"/>
                </a:solidFill>
              </a:defRPr>
            </a:pPr>
            <a:r>
              <a:rPr sz="1656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Q3 / QL аналоги: распаковать, изучить; C++17 / MSVC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3E20E78-B0EC-46B1-BD9D-42B5D5E67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3461918"/>
            <a:ext cx="12307824" cy="2468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716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56" b="0">
                <a:solidFill>
                  <a:srgbClr val="F4F7FA"/>
                </a:solidFill>
              </a:defRPr>
            </a:defPPr>
          </a:lstStyle>
          <a:p xmlns:a="http://schemas.openxmlformats.org/drawingml/2006/main">
            <a:pPr algn="l">
              <a:defRPr sz="1656" b="0">
                <a:solidFill>
                  <a:srgbClr val="F4F7FA"/>
                </a:solidFill>
              </a:defRPr>
            </a:pPr>
            <a:r>
              <a:rPr sz="1656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Один маршрут и прыжок сначала; затем расширять набор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F029CE9-8B87-482A-9C6C-AAB3D7BD9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3677717"/>
            <a:ext cx="12307824" cy="2468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716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56" b="0">
                <a:solidFill>
                  <a:srgbClr val="F4F7FA"/>
                </a:solidFill>
              </a:defRPr>
            </a:defPPr>
          </a:lstStyle>
          <a:p xmlns:a="http://schemas.openxmlformats.org/drawingml/2006/main">
            <a:pPr algn="l">
              <a:defRPr sz="1656" b="0">
                <a:solidFill>
                  <a:srgbClr val="F4F7FA"/>
                </a:solidFill>
              </a:defRPr>
            </a:pPr>
            <a:r>
              <a:rPr sz="1656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Локально; оригиналы целы; сервер только отдельной командой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C82FFA8-DE22-4F7D-A121-22B2B9087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215384"/>
            <a:ext cx="12710160" cy="2395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323A"/>
          </a:solidFill>
          <a:ln xmlns:a="http://schemas.openxmlformats.org/drawingml/2006/main" w="13716">
            <a:solidFill>
              <a:srgbClr val="56758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4A08D11-5A11-4151-844E-FD1D9385E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4334256"/>
            <a:ext cx="12307824" cy="3840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716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448" b="1">
                <a:solidFill>
                  <a:srgbClr val="81C7F1"/>
                </a:solidFill>
              </a:defRPr>
            </a:defPPr>
          </a:lstStyle>
          <a:p xmlns:a="http://schemas.openxmlformats.org/drawingml/2006/main">
            <a:pPr algn="l">
              <a:defRPr sz="2448" b="1">
                <a:solidFill>
                  <a:srgbClr val="81C7F1"/>
                </a:solidFill>
              </a:defRPr>
            </a:pPr>
            <a:r>
              <a:rPr sz="2448" b="1">
                <a:solidFill>
                  <a:srgbClr val="81C7F1"/>
                </a:solidFill>
                <a:latin typeface="Arial"/>
                <a:ea typeface="Arial"/>
                <a:cs typeface="Arial"/>
              </a:rPr>
              <a:t>B  Мувмент и триксы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382CAAC-10DF-4EE1-833B-0F758F772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4782312"/>
            <a:ext cx="12307824" cy="2468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716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56" b="0">
                <a:solidFill>
                  <a:srgbClr val="F4F7FA"/>
                </a:solidFill>
              </a:defRPr>
            </a:defPPr>
          </a:lstStyle>
          <a:p xmlns:a="http://schemas.openxmlformats.org/drawingml/2006/main">
            <a:pPr algn="l">
              <a:defRPr sz="1656" b="0">
                <a:solidFill>
                  <a:srgbClr val="F4F7FA"/>
                </a:solidFill>
              </a:defRPr>
            </a:pPr>
            <a:r>
              <a:rPr sz="1656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Бег / тихий шаг / остановка / прыжки по задаче, не постоянно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90E94D0-D258-4B43-848F-CCC7DED7F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4998110"/>
            <a:ext cx="12307824" cy="2468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716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56" b="0">
                <a:solidFill>
                  <a:srgbClr val="F4F7FA"/>
                </a:solidFill>
              </a:defRPr>
            </a:defPPr>
          </a:lstStyle>
          <a:p xmlns:a="http://schemas.openxmlformats.org/drawingml/2006/main">
            <a:pPr algn="l">
              <a:defRPr sz="1656" b="0">
                <a:solidFill>
                  <a:srgbClr val="F4F7FA"/>
                </a:solidFill>
              </a:defRPr>
            </a:pPr>
            <a:r>
              <a:rPr sz="1656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Prestrafe, circle jump, single-beat и half-beat распрыжка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228694D-FF98-4522-8254-9E107B67B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5213909"/>
            <a:ext cx="12307824" cy="2468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716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56" b="0">
                <a:solidFill>
                  <a:srgbClr val="F4F7FA"/>
                </a:solidFill>
              </a:defRPr>
            </a:defPPr>
          </a:lstStyle>
          <a:p xmlns:a="http://schemas.openxmlformats.org/drawingml/2006/main">
            <a:pPr algn="l">
              <a:defRPr sz="1656" b="0">
                <a:solidFill>
                  <a:srgbClr val="F4F7FA"/>
                </a:solidFill>
              </a:defRPr>
            </a:pPr>
            <a:r>
              <a:rPr sz="1656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Rocket jump; plasma jump отдельно от plasma climb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C22B508-E63C-4555-9CB5-07C4158AB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5429707"/>
            <a:ext cx="12307824" cy="2468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716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56" b="0">
                <a:solidFill>
                  <a:srgbClr val="F4F7FA"/>
                </a:solidFill>
              </a:defRPr>
            </a:defPPr>
          </a:lstStyle>
          <a:p xmlns:a="http://schemas.openxmlformats.org/drawingml/2006/main">
            <a:pPr algn="l">
              <a:defRPr sz="1656" b="0">
                <a:solidFill>
                  <a:srgbClr val="F4F7FA"/>
                </a:solidFill>
              </a:defRPr>
            </a:pPr>
            <a:r>
              <a:rPr sz="1656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Учить по 3–5 текстовым гайдам + своим демкам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6D05A4C-B6DC-4B13-AD06-714A91093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5645506"/>
            <a:ext cx="12307824" cy="2468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716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56" b="0">
                <a:solidFill>
                  <a:srgbClr val="F4F7FA"/>
                </a:solidFill>
              </a:defRPr>
            </a:defPPr>
          </a:lstStyle>
          <a:p xmlns:a="http://schemas.openxmlformats.org/drawingml/2006/main">
            <a:pPr algn="l">
              <a:defRPr sz="1656" b="0">
                <a:solidFill>
                  <a:srgbClr val="F4F7FA"/>
                </a:solidFill>
              </a:defRPr>
            </a:pPr>
            <a:r>
              <a:rPr sz="1656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Физика QL: VQL и PQL раздельно; без скрытых бустов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34215B2-CC89-4642-BF03-B005427ED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5861304"/>
            <a:ext cx="12307824" cy="2468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716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56" b="0">
                <a:solidFill>
                  <a:srgbClr val="F4F7FA"/>
                </a:solidFill>
              </a:defRPr>
            </a:defPPr>
          </a:lstStyle>
          <a:p xmlns:a="http://schemas.openxmlformats.org/drawingml/2006/main">
            <a:pPr algn="l">
              <a:defRPr sz="1656" b="0">
                <a:solidFill>
                  <a:srgbClr val="F4F7FA"/>
                </a:solidFill>
              </a:defRPr>
            </a:pPr>
            <a:r>
              <a:rPr sz="1656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RJ чище: успех, время, приземление, реальные потери HP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3380772-D8AA-4C4A-BB99-81F728E9D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6077102"/>
            <a:ext cx="12307824" cy="2468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716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56" b="0">
                <a:solidFill>
                  <a:srgbClr val="F4F7FA"/>
                </a:solidFill>
              </a:defRPr>
            </a:defPPr>
          </a:lstStyle>
          <a:p xmlns:a="http://schemas.openxmlformats.org/drawingml/2006/main">
            <a:pPr algn="l">
              <a:defRPr sz="1656" b="0">
                <a:solidFill>
                  <a:srgbClr val="F4F7FA"/>
                </a:solidFill>
              </a:defRPr>
            </a:pPr>
            <a:r>
              <a:rPr sz="1656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200/200: допустима погоня с RJ; под давлением меньше шума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FDA183F-6F35-4D38-8A81-CFF6EEC6A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6292901"/>
            <a:ext cx="12307824" cy="2468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716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56" b="0">
                <a:solidFill>
                  <a:srgbClr val="F4F7FA"/>
                </a:solidFill>
              </a:defRPr>
            </a:defPPr>
          </a:lstStyle>
          <a:p xmlns:a="http://schemas.openxmlformats.org/drawingml/2006/main">
            <a:pPr algn="l">
              <a:defRPr sz="1656" b="0">
                <a:solidFill>
                  <a:srgbClr val="F4F7FA"/>
                </a:solidFill>
              </a:defRPr>
            </a:pPr>
            <a:r>
              <a:rPr sz="1656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Уровень скилла ограничивает приёмы и качество исполнения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4F25DA2-17EE-4925-B894-B99A8A644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6830568"/>
            <a:ext cx="12710160" cy="2395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323A"/>
          </a:solidFill>
          <a:ln xmlns:a="http://schemas.openxmlformats.org/drawingml/2006/main" w="13716">
            <a:solidFill>
              <a:srgbClr val="56758C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69A5D3A-975D-40E0-8B34-58D614E9E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6949440"/>
            <a:ext cx="12307824" cy="3840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716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448" b="1">
                <a:solidFill>
                  <a:srgbClr val="81C7F1"/>
                </a:solidFill>
              </a:defRPr>
            </a:defPPr>
          </a:lstStyle>
          <a:p xmlns:a="http://schemas.openxmlformats.org/drawingml/2006/main">
            <a:pPr algn="l">
              <a:defRPr sz="2448" b="1">
                <a:solidFill>
                  <a:srgbClr val="81C7F1"/>
                </a:solidFill>
              </a:defRPr>
            </a:pPr>
            <a:r>
              <a:rPr sz="2448" b="1">
                <a:solidFill>
                  <a:srgbClr val="81C7F1"/>
                </a:solidFill>
                <a:latin typeface="Arial"/>
                <a:ea typeface="Arial"/>
                <a:cs typeface="Arial"/>
              </a:rPr>
              <a:t>C  Стрельба и точность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FB45CAC-729A-4A0A-B0AE-3E5088E0D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7397496"/>
            <a:ext cx="12307824" cy="2468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716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56" b="0">
                <a:solidFill>
                  <a:srgbClr val="F4F7FA"/>
                </a:solidFill>
              </a:defRPr>
            </a:defPPr>
          </a:lstStyle>
          <a:p xmlns:a="http://schemas.openxmlformats.org/drawingml/2006/main">
            <a:pPr algn="l">
              <a:defRPr sz="1656" b="0">
                <a:solidFill>
                  <a:srgbClr val="F4F7FA"/>
                </a:solidFill>
              </a:defRPr>
            </a:pPr>
            <a:r>
              <a:rPr sz="1656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Стрейф + мышь + додж; контрстрейф относительно цели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A551AD1-0FC7-4CCB-8AD8-3F65F21B0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7613294"/>
            <a:ext cx="12307824" cy="2468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716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56" b="0">
                <a:solidFill>
                  <a:srgbClr val="F4F7FA"/>
                </a:solidFill>
              </a:defRPr>
            </a:defPPr>
          </a:lstStyle>
          <a:p xmlns:a="http://schemas.openxmlformats.org/drawingml/2006/main">
            <a:pPr algn="l">
              <a:defRPr sz="1656" b="0">
                <a:solidFill>
                  <a:srgbClr val="F4F7FA"/>
                </a:solidFill>
              </a:defRPr>
            </a:pPr>
            <a:r>
              <a:rPr sz="1656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Преднаведение; полмодельки из угла, rail при видимости, отход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B864996-F71A-4D47-901D-93371F693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7829093"/>
            <a:ext cx="12307824" cy="2468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716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56" b="0">
                <a:solidFill>
                  <a:srgbClr val="F4F7FA"/>
                </a:solidFill>
              </a:defRPr>
            </a:defPPr>
          </a:lstStyle>
          <a:p xmlns:a="http://schemas.openxmlformats.org/drawingml/2006/main">
            <a:pPr algn="l">
              <a:defRPr sz="1656" b="0">
                <a:solidFill>
                  <a:srgbClr val="F4F7FA"/>
                </a:solidFill>
              </a:defRPr>
            </a:pPr>
            <a:r>
              <a:rPr sz="1656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Rocket / grenade prefire допустим по прогнозу прохода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D3047D3-FE74-422E-B612-AC84B47D2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8044891"/>
            <a:ext cx="12307824" cy="2468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716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56" b="0">
                <a:solidFill>
                  <a:srgbClr val="F4F7FA"/>
                </a:solidFill>
              </a:defRPr>
            </a:defPPr>
          </a:lstStyle>
          <a:p xmlns:a="http://schemas.openxmlformats.org/drawingml/2006/main">
            <a:pPr algn="l">
              <a:defRPr sz="1656" b="0">
                <a:solidFill>
                  <a:srgbClr val="F4F7FA"/>
                </a:solidFill>
              </a:defRPr>
            </a:pPr>
            <a:r>
              <a:rPr sz="1656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Rail / plasma / rocket / shaft: считать по демкам доминаторов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EE4EAB6-91BA-45A0-89AB-21A7394D1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8260690"/>
            <a:ext cx="12307824" cy="2468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716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56" b="0">
                <a:solidFill>
                  <a:srgbClr val="F4F7FA"/>
                </a:solidFill>
              </a:defRPr>
            </a:defPPr>
          </a:lstStyle>
          <a:p xmlns:a="http://schemas.openxmlformats.org/drawingml/2006/main">
            <a:pPr algn="l">
              <a:defRPr sz="1656" b="0">
                <a:solidFill>
                  <a:srgbClr val="F4F7FA"/>
                </a:solidFill>
              </a:defRPr>
            </a:pPr>
            <a:r>
              <a:rPr sz="1656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Выстрелы, попадания, медиана, диапазон; splash отдельно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F9E19A4-EA09-4B8E-A6C3-2F5EA5DE4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8476488"/>
            <a:ext cx="12307824" cy="2468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716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56" b="0">
                <a:solidFill>
                  <a:srgbClr val="F4F7FA"/>
                </a:solidFill>
              </a:defRPr>
            </a:defPPr>
          </a:lstStyle>
          <a:p xmlns:a="http://schemas.openxmlformats.org/drawingml/2006/main">
            <a:pPr algn="l">
              <a:defRPr sz="1656" b="0">
                <a:solidFill>
                  <a:srgbClr val="F4F7FA"/>
                </a:solidFill>
              </a:defRPr>
            </a:pPr>
            <a:r>
              <a:rPr sz="1656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Все пушки зависят от скилла; проценты только с согласованием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DABF309-E972-4165-881D-B149504B9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8692286"/>
            <a:ext cx="12307824" cy="2468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716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56" b="0">
                <a:solidFill>
                  <a:srgbClr val="F4F7FA"/>
                </a:solidFill>
              </a:defRPr>
            </a:defPPr>
          </a:lstStyle>
          <a:p xmlns:a="http://schemas.openxmlformats.org/drawingml/2006/main">
            <a:pPr algn="l">
              <a:defRPr sz="1656" b="0">
                <a:solidFill>
                  <a:srgbClr val="F4F7FA"/>
                </a:solidFill>
              </a:defRPr>
            </a:pPr>
            <a:r>
              <a:rPr sz="1656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Контроль: точность выше; давление: ниже; контррежим уточнить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471E315-EE10-4313-BF7D-19F69222F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8908085"/>
            <a:ext cx="12307824" cy="2468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716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56" b="0">
                <a:solidFill>
                  <a:srgbClr val="F4F7FA"/>
                </a:solidFill>
              </a:defRPr>
            </a:defPPr>
          </a:lstStyle>
          <a:p xmlns:a="http://schemas.openxmlformats.org/drawingml/2006/main">
            <a:pPr algn="l">
              <a:defRPr sz="1656" b="0">
                <a:solidFill>
                  <a:srgbClr val="F4F7FA"/>
                </a:solidFill>
              </a:defRPr>
            </a:pPr>
            <a:r>
              <a:rPr sz="1656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Через реакцию, наведение, упреждение; без гарантии попаданий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CA7234E-29C7-4CC1-A581-8F47DCAF9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9445752"/>
            <a:ext cx="12710160" cy="2395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323A"/>
          </a:solidFill>
          <a:ln xmlns:a="http://schemas.openxmlformats.org/drawingml/2006/main" w="13716">
            <a:solidFill>
              <a:srgbClr val="56758C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3CC1069-92B5-45FD-989B-986AF2C32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9564624"/>
            <a:ext cx="12307824" cy="3840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716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448" b="1">
                <a:solidFill>
                  <a:srgbClr val="81C7F1"/>
                </a:solidFill>
              </a:defRPr>
            </a:defPPr>
          </a:lstStyle>
          <a:p xmlns:a="http://schemas.openxmlformats.org/drawingml/2006/main">
            <a:pPr algn="l">
              <a:defRPr sz="2448" b="1">
                <a:solidFill>
                  <a:srgbClr val="81C7F1"/>
                </a:solidFill>
              </a:defRPr>
            </a:pPr>
            <a:r>
              <a:rPr sz="2448" b="1">
                <a:solidFill>
                  <a:srgbClr val="81C7F1"/>
                </a:solidFill>
                <a:latin typeface="Arial"/>
                <a:ea typeface="Arial"/>
                <a:cs typeface="Arial"/>
              </a:rPr>
              <a:t>D  Оружие и боевые связки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5E007DD-EFC2-4B12-AC73-E2B1C9529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10012680"/>
            <a:ext cx="12307824" cy="2468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716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56" b="0">
                <a:solidFill>
                  <a:srgbClr val="F4F7FA"/>
                </a:solidFill>
              </a:defRPr>
            </a:defPPr>
          </a:lstStyle>
          <a:p xmlns:a="http://schemas.openxmlformats.org/drawingml/2006/main">
            <a:pPr algn="l">
              <a:defRPr sz="1656" b="0">
                <a:solidFill>
                  <a:srgbClr val="F4F7FA"/>
                </a:solidFill>
              </a:defRPr>
            </a:pPr>
            <a:r>
              <a:rPr sz="1656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Дистанция, геометрия, скорость, патроны, стек, риск, switch time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AC377C8-D8EE-43D0-A486-FFEC254EF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10228478"/>
            <a:ext cx="12307824" cy="2468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716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56" b="0">
                <a:solidFill>
                  <a:srgbClr val="F4F7FA"/>
                </a:solidFill>
              </a:defRPr>
            </a:defPPr>
          </a:lstStyle>
          <a:p xmlns:a="http://schemas.openxmlformats.org/drawingml/2006/main">
            <a:pPr algn="l">
              <a:defRPr sz="1656" b="0">
                <a:solidFill>
                  <a:srgbClr val="F4F7FA"/>
                </a:solidFill>
              </a:defRPr>
            </a:pPr>
            <a:r>
              <a:rPr sz="1656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Подбирать выпавшие свои / чужие пушки; не отдавать сопернику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54CCCF1-977A-4D49-B184-DBDCB8C93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10444277"/>
            <a:ext cx="12307824" cy="2468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716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56" b="0">
                <a:solidFill>
                  <a:srgbClr val="F4F7FA"/>
                </a:solidFill>
              </a:defRPr>
            </a:defPPr>
          </a:lstStyle>
          <a:p xmlns:a="http://schemas.openxmlformats.org/drawingml/2006/main">
            <a:pPr algn="l">
              <a:defRPr sz="1656" b="0">
                <a:solidFill>
                  <a:srgbClr val="F4F7FA"/>
                </a:solidFill>
              </a:defRPr>
            </a:pPr>
            <a:r>
              <a:rPr sz="1656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LG вблизи: RL / shotgun для добивания красной цели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56B16C3-5A2D-4673-AE1A-FEA815D37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10660075"/>
            <a:ext cx="12307824" cy="2468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716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56" b="0">
                <a:solidFill>
                  <a:srgbClr val="F4F7FA"/>
                </a:solidFill>
              </a:defRPr>
            </a:defPPr>
          </a:lstStyle>
          <a:p xmlns:a="http://schemas.openxmlformats.org/drawingml/2006/main">
            <a:pPr algn="l">
              <a:defRPr sz="1656" b="0">
                <a:solidFill>
                  <a:srgbClr val="F4F7FA"/>
                </a:solidFill>
              </a:defRPr>
            </a:pPr>
            <a:r>
              <a:rPr sz="1656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Дальняя rocket + подброс: rail по доступной траектории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CB6F3BE-F3A8-4C19-89F8-5C4C3131C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10875874"/>
            <a:ext cx="12307824" cy="2468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716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56" b="0">
                <a:solidFill>
                  <a:srgbClr val="F4F7FA"/>
                </a:solidFill>
              </a:defRPr>
            </a:defPPr>
          </a:lstStyle>
          <a:p xmlns:a="http://schemas.openxmlformats.org/drawingml/2006/main">
            <a:pPr algn="l">
              <a:defRPr sz="1656" b="0">
                <a:solidFill>
                  <a:srgbClr val="F4F7FA"/>
                </a:solidFill>
              </a:defRPr>
            </a:pPr>
            <a:r>
              <a:rPr sz="1656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После 70–110 урона: оценить сближение, не лететь автоматически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66CC186-8EB7-40B4-B5A8-A72294A4A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11091672"/>
            <a:ext cx="12307824" cy="2468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716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56" b="0">
                <a:solidFill>
                  <a:srgbClr val="F4F7FA"/>
                </a:solidFill>
              </a:defRPr>
            </a:defPPr>
          </a:lstStyle>
          <a:p xmlns:a="http://schemas.openxmlformats.org/drawingml/2006/main">
            <a:pPr algn="l">
              <a:defRPr sz="1656" b="0">
                <a:solidFill>
                  <a:srgbClr val="F4F7FA"/>
                </a:solidFill>
              </a:defRPr>
            </a:pPr>
            <a:r>
              <a:rPr sz="1656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Штраф: rail либо 1–2 ракеты и отход из укрытия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3EAD749-EE7D-498C-9388-F5E2431B4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11307470"/>
            <a:ext cx="12307824" cy="2468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716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56" b="0">
                <a:solidFill>
                  <a:srgbClr val="F4F7FA"/>
                </a:solidFill>
              </a:defRPr>
            </a:defPPr>
          </a:lstStyle>
          <a:p xmlns:a="http://schemas.openxmlformats.org/drawingml/2006/main">
            <a:pPr algn="l">
              <a:defRPr sz="1656" b="0">
                <a:solidFill>
                  <a:srgbClr val="F4F7FA"/>
                </a:solidFill>
              </a:defRPr>
            </a:pPr>
            <a:r>
              <a:rPr sz="1656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Rocket / grenade zoning проходов, предметов и преследователя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FE31F9B6-26A7-4314-8936-24DB6517C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11523269"/>
            <a:ext cx="12307824" cy="2468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716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56" b="0">
                <a:solidFill>
                  <a:srgbClr val="F4F7FA"/>
                </a:solidFill>
              </a:defRPr>
            </a:defPPr>
          </a:lstStyle>
          <a:p xmlns:a="http://schemas.openxmlformats.org/drawingml/2006/main">
            <a:pPr algn="l">
              <a:defRPr sz="1656" b="0">
                <a:solidFill>
                  <a:srgbClr val="F4F7FA"/>
                </a:solidFill>
              </a:defRPr>
            </a:pPr>
            <a:r>
              <a:rPr sz="1656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Перчатка по цели мести; отмена опасной попытки, без WH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730513DC-EB9C-4CFC-B2AD-2A1CA469B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2060936"/>
            <a:ext cx="12710160" cy="2395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323A"/>
          </a:solidFill>
          <a:ln xmlns:a="http://schemas.openxmlformats.org/drawingml/2006/main" w="13716">
            <a:solidFill>
              <a:srgbClr val="56758C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4B7E4044-FAE6-406E-B414-699616E11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12179808"/>
            <a:ext cx="12307824" cy="3840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716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448" b="1">
                <a:solidFill>
                  <a:srgbClr val="81C7F1"/>
                </a:solidFill>
              </a:defRPr>
            </a:defPPr>
          </a:lstStyle>
          <a:p xmlns:a="http://schemas.openxmlformats.org/drawingml/2006/main">
            <a:pPr algn="l">
              <a:defRPr sz="2448" b="1">
                <a:solidFill>
                  <a:srgbClr val="81C7F1"/>
                </a:solidFill>
              </a:defRPr>
            </a:pPr>
            <a:r>
              <a:rPr sz="2448" b="1">
                <a:solidFill>
                  <a:srgbClr val="81C7F1"/>
                </a:solidFill>
                <a:latin typeface="Arial"/>
                <a:ea typeface="Arial"/>
                <a:cs typeface="Arial"/>
              </a:rPr>
              <a:t>E  Макроигра и предметы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083B3583-06E0-488B-A934-2941A84E2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12627864"/>
            <a:ext cx="12307824" cy="2468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716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56" b="0">
                <a:solidFill>
                  <a:srgbClr val="F4F7FA"/>
                </a:solidFill>
              </a:defRPr>
            </a:defPPr>
          </a:lstStyle>
          <a:p xmlns:a="http://schemas.openxmlformats.org/drawingml/2006/main">
            <a:pPr algn="l">
              <a:defRPr sz="1656" b="0">
                <a:solidFill>
                  <a:srgbClr val="F4F7FA"/>
                </a:solidFill>
              </a:defRPr>
            </a:pPr>
            <a:r>
              <a:rPr sz="1656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Старт аккуратный; Мега важнее армора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47B16D6F-AD53-4519-A043-412DD3817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12843662"/>
            <a:ext cx="12307824" cy="2468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716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56" b="0">
                <a:solidFill>
                  <a:srgbClr val="F4F7FA"/>
                </a:solidFill>
              </a:defRPr>
            </a:defPPr>
          </a:lstStyle>
          <a:p xmlns:a="http://schemas.openxmlformats.org/drawingml/2006/main">
            <a:pPr algn="l">
              <a:defRPr sz="1656" b="0">
                <a:solidFill>
                  <a:srgbClr val="F4F7FA"/>
                </a:solidFill>
              </a:defRPr>
            </a:pPr>
            <a:r>
              <a:rPr sz="1656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Точные таймеры всех предметов разрешены как в спектаторах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6DCE682A-4EEA-42B6-912F-D06351AB7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13059461"/>
            <a:ext cx="12307824" cy="2468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716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56" b="0">
                <a:solidFill>
                  <a:srgbClr val="F4F7FA"/>
                </a:solidFill>
              </a:defRPr>
            </a:defPPr>
          </a:lstStyle>
          <a:p xmlns:a="http://schemas.openxmlformats.org/drawingml/2006/main">
            <a:pPr algn="l">
              <a:defRPr sz="1656" b="0">
                <a:solidFill>
                  <a:srgbClr val="F4F7FA"/>
                </a:solidFill>
              </a:defRPr>
            </a:pPr>
            <a:r>
              <a:rPr sz="1656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Обычный цикл: MH / RA / YA / GA / шарды / HP / ammo / пушки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2E125BDC-5DD9-49A1-9B24-9C956CB0D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13275259"/>
            <a:ext cx="12307824" cy="2468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716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56" b="0">
                <a:solidFill>
                  <a:srgbClr val="F4F7FA"/>
                </a:solidFill>
              </a:defRPr>
            </a:defPPr>
          </a:lstStyle>
          <a:p xmlns:a="http://schemas.openxmlformats.org/drawingml/2006/main">
            <a:pPr algn="l">
              <a:defRPr sz="1656" b="0">
                <a:solidFill>
                  <a:srgbClr val="F4F7FA"/>
                </a:solidFill>
              </a:defRPr>
            </a:pPr>
            <a:r>
              <a:rPr sz="1656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Враг на контроле: остатки, дистанция, штраф MH / RA и выход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6681EE22-F1F6-4CB2-B098-E68523AB6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13491058"/>
            <a:ext cx="12307824" cy="2468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716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56" b="0">
                <a:solidFill>
                  <a:srgbClr val="F4F7FA"/>
                </a:solidFill>
              </a:defRPr>
            </a:defPPr>
          </a:lstStyle>
          <a:p xmlns:a="http://schemas.openxmlformats.org/drawingml/2006/main">
            <a:pPr algn="l">
              <a:defRPr sz="1656" b="0">
                <a:solidFill>
                  <a:srgbClr val="F4F7FA"/>
                </a:solidFill>
              </a:defRPr>
            </a:pPr>
            <a:r>
              <a:rPr sz="1656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Равный 10:10: LG-давление и прибытие ровно к таймингу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6D3D1A46-AFF2-4AB9-B5D2-AA57152D3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13706856"/>
            <a:ext cx="12307824" cy="2468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716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56" b="0">
                <a:solidFill>
                  <a:srgbClr val="F4F7FA"/>
                </a:solidFill>
              </a:defRPr>
            </a:defPPr>
          </a:lstStyle>
          <a:p xmlns:a="http://schemas.openxmlformats.org/drawingml/2006/main">
            <a:pPr algn="l">
              <a:defRPr sz="1656" b="0">
                <a:solidFill>
                  <a:srgbClr val="F4F7FA"/>
                </a:solidFill>
              </a:defRPr>
            </a:pPr>
            <a:r>
              <a:rPr sz="1656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Сильный соперник: строже считать и собирать жёлтые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90F8BD8E-EEB4-4267-9C3C-60C842DB0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13922654"/>
            <a:ext cx="12307824" cy="2468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716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56" b="0">
                <a:solidFill>
                  <a:srgbClr val="F4F7FA"/>
                </a:solidFill>
              </a:defRPr>
            </a:defPPr>
          </a:lstStyle>
          <a:p xmlns:a="http://schemas.openxmlformats.org/drawingml/2006/main">
            <a:pPr algn="l">
              <a:defRPr sz="1656" b="0">
                <a:solidFill>
                  <a:srgbClr val="F4F7FA"/>
                </a:solidFill>
              </a:defRPr>
            </a:pPr>
            <a:r>
              <a:rPr sz="1656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Тотальный контроль: 1–2 матча из 10, чаще против сильного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B33F16FC-0C6B-45D0-85C0-3635339D9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14138453"/>
            <a:ext cx="12307824" cy="2468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716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56" b="0">
                <a:solidFill>
                  <a:srgbClr val="F4F7FA"/>
                </a:solidFill>
              </a:defRPr>
            </a:defPPr>
          </a:lstStyle>
          <a:p xmlns:a="http://schemas.openxmlformats.org/drawingml/2006/main">
            <a:pPr algn="l">
              <a:defRPr sz="1656" b="0">
                <a:solidFill>
                  <a:srgbClr val="F4F7FA"/>
                </a:solidFill>
              </a:defRPr>
            </a:pPr>
            <a:r>
              <a:rPr sz="1656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При свободной игре оставлять ресурсы; не выравнивать счёт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5FF71910-8956-4375-94E1-2E027EA04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4676120"/>
            <a:ext cx="12710160" cy="2395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323A"/>
          </a:solidFill>
          <a:ln xmlns:a="http://schemas.openxmlformats.org/drawingml/2006/main" w="13716">
            <a:solidFill>
              <a:srgbClr val="56758C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A9694196-8D67-488C-987B-78C2FD809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14794992"/>
            <a:ext cx="12307824" cy="3840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716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448" b="1">
                <a:solidFill>
                  <a:srgbClr val="81C7F1"/>
                </a:solidFill>
              </a:defRPr>
            </a:defPPr>
          </a:lstStyle>
          <a:p xmlns:a="http://schemas.openxmlformats.org/drawingml/2006/main">
            <a:pPr algn="l">
              <a:defRPr sz="2448" b="1">
                <a:solidFill>
                  <a:srgbClr val="81C7F1"/>
                </a:solidFill>
              </a:defRPr>
            </a:pPr>
            <a:r>
              <a:rPr sz="2448" b="1">
                <a:solidFill>
                  <a:srgbClr val="81C7F1"/>
                </a:solidFill>
                <a:latin typeface="Arial"/>
                <a:ea typeface="Arial"/>
                <a:cs typeface="Arial"/>
              </a:rPr>
              <a:t>F  Циклы игрока и респауны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BC77F8CA-D39E-4E4C-9A9A-C5A289F2C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15243048"/>
            <a:ext cx="12307824" cy="2468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716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56" b="0">
                <a:solidFill>
                  <a:srgbClr val="F4F7FA"/>
                </a:solidFill>
              </a:defRPr>
            </a:defPPr>
          </a:lstStyle>
          <a:p xmlns:a="http://schemas.openxmlformats.org/drawingml/2006/main">
            <a:pPr algn="l">
              <a:defRPr sz="1656" b="0">
                <a:solidFill>
                  <a:srgbClr val="F4F7FA"/>
                </a:solidFill>
              </a:defRPr>
            </a:pPr>
            <a:r>
              <a:rPr sz="1656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Повтор зон / времени / предметов: история и уверенность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D6B1A4B9-FFA9-4460-A315-A892E860B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15458846"/>
            <a:ext cx="12307824" cy="2468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716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56" b="0">
                <a:solidFill>
                  <a:srgbClr val="F4F7FA"/>
                </a:solidFill>
              </a:defRPr>
            </a:defPPr>
          </a:lstStyle>
          <a:p xmlns:a="http://schemas.openxmlformats.org/drawingml/2006/main">
            <a:pPr algn="l">
              <a:defRPr sz="1656" b="0">
                <a:solidFill>
                  <a:srgbClr val="F4F7FA"/>
                </a:solidFill>
              </a:defRPr>
            </a:pPr>
            <a:r>
              <a:rPr sz="1656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Несколько повторов: перехват, prefire, тайминг power-up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000C271A-780A-4FF0-A974-4867B2161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15674645"/>
            <a:ext cx="12307824" cy="2468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716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56" b="0">
                <a:solidFill>
                  <a:srgbClr val="F4F7FA"/>
                </a:solidFill>
              </a:defRPr>
            </a:defPPr>
          </a:lstStyle>
          <a:p xmlns:a="http://schemas.openxmlformats.org/drawingml/2006/main">
            <a:pPr algn="l">
              <a:defRPr sz="1656" b="0">
                <a:solidFill>
                  <a:srgbClr val="F4F7FA"/>
                </a:solidFill>
              </a:defRPr>
            </a:pPr>
            <a:r>
              <a:rPr sz="1656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Смена маршрута снижает уверенность; без скрытых координат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6953247D-8902-4A7F-A773-9DBBB2D34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15890443"/>
            <a:ext cx="12307824" cy="2468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716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56" b="0">
                <a:solidFill>
                  <a:srgbClr val="F4F7FA"/>
                </a:solidFill>
              </a:defRPr>
            </a:defPPr>
          </a:lstStyle>
          <a:p xmlns:a="http://schemas.openxmlformats.org/drawingml/2006/main">
            <a:pPr algn="l">
              <a:defRPr sz="1656" b="0">
                <a:solidFill>
                  <a:srgbClr val="F4F7FA"/>
                </a:solidFill>
              </a:defRPr>
            </a:pPr>
            <a:r>
              <a:rPr sz="1656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Spawntrap: позиции из демок, заранее RL / PG спам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B7AA7609-FBB0-4F65-8764-1DCF8541B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16106242"/>
            <a:ext cx="12307824" cy="2468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716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56" b="0">
                <a:solidFill>
                  <a:srgbClr val="F4F7FA"/>
                </a:solidFill>
              </a:defRPr>
            </a:defPPr>
          </a:lstStyle>
          <a:p xmlns:a="http://schemas.openxmlformats.org/drawingml/2006/main">
            <a:pPr algn="l">
              <a:defRPr sz="1656" b="0">
                <a:solidFill>
                  <a:srgbClr val="F4F7FA"/>
                </a:solidFill>
              </a:defRPr>
            </a:pPr>
            <a:r>
              <a:rPr sz="1656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Быстрый респ попадает под спам; задержка игрока неизвестна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E7AA3513-2ADC-471F-8FE0-D1BC55913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16322040"/>
            <a:ext cx="12307824" cy="2468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716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56" b="0">
                <a:solidFill>
                  <a:srgbClr val="F4F7FA"/>
                </a:solidFill>
              </a:defRPr>
            </a:defPPr>
          </a:lstStyle>
          <a:p xmlns:a="http://schemas.openxmlformats.org/drawingml/2006/main">
            <a:pPr algn="l">
              <a:defRPr sz="1656" b="0">
                <a:solidFill>
                  <a:srgbClr val="F4F7FA"/>
                </a:solidFill>
              </a:defRPr>
            </a:pPr>
            <a:r>
              <a:rPr sz="1656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Серия до 2–3 респов; выше шанс после захвата контроля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13D32F73-1E82-42A1-B34E-1432CD358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16537838"/>
            <a:ext cx="12307824" cy="2468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716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56" b="0">
                <a:solidFill>
                  <a:srgbClr val="F4F7FA"/>
                </a:solidFill>
              </a:defRPr>
            </a:defPPr>
          </a:lstStyle>
          <a:p xmlns:a="http://schemas.openxmlformats.org/drawingml/2006/main">
            <a:pPr algn="l">
              <a:defRPr sz="1656" b="0">
                <a:solidFill>
                  <a:srgbClr val="F4F7FA"/>
                </a:solidFill>
              </a:defRPr>
            </a:pPr>
            <a:r>
              <a:rPr sz="1656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Lvl 1: нет; lvl 3: 1–2 эпизода за матч, не обязательная квота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B64BAC59-9B7D-4426-B0BC-BC29A319C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16753637"/>
            <a:ext cx="12307824" cy="2468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716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56" b="0">
                <a:solidFill>
                  <a:srgbClr val="F4F7FA"/>
                </a:solidFill>
              </a:defRPr>
            </a:defPPr>
          </a:lstStyle>
          <a:p xmlns:a="http://schemas.openxmlformats.org/drawingml/2006/main">
            <a:pPr algn="l">
              <a:defRPr sz="1656" b="0">
                <a:solidFill>
                  <a:srgbClr val="F4F7FA"/>
                </a:solidFill>
              </a:defRPr>
            </a:pPr>
            <a:r>
              <a:rPr sz="1656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Точный будущий респ — отдельное тренировочное исключение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A7CEBAB2-C5A6-45D9-97CF-E975CC51E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03584" y="1600200"/>
            <a:ext cx="12710160" cy="2395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323A"/>
          </a:solidFill>
          <a:ln xmlns:a="http://schemas.openxmlformats.org/drawingml/2006/main" w="13716">
            <a:solidFill>
              <a:srgbClr val="56758C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54BE814E-7F08-4051-8C0B-279A95EEF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04752" y="1719072"/>
            <a:ext cx="12307824" cy="3840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716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448" b="1">
                <a:solidFill>
                  <a:srgbClr val="81C7F1"/>
                </a:solidFill>
              </a:defRPr>
            </a:defPPr>
          </a:lstStyle>
          <a:p xmlns:a="http://schemas.openxmlformats.org/drawingml/2006/main">
            <a:pPr algn="l">
              <a:defRPr sz="2448" b="1">
                <a:solidFill>
                  <a:srgbClr val="81C7F1"/>
                </a:solidFill>
              </a:defRPr>
            </a:pPr>
            <a:r>
              <a:rPr sz="2448" b="1">
                <a:solidFill>
                  <a:srgbClr val="81C7F1"/>
                </a:solidFill>
                <a:latin typeface="Arial"/>
                <a:ea typeface="Arial"/>
                <a:cs typeface="Arial"/>
              </a:rPr>
              <a:t>G  Восприятие и честная информация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8FFDD647-32B8-46E5-8040-239EB2A16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04752" y="2167128"/>
            <a:ext cx="12307824" cy="2468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716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56" b="0">
                <a:solidFill>
                  <a:srgbClr val="F4F7FA"/>
                </a:solidFill>
              </a:defRPr>
            </a:defPPr>
          </a:lstStyle>
          <a:p xmlns:a="http://schemas.openxmlformats.org/drawingml/2006/main">
            <a:pPr algn="l">
              <a:defRPr sz="1656" b="0">
                <a:solidFill>
                  <a:srgbClr val="F4F7FA"/>
                </a:solidFill>
              </a:defRPr>
            </a:pPr>
            <a:r>
              <a:rPr sz="1656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Зрение, звук, память; стек противника — оценка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8AEA0618-AD7B-49A1-953C-6CC0DEAFB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04752" y="2382926"/>
            <a:ext cx="12307824" cy="2468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716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56" b="0">
                <a:solidFill>
                  <a:srgbClr val="F4F7FA"/>
                </a:solidFill>
              </a:defRPr>
            </a:defPPr>
          </a:lstStyle>
          <a:p xmlns:a="http://schemas.openxmlformats.org/drawingml/2006/main">
            <a:pPr algn="l">
              <a:defRPr sz="1656" b="0">
                <a:solidFill>
                  <a:srgbClr val="F4F7FA"/>
                </a:solidFill>
              </a:defRPr>
            </a:pPr>
            <a:r>
              <a:rPr sz="1656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После потери цели прогноз стареет; возможна ошибка направления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3F790E93-CCAE-4908-9D7A-E02C7AC3A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04752" y="2598725"/>
            <a:ext cx="12307824" cy="2468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716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56" b="0">
                <a:solidFill>
                  <a:srgbClr val="F4F7FA"/>
                </a:solidFill>
              </a:defRPr>
            </a:defPPr>
          </a:lstStyle>
          <a:p xmlns:a="http://schemas.openxmlformats.org/drawingml/2006/main">
            <a:pPr algn="l">
              <a:defRPr sz="1656" b="0">
                <a:solidFill>
                  <a:srgbClr val="F4F7FA"/>
                </a:solidFill>
              </a:defRPr>
            </a:pPr>
            <a:r>
              <a:rPr sz="1656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Взгляд по задаче, а не постоянно на соперника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6F7D0E6D-D1A8-4123-A0F4-765CAC36E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04752" y="2814523"/>
            <a:ext cx="12307824" cy="2468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716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56" b="0">
                <a:solidFill>
                  <a:srgbClr val="F4F7FA"/>
                </a:solidFill>
              </a:defRPr>
            </a:defPPr>
          </a:lstStyle>
          <a:p xmlns:a="http://schemas.openxmlformats.org/drawingml/2006/main">
            <a:pPr algn="l">
              <a:defRPr sz="1656" b="0">
                <a:solidFill>
                  <a:srgbClr val="F4F7FA"/>
                </a:solidFill>
              </a:defRPr>
            </a:pPr>
            <a:r>
              <a:rPr sz="1656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Игрок может тихо обойти, выйти в спину, ждать за углом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52AF3FB4-AAAC-43D9-A6F8-BFDE3F994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04752" y="3030322"/>
            <a:ext cx="12307824" cy="2468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716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56" b="0">
                <a:solidFill>
                  <a:srgbClr val="F4F7FA"/>
                </a:solidFill>
              </a:defRPr>
            </a:defPPr>
          </a:lstStyle>
          <a:p xmlns:a="http://schemas.openxmlformats.org/drawingml/2006/main">
            <a:pPr algn="l">
              <a:defRPr sz="1656" b="0">
                <a:solidFill>
                  <a:srgbClr val="F4F7FA"/>
                </a:solidFill>
              </a:defRPr>
            </a:pPr>
            <a:r>
              <a:rPr sz="1656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Реакция после доступного сигнала, с задержкой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ECE659D6-235F-409E-9DA2-384A92907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04752" y="3246120"/>
            <a:ext cx="12307824" cy="2468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716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56" b="0">
                <a:solidFill>
                  <a:srgbClr val="F4F7FA"/>
                </a:solidFill>
              </a:defRPr>
            </a:defPPr>
          </a:lstStyle>
          <a:p xmlns:a="http://schemas.openxmlformats.org/drawingml/2006/main">
            <a:pPr algn="l">
              <a:defRPr sz="1656" b="0">
                <a:solidFill>
                  <a:srgbClr val="F4F7FA"/>
                </a:solidFill>
              </a:defRPr>
            </a:pPr>
            <a:r>
              <a:rPr sz="1656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Rail только LOS; projectile prefire по вероятному проходу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8EC5585C-1920-4EAB-AE2B-1737E3455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04752" y="3461918"/>
            <a:ext cx="12307824" cy="2468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716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56" b="0">
                <a:solidFill>
                  <a:srgbClr val="F4F7FA"/>
                </a:solidFill>
              </a:defRPr>
            </a:defPPr>
          </a:lstStyle>
          <a:p xmlns:a="http://schemas.openxmlformats.org/drawingml/2006/main">
            <a:pPr algn="l">
              <a:defRPr sz="1656" b="0">
                <a:solidFill>
                  <a:srgbClr val="F4F7FA"/>
                </a:solidFill>
              </a:defRPr>
            </a:pPr>
            <a:r>
              <a:rPr sz="1656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Разрешения отдельно: все таймеры / будущий респ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8D50450C-DB53-4596-817B-8C4976A8E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04752" y="3677717"/>
            <a:ext cx="12307824" cy="2468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716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56" b="0">
                <a:solidFill>
                  <a:srgbClr val="F4F7FA"/>
                </a:solidFill>
              </a:defRPr>
            </a:defPPr>
          </a:lstStyle>
          <a:p xmlns:a="http://schemas.openxmlformats.org/drawingml/2006/main">
            <a:pPr algn="l">
              <a:defRPr sz="1656" b="0">
                <a:solidFill>
                  <a:srgbClr val="F4F7FA"/>
                </a:solidFill>
              </a:defRPr>
            </a:pPr>
            <a:r>
              <a:rPr sz="1656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Лог причины реакции; no-WH проверять игровыми сценариями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1F813D45-1575-4431-B365-834362389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03584" y="4215384"/>
            <a:ext cx="12710160" cy="2395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323A"/>
          </a:solidFill>
          <a:ln xmlns:a="http://schemas.openxmlformats.org/drawingml/2006/main" w="13716">
            <a:solidFill>
              <a:srgbClr val="56758C"/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5DC5279D-2BE2-44CF-A7F4-7EBAC644B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04752" y="4334256"/>
            <a:ext cx="12307824" cy="3840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716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448" b="1">
                <a:solidFill>
                  <a:srgbClr val="81C7F1"/>
                </a:solidFill>
              </a:defRPr>
            </a:defPPr>
          </a:lstStyle>
          <a:p xmlns:a="http://schemas.openxmlformats.org/drawingml/2006/main">
            <a:pPr algn="l">
              <a:defRPr sz="2448" b="1">
                <a:solidFill>
                  <a:srgbClr val="81C7F1"/>
                </a:solidFill>
              </a:defRPr>
            </a:pPr>
            <a:r>
              <a:rPr sz="2448" b="1">
                <a:solidFill>
                  <a:srgbClr val="81C7F1"/>
                </a:solidFill>
                <a:latin typeface="Arial"/>
                <a:ea typeface="Arial"/>
                <a:cs typeface="Arial"/>
              </a:rPr>
              <a:t>H  Три стиля и осторожный режим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354AB299-D42B-43CC-A834-F4DD8EB61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04752" y="4782312"/>
            <a:ext cx="12307824" cy="2468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716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56" b="0">
                <a:solidFill>
                  <a:srgbClr val="F4F7FA"/>
                </a:solidFill>
              </a:defRPr>
            </a:defPPr>
          </a:lstStyle>
          <a:p xmlns:a="http://schemas.openxmlformats.org/drawingml/2006/main">
            <a:pPr algn="l">
              <a:defRPr sz="1656" b="0">
                <a:solidFill>
                  <a:srgbClr val="F4F7FA"/>
                </a:solidFill>
              </a:defRPr>
            </a:pPr>
            <a:r>
              <a:rPr sz="1656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Агрессивный: 80–90 нанесённого урона + выгода; push, MH / RA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F99F7D4E-5D1F-4F67-9F95-0E0392192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04752" y="4998110"/>
            <a:ext cx="12307824" cy="2468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716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56" b="0">
                <a:solidFill>
                  <a:srgbClr val="F4F7FA"/>
                </a:solidFill>
              </a:defRPr>
            </a:defPPr>
          </a:lstStyle>
          <a:p xmlns:a="http://schemas.openxmlformats.org/drawingml/2006/main">
            <a:pPr algn="l">
              <a:defRPr sz="1656" b="0">
                <a:solidFill>
                  <a:srgbClr val="F4F7FA"/>
                </a:solidFill>
              </a:defRPr>
            </a:pPr>
            <a:r>
              <a:rPr sz="1656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Средний: 70–100 полученного; отход, восстановление на YA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E6D1DB8A-E03D-41A2-BFD0-1E6E98115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04752" y="5213909"/>
            <a:ext cx="12307824" cy="2468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716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56" b="0">
                <a:solidFill>
                  <a:srgbClr val="F4F7FA"/>
                </a:solidFill>
              </a:defRPr>
            </a:defPPr>
          </a:lstStyle>
          <a:p xmlns:a="http://schemas.openxmlformats.org/drawingml/2006/main">
            <a:pPr algn="l">
              <a:defRPr sz="1656" b="0">
                <a:solidFill>
                  <a:srgbClr val="F4F7FA"/>
                </a:solidFill>
              </a:defRPr>
            </a:pPr>
            <a:r>
              <a:rPr sz="1656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Пассивный: один rail по себе; выход, 1–2 YA и аптечки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15FBF6D2-457E-4717-B389-0E9691828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04752" y="5429707"/>
            <a:ext cx="12307824" cy="2468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716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56" b="0">
                <a:solidFill>
                  <a:srgbClr val="F4F7FA"/>
                </a:solidFill>
              </a:defRPr>
            </a:defPPr>
          </a:lstStyle>
          <a:p xmlns:a="http://schemas.openxmlformats.org/drawingml/2006/main">
            <a:pPr algn="l">
              <a:defRPr sz="1656" b="0">
                <a:solidFill>
                  <a:srgbClr val="F4F7FA"/>
                </a:solidFill>
              </a:defRPr>
            </a:pPr>
            <a:r>
              <a:rPr sz="1656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Копирует агрессию / осторожность по накопленным наблюдениям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7633BF0A-C261-4B6B-A15A-FC5CBE6BC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04752" y="5645506"/>
            <a:ext cx="12307824" cy="2468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716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56" b="0">
                <a:solidFill>
                  <a:srgbClr val="F4F7FA"/>
                </a:solidFill>
              </a:defRPr>
            </a:defPPr>
          </a:lstStyle>
          <a:p xmlns:a="http://schemas.openxmlformats.org/drawingml/2006/main">
            <a:pPr algn="l">
              <a:defRPr sz="1656" b="0">
                <a:solidFill>
                  <a:srgbClr val="F4F7FA"/>
                </a:solidFill>
              </a:defRPr>
            </a:pPr>
            <a:r>
              <a:rPr sz="1656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«Обоссанец»: 0:3 / 0:4 / 0:5 + проигранные столкновения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34B0FCB8-D748-4297-BDD0-3A6B2937B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04752" y="5861304"/>
            <a:ext cx="12307824" cy="2468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716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56" b="0">
                <a:solidFill>
                  <a:srgbClr val="F4F7FA"/>
                </a:solidFill>
              </a:defRPr>
            </a:defPPr>
          </a:lstStyle>
          <a:p xmlns:a="http://schemas.openxmlformats.org/drawingml/2006/main">
            <a:pPr algn="l">
              <a:defRPr sz="1656" b="0">
                <a:solidFill>
                  <a:srgbClr val="F4F7FA"/>
                </a:solidFill>
              </a:defRPr>
            </a:pPr>
            <a:r>
              <a:rPr sz="1656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Тихо уходит, YA / GA / HP / ammo; меньше лишних RJ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4B9D9A25-2F29-46D2-9AA4-6A4BAB121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04752" y="6077102"/>
            <a:ext cx="12307824" cy="2468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716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56" b="0">
                <a:solidFill>
                  <a:srgbClr val="F4F7FA"/>
                </a:solidFill>
              </a:defRPr>
            </a:defPPr>
          </a:lstStyle>
          <a:p xmlns:a="http://schemas.openxmlformats.org/drawingml/2006/main">
            <a:pPr algn="l">
              <a:defRPr sz="1656" b="0">
                <a:solidFill>
                  <a:srgbClr val="F4F7FA"/>
                </a:solidFill>
              </a:defRPr>
            </a:pPr>
            <a:r>
              <a:rPr sz="1656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MH / RA штрафует rail и уходит; безопасный подбор допустим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F6E12A78-5FA6-4635-9CEA-A568981FB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04752" y="6292901"/>
            <a:ext cx="12307824" cy="2468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716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56" b="0">
                <a:solidFill>
                  <a:srgbClr val="F4F7FA"/>
                </a:solidFill>
              </a:defRPr>
            </a:defPPr>
          </a:lstStyle>
          <a:p xmlns:a="http://schemas.openxmlformats.org/drawingml/2006/main">
            <a:pPr algn="l">
              <a:defRPr sz="1656" b="0">
                <a:solidFill>
                  <a:srgbClr val="F4F7FA"/>
                </a:solidFill>
              </a:defRPr>
            </a:pPr>
            <a:r>
              <a:rPr sz="1656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Выход после устойчивого восстановления; не после одного rail</a:t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5B277D04-1189-4DF9-BD48-A87407ED9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03584" y="6830568"/>
            <a:ext cx="12710160" cy="2395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323A"/>
          </a:solidFill>
          <a:ln xmlns:a="http://schemas.openxmlformats.org/drawingml/2006/main" w="13716">
            <a:solidFill>
              <a:srgbClr val="56758C"/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FEC0338C-B350-4216-80CF-1614B503E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04752" y="6949440"/>
            <a:ext cx="12307824" cy="3840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716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448" b="1">
                <a:solidFill>
                  <a:srgbClr val="81C7F1"/>
                </a:solidFill>
              </a:defRPr>
            </a:defPPr>
          </a:lstStyle>
          <a:p xmlns:a="http://schemas.openxmlformats.org/drawingml/2006/main">
            <a:pPr algn="l">
              <a:defRPr sz="2448" b="1">
                <a:solidFill>
                  <a:srgbClr val="81C7F1"/>
                </a:solidFill>
              </a:defRPr>
            </a:pPr>
            <a:r>
              <a:rPr sz="2448" b="1">
                <a:solidFill>
                  <a:srgbClr val="81C7F1"/>
                </a:solidFill>
                <a:latin typeface="Arial"/>
                <a:ea typeface="Arial"/>
                <a:cs typeface="Arial"/>
              </a:rPr>
              <a:t>I  Подстройка и «игра до фрага»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8ACEC77F-D720-47C1-AE54-071806D43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04752" y="7397496"/>
            <a:ext cx="12307824" cy="2468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716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56" b="0">
                <a:solidFill>
                  <a:srgbClr val="F4F7FA"/>
                </a:solidFill>
              </a:defRPr>
            </a:defPPr>
          </a:lstStyle>
          <a:p xmlns:a="http://schemas.openxmlformats.org/drawingml/2006/main">
            <a:pPr algn="l">
              <a:defRPr sz="1656" b="0">
                <a:solidFill>
                  <a:srgbClr val="F4F7FA"/>
                </a:solidFill>
              </a:defRPr>
            </a:pPr>
            <a:r>
              <a:rPr sz="1656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Сила: размен, контроль, бои при равном стеке, маршруты, отходы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56412360-BE4E-4EC7-904C-11C279F0A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04752" y="7613294"/>
            <a:ext cx="12307824" cy="2468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716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56" b="0">
                <a:solidFill>
                  <a:srgbClr val="F4F7FA"/>
                </a:solidFill>
              </a:defRPr>
            </a:defPPr>
          </a:lstStyle>
          <a:p xmlns:a="http://schemas.openxmlformats.org/drawingml/2006/main">
            <a:pPr algn="l">
              <a:defRPr sz="1656" b="0">
                <a:solidFill>
                  <a:srgbClr val="F4F7FA"/>
                </a:solidFill>
              </a:defRPr>
            </a:pPr>
            <a:r>
              <a:rPr sz="1656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Слабый: цикличность, знакомые позиции, пропуски пушек / итемов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26B5DED0-F524-4982-BA6B-6D7075140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04752" y="7829093"/>
            <a:ext cx="12307824" cy="2468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716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56" b="0">
                <a:solidFill>
                  <a:srgbClr val="F4F7FA"/>
                </a:solidFill>
              </a:defRPr>
            </a:defPPr>
          </a:lstStyle>
          <a:p xmlns:a="http://schemas.openxmlformats.org/drawingml/2006/main">
            <a:pPr algn="l">
              <a:defRPr sz="1656" b="0">
                <a:solidFill>
                  <a:srgbClr val="F4F7FA"/>
                </a:solidFill>
              </a:defRPr>
            </a:pPr>
            <a:r>
              <a:rPr sz="1656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Больше палится, рискует, RJ; коротко давит и отпускает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4F4F3522-D613-4BEE-875E-399470FB5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04752" y="8044891"/>
            <a:ext cx="12307824" cy="2468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716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56" b="0">
                <a:solidFill>
                  <a:srgbClr val="F4F7FA"/>
                </a:solidFill>
              </a:defRPr>
            </a:defPPr>
          </a:lstStyle>
          <a:p xmlns:a="http://schemas.openxmlformats.org/drawingml/2006/main">
            <a:pPr algn="l">
              <a:defRPr sz="1656" b="0">
                <a:solidFill>
                  <a:srgbClr val="F4F7FA"/>
                </a:solidFill>
              </a:defRPr>
            </a:pPr>
            <a:r>
              <a:rPr sz="1656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Сильный: строже контроль, контратака; после перехвата тише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067CA4A9-49E1-45F4-842F-A27493AEB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04752" y="8260690"/>
            <a:ext cx="12307824" cy="2468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716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56" b="0">
                <a:solidFill>
                  <a:srgbClr val="F4F7FA"/>
                </a:solidFill>
              </a:defRPr>
            </a:defPPr>
          </a:lstStyle>
          <a:p xmlns:a="http://schemas.openxmlformats.org/drawingml/2006/main">
            <a:pPr algn="l">
              <a:defRPr sz="1656" b="0">
                <a:solidFill>
                  <a:srgbClr val="F4F7FA"/>
                </a:solidFill>
              </a:defRPr>
            </a:pPr>
            <a:r>
              <a:rPr sz="1656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Наглый push: собрать ≥100/100 + LG / RL / rail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79FEFD2D-DA9A-49B7-9303-4C1FEB572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04752" y="8476488"/>
            <a:ext cx="12307824" cy="2468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716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56" b="0">
                <a:solidFill>
                  <a:srgbClr val="F4F7FA"/>
                </a:solidFill>
              </a:defRPr>
            </a:defPPr>
          </a:lstStyle>
          <a:p xmlns:a="http://schemas.openxmlformats.org/drawingml/2006/main">
            <a:pPr algn="l">
              <a:defRPr sz="1656" b="0">
                <a:solidFill>
                  <a:srgbClr val="F4F7FA"/>
                </a:solidFill>
              </a:defRPr>
            </a:pPr>
            <a:r>
              <a:rPr sz="1656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70–110 урона: выгодно сблизиться, RL / SG finish; иначе выйти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18B00383-7E89-4D4D-AEE6-47B952234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04752" y="8692286"/>
            <a:ext cx="12307824" cy="2468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716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56" b="0">
                <a:solidFill>
                  <a:srgbClr val="F4F7FA"/>
                </a:solidFill>
              </a:defRPr>
            </a:defPPr>
          </a:lstStyle>
          <a:p xmlns:a="http://schemas.openxmlformats.org/drawingml/2006/main">
            <a:pPr algn="l">
              <a:defRPr sz="1656" b="0">
                <a:solidFill>
                  <a:srgbClr val="F4F7FA"/>
                </a:solidFill>
              </a:defRPr>
            </a:pPr>
            <a:r>
              <a:rPr sz="1656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Равный: дистанция, размен и восстановление, до ~5 мин без фрага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DE0F556E-182B-4C02-A89C-35C21B141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04752" y="8908085"/>
            <a:ext cx="12307824" cy="2468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716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56" b="0">
                <a:solidFill>
                  <a:srgbClr val="F4F7FA"/>
                </a:solidFill>
              </a:defRPr>
            </a:defPPr>
          </a:lstStyle>
          <a:p xmlns:a="http://schemas.openxmlformats.org/drawingml/2006/main">
            <a:pPr algn="l">
              <a:defRPr sz="1656" b="0">
                <a:solidFill>
                  <a:srgbClr val="F4F7FA"/>
                </a:solidFill>
              </a:defRPr>
            </a:pPr>
            <a:r>
              <a:rPr sz="1656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Реальные ошибки и засады решают исход; без запрета убийства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1E1C898B-B0BD-4E3F-8BCA-4C76DC6CD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03584" y="9445752"/>
            <a:ext cx="12710160" cy="2395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323A"/>
          </a:solidFill>
          <a:ln xmlns:a="http://schemas.openxmlformats.org/drawingml/2006/main" w="13716">
            <a:solidFill>
              <a:srgbClr val="56758C"/>
            </a:solidFill>
            <a:prstDash val="solid"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0BA318AB-A26C-4C7A-8B3E-0B875C68B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04752" y="9564624"/>
            <a:ext cx="12307824" cy="3840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716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448" b="1">
                <a:solidFill>
                  <a:srgbClr val="81C7F1"/>
                </a:solidFill>
              </a:defRPr>
            </a:defPPr>
          </a:lstStyle>
          <a:p xmlns:a="http://schemas.openxmlformats.org/drawingml/2006/main">
            <a:pPr algn="l">
              <a:defRPr sz="2448" b="1">
                <a:solidFill>
                  <a:srgbClr val="81C7F1"/>
                </a:solidFill>
              </a:defRPr>
            </a:pPr>
            <a:r>
              <a:rPr sz="2448" b="1">
                <a:solidFill>
                  <a:srgbClr val="81C7F1"/>
                </a:solidFill>
                <a:latin typeface="Arial"/>
                <a:ea typeface="Arial"/>
                <a:cs typeface="Arial"/>
              </a:rPr>
              <a:t>J  Характер, расслабление и forfeit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D7C0406A-AFAF-4363-903B-059A96779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04752" y="10012680"/>
            <a:ext cx="12307824" cy="2468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716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56" b="0">
                <a:solidFill>
                  <a:srgbClr val="F4F7FA"/>
                </a:solidFill>
              </a:defRPr>
            </a:defPPr>
          </a:lstStyle>
          <a:p xmlns:a="http://schemas.openxmlformats.org/drawingml/2006/main">
            <a:pPr algn="l">
              <a:defRPr sz="1656" b="0">
                <a:solidFill>
                  <a:srgbClr val="F4F7FA"/>
                </a:solidFill>
              </a:defRPr>
            </a:pPr>
            <a:r>
              <a:rPr sz="1656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При 20:0 может расслабиться, открыть шансы на 5–10 фрагов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70444CAB-4A31-4F08-929F-00B8F6B71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04752" y="10228478"/>
            <a:ext cx="12307824" cy="2468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716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56" b="0">
                <a:solidFill>
                  <a:srgbClr val="F4F7FA"/>
                </a:solidFill>
              </a:defRPr>
            </a:defPPr>
          </a:lstStyle>
          <a:p xmlns:a="http://schemas.openxmlformats.org/drawingml/2006/main">
            <a:pPr algn="l">
              <a:defRPr sz="1656" b="0">
                <a:solidFill>
                  <a:srgbClr val="F4F7FA"/>
                </a:solidFill>
              </a:defRPr>
            </a:pPr>
            <a:r>
              <a:rPr sz="1656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Тильт с потерей лидерства: 1–2 случая за 10–15 игр</a:t>
            </a:r>
          </a:p>
        </p:txBody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F8D80CAE-BF51-4A29-AD62-EAD814868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04752" y="10444277"/>
            <a:ext cx="12307824" cy="2468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716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56" b="0">
                <a:solidFill>
                  <a:srgbClr val="F4F7FA"/>
                </a:solidFill>
              </a:defRPr>
            </a:defPPr>
          </a:lstStyle>
          <a:p xmlns:a="http://schemas.openxmlformats.org/drawingml/2006/main">
            <a:pPr algn="l">
              <a:defRPr sz="1656" b="0">
                <a:solidFill>
                  <a:srgbClr val="F4F7FA"/>
                </a:solidFill>
              </a:defRPr>
            </a:pPr>
            <a:r>
              <a:rPr sz="1656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При 0:5 / 0:6 / 0:10 возможна поведенческая сдача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BD742C3E-8715-44D8-9C77-042ED81B2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04752" y="10660075"/>
            <a:ext cx="12307824" cy="2468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716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56" b="0">
                <a:solidFill>
                  <a:srgbClr val="F4F7FA"/>
                </a:solidFill>
              </a:defRPr>
            </a:defPPr>
          </a:lstStyle>
          <a:p xmlns:a="http://schemas.openxmlformats.org/drawingml/2006/main">
            <a:pPr algn="l">
              <a:defRPr sz="1656" b="0">
                <a:solidFill>
                  <a:srgbClr val="F4F7FA"/>
                </a:solidFill>
              </a:defRPr>
            </a:pPr>
            <a:r>
              <a:rPr sz="1656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С респа 100 HP, первая пушка, rush, без нормального сбора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6BFD6DEE-2E28-4D6D-A2FA-3814C91E9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04752" y="10875874"/>
            <a:ext cx="12307824" cy="2468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716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56" b="0">
                <a:solidFill>
                  <a:srgbClr val="F4F7FA"/>
                </a:solidFill>
              </a:defRPr>
            </a:defPPr>
          </a:lstStyle>
          <a:p xmlns:a="http://schemas.openxmlformats.org/drawingml/2006/main">
            <a:pPr algn="l">
              <a:defRPr sz="1656" b="0">
                <a:solidFill>
                  <a:srgbClr val="F4F7FA"/>
                </a:solidFill>
              </a:defRPr>
            </a:pPr>
            <a:r>
              <a:rPr sz="1656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Случайные 1–2 фрага не означают полноценный comeback</a:t>
            </a:r>
          </a:p>
        </p:txBody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549EBF40-2DCA-402D-BA6C-AD0A1E7E7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04752" y="11091672"/>
            <a:ext cx="12307824" cy="2468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716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56" b="0">
                <a:solidFill>
                  <a:srgbClr val="F4F7FA"/>
                </a:solidFill>
              </a:defRPr>
            </a:defPPr>
          </a:lstStyle>
          <a:p xmlns:a="http://schemas.openxmlformats.org/drawingml/2006/main">
            <a:pPr algn="l">
              <a:defRPr sz="1656" b="0">
                <a:solidFill>
                  <a:srgbClr val="F4F7FA"/>
                </a:solidFill>
              </a:defRPr>
            </a:pPr>
            <a:r>
              <a:rPr sz="1656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Выход при ≥30 фрагах врага: дефицит &gt;15–20 ≈50%; 5:30 ≈90%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7E057772-BCB3-49D6-AD54-E87A7FE4B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04752" y="11307470"/>
            <a:ext cx="12307824" cy="2468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716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56" b="0">
                <a:solidFill>
                  <a:srgbClr val="F4F7FA"/>
                </a:solidFill>
              </a:defRPr>
            </a:defPPr>
          </a:lstStyle>
          <a:p xmlns:a="http://schemas.openxmlformats.org/drawingml/2006/main">
            <a:pPr algn="l">
              <a:defRPr sz="1656" b="0">
                <a:solidFill>
                  <a:srgbClr val="F4F7FA"/>
                </a:solidFill>
              </a:defRPr>
            </a:pPr>
            <a:r>
              <a:rPr sz="1656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15:30 ещё может остаться; таблицу выхода согласовать</a:t>
            </a: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E9076A0C-580C-46B1-8F87-7F71295F9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04752" y="11523269"/>
            <a:ext cx="12307824" cy="2468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716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56" b="0">
                <a:solidFill>
                  <a:srgbClr val="F4F7FA"/>
                </a:solidFill>
              </a:defRPr>
            </a:defPPr>
          </a:lstStyle>
          <a:p xmlns:a="http://schemas.openxmlformats.org/drawingml/2006/main">
            <a:pPr algn="l">
              <a:defRPr sz="1656" b="0">
                <a:solidFill>
                  <a:srgbClr val="F4F7FA"/>
                </a:solidFill>
              </a:defRPr>
            </a:pPr>
            <a:r>
              <a:rPr sz="1656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Один бросок вероятности; не каждый тик; не возвращать autofill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034D0C1C-D9AC-4401-9811-ECCB36E26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03584" y="12060936"/>
            <a:ext cx="12710160" cy="2395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323A"/>
          </a:solidFill>
          <a:ln xmlns:a="http://schemas.openxmlformats.org/drawingml/2006/main" w="13716">
            <a:solidFill>
              <a:srgbClr val="56758C"/>
            </a:solidFill>
            <a:prstDash val="solid"/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57196090-F5FE-4DD9-A3AF-79D2800A0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04752" y="12179808"/>
            <a:ext cx="12307824" cy="3840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716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448" b="1">
                <a:solidFill>
                  <a:srgbClr val="81C7F1"/>
                </a:solidFill>
              </a:defRPr>
            </a:defPPr>
          </a:lstStyle>
          <a:p xmlns:a="http://schemas.openxmlformats.org/drawingml/2006/main">
            <a:pPr algn="l">
              <a:defRPr sz="2448" b="1">
                <a:solidFill>
                  <a:srgbClr val="81C7F1"/>
                </a:solidFill>
              </a:defRPr>
            </a:pPr>
            <a:r>
              <a:rPr sz="2448" b="1">
                <a:solidFill>
                  <a:srgbClr val="81C7F1"/>
                </a:solidFill>
                <a:latin typeface="Arial"/>
                <a:ea typeface="Arial"/>
                <a:cs typeface="Arial"/>
              </a:rPr>
              <a:t>K  Чат и ответные действия</a:t>
            </a:r>
          </a:p>
        </p:txBody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848177D8-8094-4A29-8374-85BC07323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04752" y="12627864"/>
            <a:ext cx="12307824" cy="2468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716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56" b="0">
                <a:solidFill>
                  <a:srgbClr val="F4F7FA"/>
                </a:solidFill>
              </a:defRPr>
            </a:defPPr>
          </a:lstStyle>
          <a:p xmlns:a="http://schemas.openxmlformats.org/drawingml/2006/main">
            <a:pPr algn="l">
              <a:defRPr sz="1656" b="0">
                <a:solidFill>
                  <a:srgbClr val="F4F7FA"/>
                </a:solidFill>
              </a:defRPr>
            </a:pPr>
            <a:r>
              <a:rPr sz="1656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GL / HF / GG / WP: вежливо; в конце дуэли: «GG! Реванш?»</a:t>
            </a:r>
          </a:p>
        </p:txBody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8473BCA9-46E0-48B9-B9C1-915F4804A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04752" y="12843662"/>
            <a:ext cx="12307824" cy="2468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716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56" b="0">
                <a:solidFill>
                  <a:srgbClr val="F4F7FA"/>
                </a:solidFill>
              </a:defRPr>
            </a:defPPr>
          </a:lstStyle>
          <a:p xmlns:a="http://schemas.openxmlformats.org/drawingml/2006/main">
            <a:pPr algn="l">
              <a:defRPr sz="1656" b="0">
                <a:solidFill>
                  <a:srgbClr val="F4F7FA"/>
                </a:solidFill>
              </a:defRPr>
            </a:pPr>
            <a:r>
              <a:rPr sz="1656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На грубость отвечает; не отвечает себе / ботам; без циклов</a:t>
            </a: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5ACF3BB9-19A0-4850-B6A9-9F2458A5C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04752" y="13059461"/>
            <a:ext cx="12307824" cy="2468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716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56" b="0">
                <a:solidFill>
                  <a:srgbClr val="F4F7FA"/>
                </a:solidFill>
              </a:defRPr>
            </a:defPPr>
          </a:lstStyle>
          <a:p xmlns:a="http://schemas.openxmlformats.org/drawingml/2006/main">
            <a:pPr algn="l">
              <a:defRPr sz="1656" b="0">
                <a:solidFill>
                  <a:srgbClr val="F4F7FA"/>
                </a:solidFill>
              </a:defRPr>
            </a:pPr>
            <a:r>
              <a:rPr sz="1656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Gauntlet: реальный damage, порог 50 (тест 25), месть 90 с</a:t>
            </a: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747EDD1E-07CA-4F41-9485-6376B39FC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04752" y="13275259"/>
            <a:ext cx="12307824" cy="2468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716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56" b="0">
                <a:solidFill>
                  <a:srgbClr val="F4F7FA"/>
                </a:solidFill>
              </a:defRPr>
            </a:defPPr>
          </a:lstStyle>
          <a:p xmlns:a="http://schemas.openxmlformats.org/drawingml/2006/main">
            <a:pPr algn="l">
              <a:defRPr sz="1656" b="0">
                <a:solidFill>
                  <a:srgbClr val="F4F7FA"/>
                </a:solidFill>
              </a:defRPr>
            </a:pPr>
            <a:r>
              <a:rPr sz="1656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Оценка HP ≤50 + близко + видно: обязательная попытка, не килл</a:t>
            </a: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8BA6902A-D6AC-46E8-829F-2A30B5FC6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04752" y="13491058"/>
            <a:ext cx="12307824" cy="2468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716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56" b="0">
                <a:solidFill>
                  <a:srgbClr val="F4F7FA"/>
                </a:solidFill>
              </a:defRPr>
            </a:defPPr>
          </a:lstStyle>
          <a:p xmlns:a="http://schemas.openxmlformats.org/drawingml/2006/main">
            <a:pPr algn="l">
              <a:defRPr sz="1656" b="0">
                <a:solidFill>
                  <a:srgbClr val="F4F7FA"/>
                </a:solidFill>
              </a:defRPr>
            </a:pPr>
            <a:r>
              <a:rPr sz="1656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Реплика про пилу: 70%, ≥30 с; не от одного equip</a:t>
            </a:r>
          </a:p>
        </p:txBody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E7A00D55-77BF-4186-B1E2-D6D5F1375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04752" y="13706856"/>
            <a:ext cx="12307824" cy="2468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716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56" b="0">
                <a:solidFill>
                  <a:srgbClr val="F4F7FA"/>
                </a:solidFill>
              </a:defRPr>
            </a:defPPr>
          </a:lstStyle>
          <a:p xmlns:a="http://schemas.openxmlformats.org/drawingml/2006/main">
            <a:pPr algn="l">
              <a:defRPr sz="1656" b="0">
                <a:solidFill>
                  <a:srgbClr val="F4F7FA"/>
                </a:solidFill>
              </a:defRPr>
            </a:pPr>
            <a:r>
              <a:rPr sz="1656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Трупы: первые 2 эпизода молчит, после 3-го реплика и ответ</a:t>
            </a:r>
          </a:p>
        </p:txBody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73061745-4953-40B6-9FC0-0872CD1BC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04752" y="13922654"/>
            <a:ext cx="12307824" cy="2468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716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56" b="0">
                <a:solidFill>
                  <a:srgbClr val="F4F7FA"/>
                </a:solidFill>
              </a:defRPr>
            </a:defPPr>
          </a:lstStyle>
          <a:p xmlns:a="http://schemas.openxmlformats.org/drawingml/2006/main">
            <a:pPr algn="l">
              <a:defRPr sz="1656" b="0">
                <a:solidFill>
                  <a:srgbClr val="F4F7FA"/>
                </a:solidFill>
              </a:defRPr>
            </a:pPr>
            <a:r>
              <a:rPr sz="1656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Один труп = эпизод; ответ ≤1 с безопасно; сброс в новом матче</a:t>
            </a:r>
          </a:p>
        </p:txBody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9E57930D-BC31-4DF1-A54C-F51704BA4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04752" y="14138453"/>
            <a:ext cx="12307824" cy="2468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716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56" b="0">
                <a:solidFill>
                  <a:srgbClr val="F4F7FA"/>
                </a:solidFill>
              </a:defRPr>
            </a:defPPr>
          </a:lstStyle>
          <a:p xmlns:a="http://schemas.openxmlformats.org/drawingml/2006/main">
            <a:pPr algn="l">
              <a:defRPr sz="1656" b="0">
                <a:solidFill>
                  <a:srgbClr val="F4F7FA"/>
                </a:solidFill>
              </a:defRPr>
            </a:pPr>
            <a:r>
              <a:rPr sz="1656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Чат ≥20 с; MH / RA / rail / rocket: 10%, не чаще 120 с</a:t>
            </a:r>
          </a:p>
        </p:txBody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43875784-42F7-47EC-BC29-69E79B575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03584" y="14676120"/>
            <a:ext cx="12710160" cy="2395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323A"/>
          </a:solidFill>
          <a:ln xmlns:a="http://schemas.openxmlformats.org/drawingml/2006/main" w="13716">
            <a:solidFill>
              <a:srgbClr val="56758C"/>
            </a:solidFill>
            <a:prstDash val="solid"/>
          </a:ln>
        </p:spPr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153227D0-805F-4492-A19A-86D88AA37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04752" y="14794992"/>
            <a:ext cx="12307824" cy="3840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716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448" b="1">
                <a:solidFill>
                  <a:srgbClr val="81C7F1"/>
                </a:solidFill>
              </a:defRPr>
            </a:defPPr>
          </a:lstStyle>
          <a:p xmlns:a="http://schemas.openxmlformats.org/drawingml/2006/main">
            <a:pPr algn="l">
              <a:defRPr sz="2448" b="1">
                <a:solidFill>
                  <a:srgbClr val="81C7F1"/>
                </a:solidFill>
              </a:defRPr>
            </a:pPr>
            <a:r>
              <a:rPr sz="2448" b="1">
                <a:solidFill>
                  <a:srgbClr val="81C7F1"/>
                </a:solidFill>
                <a:latin typeface="Arial"/>
                <a:ea typeface="Arial"/>
                <a:cs typeface="Arial"/>
              </a:rPr>
              <a:t>L  Пять уровней сложности</a:t>
            </a:r>
          </a:p>
        </p:txBody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5E532F69-E86A-4256-8E66-BFBF6A6B3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04752" y="15243048"/>
            <a:ext cx="12307824" cy="2468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716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56" b="0">
                <a:solidFill>
                  <a:srgbClr val="F4F7FA"/>
                </a:solidFill>
              </a:defRPr>
            </a:defPPr>
          </a:lstStyle>
          <a:p xmlns:a="http://schemas.openxmlformats.org/drawingml/2006/main">
            <a:pPr algn="l">
              <a:defRPr sz="1656" b="0">
                <a:solidFill>
                  <a:srgbClr val="F4F7FA"/>
                </a:solidFill>
              </a:defRPr>
            </a:pPr>
            <a:r>
              <a:rPr sz="1656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1 I Can Win: почти без strafe, простой RJ, без tricks / spawntrap</a:t>
            </a:r>
          </a:p>
        </p:txBody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75F2BA4D-5618-48E5-9441-A1084C164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04752" y="15458846"/>
            <a:ext cx="12307824" cy="2468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716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56" b="0">
                <a:solidFill>
                  <a:srgbClr val="F4F7FA"/>
                </a:solidFill>
              </a:defRPr>
            </a:defPPr>
          </a:lstStyle>
          <a:p xmlns:a="http://schemas.openxmlformats.org/drawingml/2006/main">
            <a:pPr algn="l">
              <a:defRPr sz="1656" b="0">
                <a:solidFill>
                  <a:srgbClr val="F4F7FA"/>
                </a:solidFill>
              </a:defRPr>
            </a:pPr>
            <a:r>
              <a:rPr sz="1656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2 Bring It On: базовый strafe с потерями, простые RJ / смены пушек</a:t>
            </a:r>
          </a:p>
        </p:txBody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6538A6AD-40AF-475C-AE47-4F732886D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04752" y="15674645"/>
            <a:ext cx="12307824" cy="2468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716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56" b="0">
                <a:solidFill>
                  <a:srgbClr val="F4F7FA"/>
                </a:solidFill>
              </a:defRPr>
            </a:defPPr>
          </a:lstStyle>
          <a:p xmlns:a="http://schemas.openxmlformats.org/drawingml/2006/main">
            <a:pPr algn="l">
              <a:defRPr sz="1656" b="0">
                <a:solidFill>
                  <a:srgbClr val="F4F7FA"/>
                </a:solidFill>
              </a:defRPr>
            </a:pPr>
            <a:r>
              <a:rPr sz="1656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3 Hurt Me Plenty: полупрофи, tricks / combo, 1–2 spawntrap-эпизода</a:t>
            </a:r>
          </a:p>
        </p:txBody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E2F4914D-A4C4-46AA-9A3F-B6B6C66BA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04752" y="15890443"/>
            <a:ext cx="12307824" cy="2468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716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56" b="0">
                <a:solidFill>
                  <a:srgbClr val="F4F7FA"/>
                </a:solidFill>
              </a:defRPr>
            </a:defPPr>
          </a:lstStyle>
          <a:p xmlns:a="http://schemas.openxmlformats.org/drawingml/2006/main">
            <a:pPr algn="l">
              <a:defRPr sz="1656" b="0">
                <a:solidFill>
                  <a:srgbClr val="F4F7FA"/>
                </a:solidFill>
              </a:defRPr>
            </a:pPr>
            <a:r>
              <a:rPr sz="1656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4 Hardcore: чище движение, богаче решения, лучше прогноз</a:t>
            </a:r>
          </a:p>
        </p:txBody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93348F33-D92D-4419-A157-864F4D11C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04752" y="16106242"/>
            <a:ext cx="12307824" cy="2468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716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56" b="0">
                <a:solidFill>
                  <a:srgbClr val="F4F7FA"/>
                </a:solidFill>
              </a:defRPr>
            </a:defPPr>
          </a:lstStyle>
          <a:p xmlns:a="http://schemas.openxmlformats.org/drawingml/2006/main">
            <a:pPr algn="l">
              <a:defRPr sz="1656" b="0">
                <a:solidFill>
                  <a:srgbClr val="F4F7FA"/>
                </a:solidFill>
              </a:defRPr>
            </a:pPr>
            <a:r>
              <a:rPr sz="1656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5 Nightmare / Кошмар: максимум человеческого исполнения</a:t>
            </a:r>
          </a:p>
        </p:txBody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39E62F80-2781-439A-B10D-7F3048747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04752" y="16322040"/>
            <a:ext cx="12307824" cy="2468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716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56" b="0">
                <a:solidFill>
                  <a:srgbClr val="F4F7FA"/>
                </a:solidFill>
              </a:defRPr>
            </a:defPPr>
          </a:lstStyle>
          <a:p xmlns:a="http://schemas.openxmlformats.org/drawingml/2006/main">
            <a:pPr algn="l">
              <a:defRPr sz="1656" b="0">
                <a:solidFill>
                  <a:srgbClr val="F4F7FA"/>
                </a:solidFill>
              </a:defRPr>
            </a:pPr>
            <a:r>
              <a:rPr sz="1656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Уровень меняет все aim / reaction / move / решения / контроль</a:t>
            </a:r>
          </a:p>
        </p:txBody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57C9906F-8774-4DC0-851D-9ED801311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04752" y="16537838"/>
            <a:ext cx="12307824" cy="2468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716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56" b="0">
                <a:solidFill>
                  <a:srgbClr val="F4F7FA"/>
                </a:solidFill>
              </a:defRPr>
            </a:defPPr>
          </a:lstStyle>
          <a:p xmlns:a="http://schemas.openxmlformats.org/drawingml/2006/main">
            <a:pPr algn="l">
              <a:defRPr sz="1656" b="0">
                <a:solidFill>
                  <a:srgbClr val="F4F7FA"/>
                </a:solidFill>
              </a:defRPr>
            </a:pPr>
            <a:r>
              <a:rPr sz="1656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Подстройка есть на каждом уровне, не открывает запретные умения</a:t>
            </a:r>
          </a:p>
        </p:txBody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B3ACD3D5-FD02-4340-AF44-4D30201AF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04752" y="16753637"/>
            <a:ext cx="12307824" cy="2468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716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56" b="0">
                <a:solidFill>
                  <a:srgbClr val="F4F7FA"/>
                </a:solidFill>
              </a:defRPr>
            </a:defPPr>
          </a:lstStyle>
          <a:p xmlns:a="http://schemas.openxmlformats.org/drawingml/2006/main">
            <a:pPr algn="l">
              <a:defRPr sz="1656" b="0">
                <a:solidFill>
                  <a:srgbClr val="F4F7FA"/>
                </a:solidFill>
              </a:defRPr>
            </a:pPr>
            <a:r>
              <a:rPr sz="1656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Начать с 3; ±1 на следующую карту только при согласии на реванш</a:t>
            </a:r>
          </a:p>
        </p:txBody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0566A880-1A3B-4519-975C-8368D6FA5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9200" y="8119872"/>
            <a:ext cx="4535424" cy="548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716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3384" b="1">
                <a:solidFill>
                  <a:srgbClr val="F4F7FA"/>
                </a:solidFill>
              </a:defRPr>
            </a:defPPr>
          </a:lstStyle>
          <a:p xmlns:a="http://schemas.openxmlformats.org/drawingml/2006/main">
            <a:pPr algn="ctr">
              <a:defRPr sz="3384" b="1">
                <a:solidFill>
                  <a:srgbClr val="F4F7FA"/>
                </a:solidFill>
              </a:defRPr>
            </a:pPr>
            <a:r>
              <a:rPr sz="3384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PSYZ0R_BOT</a:t>
            </a:r>
          </a:p>
        </p:txBody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B6597C14-5F41-435C-89B7-A044F9507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67760" y="8723376"/>
            <a:ext cx="4718304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716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2088" b="0">
                <a:solidFill>
                  <a:srgbClr val="81C7F1"/>
                </a:solidFill>
              </a:defRPr>
            </a:defPPr>
          </a:lstStyle>
          <a:p xmlns:a="http://schemas.openxmlformats.org/drawingml/2006/main">
            <a:pPr algn="ctr">
              <a:defRPr sz="2088" b="0">
                <a:solidFill>
                  <a:srgbClr val="81C7F1"/>
                </a:solidFill>
              </a:defRPr>
            </a:pPr>
            <a:r>
              <a:rPr sz="2088" b="0">
                <a:solidFill>
                  <a:srgbClr val="81C7F1"/>
                </a:solidFill>
                <a:latin typeface="Arial"/>
                <a:ea typeface="Arial"/>
                <a:cs typeface="Arial"/>
              </a:rPr>
              <a:t>Правила + демки + характер</a:t>
            </a:r>
          </a:p>
        </p:txBody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F645B471-1962-4BCD-927D-5114EBFEA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67760" y="9198864"/>
            <a:ext cx="4718304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716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872" b="0">
                <a:solidFill>
                  <a:srgbClr val="C3CDD6"/>
                </a:solidFill>
              </a:defRPr>
            </a:defPPr>
          </a:lstStyle>
          <a:p xmlns:a="http://schemas.openxmlformats.org/drawingml/2006/main">
            <a:pPr algn="ctr">
              <a:defRPr sz="1872" b="0">
                <a:solidFill>
                  <a:srgbClr val="C3CDD6"/>
                </a:solidFill>
              </a:defRPr>
            </a:pPr>
            <a:r>
              <a:rPr sz="1872" b="0">
                <a:solidFill>
                  <a:srgbClr val="C3CDD6"/>
                </a:solidFill>
                <a:latin typeface="Arial"/>
                <a:ea typeface="Arial"/>
                <a:cs typeface="Arial"/>
              </a:rPr>
              <a:t>Сложность задаёт границы</a:t>
            </a:r>
          </a:p>
        </p:txBody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0E022451-5E59-449B-A232-55DF39890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67760" y="9582912"/>
            <a:ext cx="4718304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716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872" b="0">
                <a:solidFill>
                  <a:srgbClr val="C3CDD6"/>
                </a:solidFill>
              </a:defRPr>
            </a:defPPr>
          </a:lstStyle>
          <a:p xmlns:a="http://schemas.openxmlformats.org/drawingml/2006/main">
            <a:pPr algn="ctr">
              <a:defRPr sz="1872" b="0">
                <a:solidFill>
                  <a:srgbClr val="C3CDD6"/>
                </a:solidFill>
              </a:defRPr>
            </a:pPr>
            <a:r>
              <a:rPr sz="1872" b="0">
                <a:solidFill>
                  <a:srgbClr val="C3CDD6"/>
                </a:solidFill>
                <a:latin typeface="Arial"/>
                <a:ea typeface="Arial"/>
                <a:cs typeface="Arial"/>
              </a:rPr>
              <a:t>Адаптация работает внутри</a:t>
            </a:r>
          </a:p>
        </p:txBody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CEA0BBFA-A698-447B-BCEF-362A4CC5E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66592" y="1627632"/>
            <a:ext cx="512064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716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2376" b="1">
                <a:solidFill>
                  <a:srgbClr val="81C7F1"/>
                </a:solidFill>
              </a:defRPr>
            </a:defPPr>
          </a:lstStyle>
          <a:p xmlns:a="http://schemas.openxmlformats.org/drawingml/2006/main">
            <a:pPr algn="ctr">
              <a:defRPr sz="2376" b="1">
                <a:solidFill>
                  <a:srgbClr val="81C7F1"/>
                </a:solidFill>
              </a:defRPr>
            </a:pPr>
            <a:r>
              <a:rPr sz="2376" b="1">
                <a:solidFill>
                  <a:srgbClr val="81C7F1"/>
                </a:solidFill>
                <a:latin typeface="Arial"/>
                <a:ea typeface="Arial"/>
                <a:cs typeface="Arial"/>
              </a:rPr>
              <a:t>Цикл решения</a:t>
            </a:r>
          </a:p>
        </p:txBody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5AED02FD-0CD0-4737-B592-33BE86892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49472" y="2231136"/>
            <a:ext cx="4754880" cy="4846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323A"/>
          </a:solidFill>
          <a:ln xmlns:a="http://schemas.openxmlformats.org/drawingml/2006/main" w="13716">
            <a:solidFill>
              <a:srgbClr val="56758C"/>
            </a:solidFill>
            <a:prstDash val="solid"/>
          </a:ln>
        </p:spPr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CBADE2E5-B32E-47E4-823B-2F0EE56A3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9200" y="2331720"/>
            <a:ext cx="4535424" cy="310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716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944" b="0">
                <a:solidFill>
                  <a:srgbClr val="F4F7FA"/>
                </a:solidFill>
              </a:defRPr>
            </a:defPPr>
          </a:lstStyle>
          <a:p xmlns:a="http://schemas.openxmlformats.org/drawingml/2006/main">
            <a:pPr algn="ctr">
              <a:defRPr sz="1944" b="0">
                <a:solidFill>
                  <a:srgbClr val="F4F7FA"/>
                </a:solidFill>
              </a:defRPr>
            </a:pPr>
            <a:r>
              <a:rPr sz="1944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Наблюдения и память</a:t>
            </a:r>
          </a:p>
        </p:txBody>
      </p:sp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497A71BD-5350-4E2C-AF7E-CB0A6093B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49472" y="2935224"/>
            <a:ext cx="4754880" cy="4846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323A"/>
          </a:solidFill>
          <a:ln xmlns:a="http://schemas.openxmlformats.org/drawingml/2006/main" w="13716">
            <a:solidFill>
              <a:srgbClr val="56758C"/>
            </a:solidFill>
            <a:prstDash val="solid"/>
          </a:ln>
        </p:spPr>
      </p: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917EC29C-832D-4AA5-BCAE-BD30ACC05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9200" y="3035808"/>
            <a:ext cx="4535424" cy="310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716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944" b="0">
                <a:solidFill>
                  <a:srgbClr val="F4F7FA"/>
                </a:solidFill>
              </a:defRPr>
            </a:defPPr>
          </a:lstStyle>
          <a:p xmlns:a="http://schemas.openxmlformats.org/drawingml/2006/main">
            <a:pPr algn="ctr">
              <a:defRPr sz="1944" b="0">
                <a:solidFill>
                  <a:srgbClr val="F4F7FA"/>
                </a:solidFill>
              </a:defRPr>
            </a:pPr>
            <a:r>
              <a:rPr sz="1944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Оценка игрока и стека</a:t>
            </a:r>
          </a:p>
        </p:txBody>
      </p:sp>
      <p:sp>
        <p:nvSpPr>
          <p:cNvPr id="147" name="">
            <a:extLst xmlns:a="http://schemas.openxmlformats.org/drawingml/2006/main">
              <a:ext uri="{FF2B5EF4-FFF2-40B4-BE49-F238E27FC236}">
                <a16:creationId xmlns:a16="http://schemas.microsoft.com/office/drawing/2014/main" id="{323178F5-6C13-422B-96D5-BE5B04FFA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49472" y="3639312"/>
            <a:ext cx="4754880" cy="4846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323A"/>
          </a:solidFill>
          <a:ln xmlns:a="http://schemas.openxmlformats.org/drawingml/2006/main" w="13716">
            <a:solidFill>
              <a:srgbClr val="56758C"/>
            </a:solidFill>
            <a:prstDash val="solid"/>
          </a:ln>
        </p:spPr>
      </p:sp>
      <p:sp>
        <p:nvSpPr>
          <p:cNvPr id="148" name="">
            <a:extLst xmlns:a="http://schemas.openxmlformats.org/drawingml/2006/main">
              <a:ext uri="{FF2B5EF4-FFF2-40B4-BE49-F238E27FC236}">
                <a16:creationId xmlns:a16="http://schemas.microsoft.com/office/drawing/2014/main" id="{031F47AB-9BD2-4E67-BAA0-B4ECCD83E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9200" y="3739896"/>
            <a:ext cx="4535424" cy="310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716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944" b="0">
                <a:solidFill>
                  <a:srgbClr val="F4F7FA"/>
                </a:solidFill>
              </a:defRPr>
            </a:defPPr>
          </a:lstStyle>
          <a:p xmlns:a="http://schemas.openxmlformats.org/drawingml/2006/main">
            <a:pPr algn="ctr">
              <a:defRPr sz="1944" b="0">
                <a:solidFill>
                  <a:srgbClr val="F4F7FA"/>
                </a:solidFill>
              </a:defRPr>
            </a:pPr>
            <a:r>
              <a:rPr sz="1944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Профиль сложности</a:t>
            </a:r>
          </a:p>
        </p:txBody>
      </p:sp>
      <p:sp>
        <p:nvSpPr>
          <p:cNvPr id="150" name="">
            <a:extLst xmlns:a="http://schemas.openxmlformats.org/drawingml/2006/main">
              <a:ext uri="{FF2B5EF4-FFF2-40B4-BE49-F238E27FC236}">
                <a16:creationId xmlns:a16="http://schemas.microsoft.com/office/drawing/2014/main" id="{D8FE9872-2959-44B2-BECC-5287E0461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49472" y="4343400"/>
            <a:ext cx="4754880" cy="4846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323A"/>
          </a:solidFill>
          <a:ln xmlns:a="http://schemas.openxmlformats.org/drawingml/2006/main" w="13716">
            <a:solidFill>
              <a:srgbClr val="56758C"/>
            </a:solidFill>
            <a:prstDash val="solid"/>
          </a:ln>
        </p:spPr>
      </p:sp>
      <p:sp>
        <p:nvSpPr>
          <p:cNvPr id="151" name="">
            <a:extLst xmlns:a="http://schemas.openxmlformats.org/drawingml/2006/main">
              <a:ext uri="{FF2B5EF4-FFF2-40B4-BE49-F238E27FC236}">
                <a16:creationId xmlns:a16="http://schemas.microsoft.com/office/drawing/2014/main" id="{7F01EC91-BF6A-4727-AA6A-3600C99C9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9200" y="4443984"/>
            <a:ext cx="4535424" cy="310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716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944" b="0">
                <a:solidFill>
                  <a:srgbClr val="F4F7FA"/>
                </a:solidFill>
              </a:defRPr>
            </a:defPPr>
          </a:lstStyle>
          <a:p xmlns:a="http://schemas.openxmlformats.org/drawingml/2006/main">
            <a:pPr algn="ctr">
              <a:defRPr sz="1944" b="0">
                <a:solidFill>
                  <a:srgbClr val="F4F7FA"/>
                </a:solidFill>
              </a:defRPr>
            </a:pPr>
            <a:r>
              <a:rPr sz="1944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Режим и тактическая цель</a:t>
            </a:r>
          </a:p>
        </p:txBody>
      </p:sp>
      <p:sp>
        <p:nvSpPr>
          <p:cNvPr id="153" name="">
            <a:extLst xmlns:a="http://schemas.openxmlformats.org/drawingml/2006/main">
              <a:ext uri="{FF2B5EF4-FFF2-40B4-BE49-F238E27FC236}">
                <a16:creationId xmlns:a16="http://schemas.microsoft.com/office/drawing/2014/main" id="{BAAA44B5-0DAE-4408-8AC9-04596FB86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49472" y="5047488"/>
            <a:ext cx="4754880" cy="4846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323A"/>
          </a:solidFill>
          <a:ln xmlns:a="http://schemas.openxmlformats.org/drawingml/2006/main" w="13716">
            <a:solidFill>
              <a:srgbClr val="56758C"/>
            </a:solidFill>
            <a:prstDash val="solid"/>
          </a:ln>
        </p:spPr>
      </p:sp>
      <p:sp>
        <p:nvSpPr>
          <p:cNvPr id="154" name="">
            <a:extLst xmlns:a="http://schemas.openxmlformats.org/drawingml/2006/main">
              <a:ext uri="{FF2B5EF4-FFF2-40B4-BE49-F238E27FC236}">
                <a16:creationId xmlns:a16="http://schemas.microsoft.com/office/drawing/2014/main" id="{48B8A647-066C-46F4-A2C1-E391256E2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9200" y="5148072"/>
            <a:ext cx="4535424" cy="310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716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944" b="0">
                <a:solidFill>
                  <a:srgbClr val="F4F7FA"/>
                </a:solidFill>
              </a:defRPr>
            </a:defPPr>
          </a:lstStyle>
          <a:p xmlns:a="http://schemas.openxmlformats.org/drawingml/2006/main">
            <a:pPr algn="ctr">
              <a:defRPr sz="1944" b="0">
                <a:solidFill>
                  <a:srgbClr val="F4F7FA"/>
                </a:solidFill>
              </a:defRPr>
            </a:pPr>
            <a:r>
              <a:rPr sz="1944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Движение / оружие / огонь</a:t>
            </a:r>
          </a:p>
        </p:txBody>
      </p:sp>
      <p:sp>
        <p:nvSpPr>
          <p:cNvPr id="156" name="">
            <a:extLst xmlns:a="http://schemas.openxmlformats.org/drawingml/2006/main">
              <a:ext uri="{FF2B5EF4-FFF2-40B4-BE49-F238E27FC236}">
                <a16:creationId xmlns:a16="http://schemas.microsoft.com/office/drawing/2014/main" id="{117264D4-5047-44DF-90C3-DB472F50A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49472" y="5751576"/>
            <a:ext cx="4754880" cy="4846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323A"/>
          </a:solidFill>
          <a:ln xmlns:a="http://schemas.openxmlformats.org/drawingml/2006/main" w="13716">
            <a:solidFill>
              <a:srgbClr val="56758C"/>
            </a:solidFill>
            <a:prstDash val="solid"/>
          </a:ln>
        </p:spPr>
      </p:sp>
      <p:sp>
        <p:nvSpPr>
          <p:cNvPr id="157" name="">
            <a:extLst xmlns:a="http://schemas.openxmlformats.org/drawingml/2006/main">
              <a:ext uri="{FF2B5EF4-FFF2-40B4-BE49-F238E27FC236}">
                <a16:creationId xmlns:a16="http://schemas.microsoft.com/office/drawing/2014/main" id="{38CF4919-8086-44C6-9817-8EFBF86E3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9200" y="5852160"/>
            <a:ext cx="4535424" cy="310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716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944" b="0">
                <a:solidFill>
                  <a:srgbClr val="F4F7FA"/>
                </a:solidFill>
              </a:defRPr>
            </a:defPPr>
          </a:lstStyle>
          <a:p xmlns:a="http://schemas.openxmlformats.org/drawingml/2006/main">
            <a:pPr algn="ctr">
              <a:defRPr sz="1944" b="0">
                <a:solidFill>
                  <a:srgbClr val="F4F7FA"/>
                </a:solidFill>
              </a:defRPr>
            </a:pPr>
            <a:r>
              <a:rPr sz="1944" b="0">
                <a:solidFill>
                  <a:srgbClr val="F4F7FA"/>
                </a:solidFill>
                <a:latin typeface="Arial"/>
                <a:ea typeface="Arial"/>
                <a:cs typeface="Arial"/>
              </a:rPr>
              <a:t>Результат и новые наблюдения</a:t>
            </a:r>
          </a:p>
        </p:txBody>
      </p:sp>
      <p:sp>
        <p:nvSpPr>
          <p:cNvPr id="159" name="">
            <a:extLst xmlns:a="http://schemas.openxmlformats.org/drawingml/2006/main">
              <a:ext uri="{FF2B5EF4-FFF2-40B4-BE49-F238E27FC236}">
                <a16:creationId xmlns:a16="http://schemas.microsoft.com/office/drawing/2014/main" id="{75A2814C-740E-4B33-AE02-B06A22361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58032" y="6620256"/>
            <a:ext cx="4937760" cy="3474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716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2088" b="1">
                <a:solidFill>
                  <a:srgbClr val="81C7F1"/>
                </a:solidFill>
              </a:defRPr>
            </a:defPPr>
          </a:lstStyle>
          <a:p xmlns:a="http://schemas.openxmlformats.org/drawingml/2006/main">
            <a:pPr algn="ctr">
              <a:defRPr sz="2088" b="1">
                <a:solidFill>
                  <a:srgbClr val="81C7F1"/>
                </a:solidFill>
              </a:defRPr>
            </a:pPr>
            <a:r>
              <a:rPr sz="2088" b="1">
                <a:solidFill>
                  <a:srgbClr val="81C7F1"/>
                </a:solidFill>
                <a:latin typeface="Arial"/>
                <a:ea typeface="Arial"/>
                <a:cs typeface="Arial"/>
              </a:rPr>
              <a:t>Желаемый матч</a:t>
            </a:r>
          </a:p>
        </p:txBody>
      </p:sp>
      <p:sp>
        <p:nvSpPr>
          <p:cNvPr id="160" name="">
            <a:extLst xmlns:a="http://schemas.openxmlformats.org/drawingml/2006/main">
              <a:ext uri="{FF2B5EF4-FFF2-40B4-BE49-F238E27FC236}">
                <a16:creationId xmlns:a16="http://schemas.microsoft.com/office/drawing/2014/main" id="{6DFE1E83-451C-46E4-8F4D-645894ADD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66592" y="7013448"/>
            <a:ext cx="512064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716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800" b="0">
                <a:solidFill>
                  <a:srgbClr val="C3CDD6"/>
                </a:solidFill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C3CDD6"/>
                </a:solidFill>
              </a:defRPr>
            </a:pPr>
            <a:r>
              <a:rPr sz="1800" b="0">
                <a:solidFill>
                  <a:srgbClr val="C3CDD6"/>
                </a:solidFill>
                <a:latin typeface="Arial"/>
                <a:ea typeface="Arial"/>
                <a:cs typeface="Arial"/>
              </a:rPr>
              <a:t>Размены, отходы, ключевой фраг</a:t>
            </a:r>
          </a:p>
        </p:txBody>
      </p:sp>
      <p:sp>
        <p:nvSpPr>
          <p:cNvPr id="161" name="">
            <a:extLst xmlns:a="http://schemas.openxmlformats.org/drawingml/2006/main">
              <a:ext uri="{FF2B5EF4-FFF2-40B4-BE49-F238E27FC236}">
                <a16:creationId xmlns:a16="http://schemas.microsoft.com/office/drawing/2014/main" id="{CE15BB2F-C576-43E0-8C20-EC5BA1407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66592" y="10881360"/>
            <a:ext cx="5120640" cy="3840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716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232" b="1">
                <a:solidFill>
                  <a:srgbClr val="81C7F1"/>
                </a:solidFill>
              </a:defRPr>
            </a:defPPr>
          </a:lstStyle>
          <a:p xmlns:a="http://schemas.openxmlformats.org/drawingml/2006/main">
            <a:pPr algn="l">
              <a:defRPr sz="2232" b="1">
                <a:solidFill>
                  <a:srgbClr val="81C7F1"/>
                </a:solidFill>
              </a:defRPr>
            </a:pPr>
            <a:r>
              <a:rPr sz="2232" b="1">
                <a:solidFill>
                  <a:srgbClr val="81C7F1"/>
                </a:solidFill>
                <a:latin typeface="Arial"/>
                <a:ea typeface="Arial"/>
                <a:cs typeface="Arial"/>
              </a:rPr>
              <a:t>Стартовый набор демок</a:t>
            </a:r>
          </a:p>
        </p:txBody>
      </p:sp>
      <p:graphicFrame>
        <p:nvGraphicFramePr>
          <p:cNvPr id="162" name="Chart">
            <a:extLst xmlns:a="http://schemas.openxmlformats.org/drawingml/2006/main">
              <a:ext uri="{FF2B5EF4-FFF2-40B4-BE49-F238E27FC236}">
                <a16:creationId xmlns:a16="http://schemas.microsoft.com/office/drawing/2014/main" id="{6A25893B-0BB4-4DC0-AA4C-DEEE8C075B57}"/>
              </a:ext>
            </a:extLst>
          </p:cNvPr>
          <p:cNvGraphicFramePr/>
          <p:nvPr/>
        </p:nvGraphicFramePr>
        <p:xfrm>
          <a:off xmlns:a="http://schemas.openxmlformats.org/drawingml/2006/main" x="16093440" y="11301984"/>
          <a:ext xmlns:a="http://schemas.openxmlformats.org/drawingml/2006/main" cx="5266944" cy="219456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5665a1a9b0043a9"/>
          </a:graphicData>
        </a:graphic>
      </p:graphicFrame>
      <p:sp>
        <p:nvSpPr>
          <p:cNvPr id="163" name="">
            <a:extLst xmlns:a="http://schemas.openxmlformats.org/drawingml/2006/main">
              <a:ext uri="{FF2B5EF4-FFF2-40B4-BE49-F238E27FC236}">
                <a16:creationId xmlns:a16="http://schemas.microsoft.com/office/drawing/2014/main" id="{2D180709-E1F7-4AAC-97AF-BFB0DD02C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66592" y="13807440"/>
            <a:ext cx="5120640" cy="3840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716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160" b="1">
                <a:solidFill>
                  <a:srgbClr val="81C7F1"/>
                </a:solidFill>
              </a:defRPr>
            </a:defPPr>
          </a:lstStyle>
          <a:p xmlns:a="http://schemas.openxmlformats.org/drawingml/2006/main">
            <a:pPr algn="l">
              <a:defRPr sz="2160" b="1">
                <a:solidFill>
                  <a:srgbClr val="81C7F1"/>
                </a:solidFill>
              </a:defRPr>
            </a:pPr>
            <a:r>
              <a:rPr sz="2160" b="1">
                <a:solidFill>
                  <a:srgbClr val="81C7F1"/>
                </a:solidFill>
                <a:latin typeface="Arial"/>
                <a:ea typeface="Arial"/>
                <a:cs typeface="Arial"/>
              </a:rPr>
              <a:t>Выход: примеры владельца</a:t>
            </a:r>
          </a:p>
        </p:txBody>
      </p:sp>
      <p:graphicFrame>
        <p:nvGraphicFramePr>
          <p:cNvPr id="164" name="Chart">
            <a:extLst xmlns:a="http://schemas.openxmlformats.org/drawingml/2006/main">
              <a:ext uri="{FF2B5EF4-FFF2-40B4-BE49-F238E27FC236}">
                <a16:creationId xmlns:a16="http://schemas.microsoft.com/office/drawing/2014/main" id="{6324CECC-AD99-4651-97B6-68FB9181E34B}"/>
              </a:ext>
            </a:extLst>
          </p:cNvPr>
          <p:cNvGraphicFramePr/>
          <p:nvPr/>
        </p:nvGraphicFramePr>
        <p:xfrm>
          <a:off xmlns:a="http://schemas.openxmlformats.org/drawingml/2006/main" x="16093440" y="14218920"/>
          <a:ext xmlns:a="http://schemas.openxmlformats.org/drawingml/2006/main" cx="5266944" cy="210312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a29f3dfa8714658"/>
          </a:graphicData>
        </a:graphic>
      </p:graphicFrame>
      <p:sp>
        <p:nvSpPr>
          <p:cNvPr id="165" name="">
            <a:extLst xmlns:a="http://schemas.openxmlformats.org/drawingml/2006/main">
              <a:ext uri="{FF2B5EF4-FFF2-40B4-BE49-F238E27FC236}">
                <a16:creationId xmlns:a16="http://schemas.microsoft.com/office/drawing/2014/main" id="{5E2DE010-C374-49B5-9E91-0A6B921EC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66592" y="16477488"/>
            <a:ext cx="5120640" cy="310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716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728" b="0">
                <a:solidFill>
                  <a:srgbClr val="C3CDD6"/>
                </a:solidFill>
              </a:defRPr>
            </a:defPPr>
          </a:lstStyle>
          <a:p xmlns:a="http://schemas.openxmlformats.org/drawingml/2006/main">
            <a:pPr algn="l">
              <a:defRPr sz="1728" b="0">
                <a:solidFill>
                  <a:srgbClr val="C3CDD6"/>
                </a:solidFill>
              </a:defRPr>
            </a:pPr>
            <a:r>
              <a:rPr sz="1728" b="0">
                <a:solidFill>
                  <a:srgbClr val="C3CDD6"/>
                </a:solidFill>
                <a:latin typeface="Arial"/>
                <a:ea typeface="Arial"/>
                <a:cs typeface="Arial"/>
              </a:rPr>
              <a:t>Функцию выхода ещё согласовать</a:t>
            </a:r>
          </a:p>
        </p:txBody>
      </p:sp>
      <p:sp>
        <p:nvSpPr>
          <p:cNvPr id="166" name="">
            <a:extLst xmlns:a="http://schemas.openxmlformats.org/drawingml/2006/main">
              <a:ext uri="{FF2B5EF4-FFF2-40B4-BE49-F238E27FC236}">
                <a16:creationId xmlns:a16="http://schemas.microsoft.com/office/drawing/2014/main" id="{392D0BCE-7AE5-411E-A0A3-3755A1095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66592" y="16834104"/>
            <a:ext cx="5120640" cy="310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716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728" b="0">
                <a:solidFill>
                  <a:srgbClr val="C3CDD6"/>
                </a:solidFill>
              </a:defRPr>
            </a:defPPr>
          </a:lstStyle>
          <a:p xmlns:a="http://schemas.openxmlformats.org/drawingml/2006/main">
            <a:pPr algn="l">
              <a:defRPr sz="1728" b="0">
                <a:solidFill>
                  <a:srgbClr val="C3CDD6"/>
                </a:solidFill>
              </a:defRPr>
            </a:pPr>
            <a:r>
              <a:rPr sz="1728" b="0">
                <a:solidFill>
                  <a:srgbClr val="C3CDD6"/>
                </a:solidFill>
                <a:latin typeface="Arial"/>
                <a:ea typeface="Arial"/>
                <a:cs typeface="Arial"/>
              </a:rPr>
              <a:t>Точность: значения не утверждены</a:t>
            </a:r>
          </a:p>
        </p:txBody>
      </p:sp>
      <p:sp>
        <p:nvSpPr>
          <p:cNvPr id="167" name="">
            <a:extLst xmlns:a="http://schemas.openxmlformats.org/drawingml/2006/main">
              <a:ext uri="{FF2B5EF4-FFF2-40B4-BE49-F238E27FC236}">
                <a16:creationId xmlns:a16="http://schemas.microsoft.com/office/drawing/2014/main" id="{00CD7988-EFDB-43C7-B2C9-897A3B542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7675352"/>
            <a:ext cx="25968960" cy="3840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716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232" b="1">
                <a:solidFill>
                  <a:srgbClr val="F4F7FA"/>
                </a:solidFill>
              </a:defRPr>
            </a:defPPr>
          </a:lstStyle>
          <a:p xmlns:a="http://schemas.openxmlformats.org/drawingml/2006/main">
            <a:pPr algn="l">
              <a:defRPr sz="2232" b="1">
                <a:solidFill>
                  <a:srgbClr val="F4F7FA"/>
                </a:solidFill>
              </a:defRPr>
            </a:pPr>
            <a:r>
              <a:rPr sz="2232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Оценка логики: цель связная; нужны приоритеты режимов и проверка no-WH</a:t>
            </a:r>
          </a:p>
        </p:txBody>
      </p:sp>
      <p:sp>
        <p:nvSpPr>
          <p:cNvPr id="168" name="">
            <a:extLst xmlns:a="http://schemas.openxmlformats.org/drawingml/2006/main">
              <a:ext uri="{FF2B5EF4-FFF2-40B4-BE49-F238E27FC236}">
                <a16:creationId xmlns:a16="http://schemas.microsoft.com/office/drawing/2014/main" id="{6B654294-A41D-4C33-B54E-FB8688489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0880" y="17721072"/>
            <a:ext cx="685800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716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1944" b="0">
                <a:solidFill>
                  <a:srgbClr val="98ABBA"/>
                </a:solidFill>
              </a:defRPr>
            </a:defPPr>
          </a:lstStyle>
          <a:p xmlns:a="http://schemas.openxmlformats.org/drawingml/2006/main">
            <a:pPr algn="r">
              <a:defRPr sz="1944" b="0">
                <a:solidFill>
                  <a:srgbClr val="98ABBA"/>
                </a:solidFill>
              </a:defRPr>
            </a:pPr>
            <a:r>
              <a:rPr sz="1944" b="0">
                <a:solidFill>
                  <a:srgbClr val="98ABBA"/>
                </a:solidFill>
                <a:latin typeface="Arial"/>
                <a:ea typeface="Arial"/>
                <a:cs typeface="Arial"/>
              </a:rPr>
              <a:t>4096 × 2048 px / 100 dpi</a:t>
            </a:r>
          </a:p>
        </p:txBody>
      </p:sp>
      <p:sp>
        <p:nvSpPr>
          <p:cNvPr id="169" name="">
            <a:extLst xmlns:a="http://schemas.openxmlformats.org/drawingml/2006/main">
              <a:ext uri="{FF2B5EF4-FFF2-40B4-BE49-F238E27FC236}">
                <a16:creationId xmlns:a16="http://schemas.microsoft.com/office/drawing/2014/main" id="{E2980A25-5E49-4802-825A-31B5A6FAD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8105120"/>
            <a:ext cx="3063240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716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800" b="0">
                <a:solidFill>
                  <a:srgbClr val="98ABBA"/>
                </a:solidFill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98ABBA"/>
                </a:solidFill>
              </a:defRPr>
            </a:pPr>
            <a:r>
              <a:rPr sz="1800" b="0">
                <a:solidFill>
                  <a:srgbClr val="98ABBA"/>
                </a:solidFill>
                <a:latin typeface="Arial"/>
                <a:ea typeface="Arial"/>
                <a:cs typeface="Arial"/>
              </a:rPr>
              <a:t>Все подробности, спорные правила, ссылки и старые формулировки сохранены в реестре и архиве чата</a:t>
            </a:r>
          </a:p>
        </p:txBody>
      </p:sp>
    </p:spTree>
    <p:extLst>
      <p:ext uri="{BB962C8B-B14F-4D97-AF65-F5344CB8AC3E}">
        <p14:creationId xmlns:p14="http://schemas.microsoft.com/office/powerpoint/2010/main" val="135429616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2026-10-09T20:55:43.4610000Z</dcterms:created>
  <dcterms:modified xsi:type="dcterms:W3CDTF">2026-10-09T20:55:43.4610000Z</dcterms:modified>
</coreProperties>
</file>